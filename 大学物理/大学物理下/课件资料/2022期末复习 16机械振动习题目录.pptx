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activeX/activeX2.bin" ContentType="application/vnd.ms-office.activeX"/>
  <Override PartName="/ppt/activeX/activeX2.xml" ContentType="application/vnd.ms-office.activeX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1"/>
  </p:notesMasterIdLst>
  <p:handoutMasterIdLst>
    <p:handoutMasterId r:id="rId22"/>
  </p:handoutMasterIdLst>
  <p:sldIdLst>
    <p:sldId id="588" r:id="rId4"/>
    <p:sldId id="589" r:id="rId5"/>
    <p:sldId id="590" r:id="rId6"/>
    <p:sldId id="727" r:id="rId7"/>
    <p:sldId id="603" r:id="rId8"/>
    <p:sldId id="604" r:id="rId9"/>
    <p:sldId id="620" r:id="rId10"/>
    <p:sldId id="638" r:id="rId11"/>
    <p:sldId id="717" r:id="rId12"/>
    <p:sldId id="718" r:id="rId13"/>
    <p:sldId id="719" r:id="rId14"/>
    <p:sldId id="720" r:id="rId15"/>
    <p:sldId id="721" r:id="rId16"/>
    <p:sldId id="722" r:id="rId17"/>
    <p:sldId id="724" r:id="rId18"/>
    <p:sldId id="723" r:id="rId19"/>
    <p:sldId id="726" r:id="rId20"/>
  </p:sldIdLst>
  <p:sldSz cx="9144000" cy="6858000" type="screen4x3"/>
  <p:notesSz cx="5861050" cy="79616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00"/>
    <a:srgbClr val="3366FF"/>
    <a:srgbClr val="0099FF"/>
    <a:srgbClr val="FFFFCC"/>
    <a:srgbClr val="99FFCC"/>
    <a:srgbClr val="FF99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259"/>
    <p:restoredTop sz="76618"/>
  </p:normalViewPr>
  <p:slideViewPr>
    <p:cSldViewPr snapToObjects="1" showGuides="1">
      <p:cViewPr varScale="1">
        <p:scale>
          <a:sx n="57" d="100"/>
          <a:sy n="57" d="100"/>
        </p:scale>
        <p:origin x="1464" y="66"/>
      </p:cViewPr>
      <p:guideLst>
        <p:guide orient="horz" pos="1035"/>
        <p:guide pos="23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7" Type="http://schemas.openxmlformats.org/officeDocument/2006/relationships/image" Target="../media/image18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17.e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1.wmf"/><Relationship Id="rId5" Type="http://schemas.openxmlformats.org/officeDocument/2006/relationships/image" Target="../media/image42.jpeg"/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wmf"/><Relationship Id="rId14" Type="http://schemas.openxmlformats.org/officeDocument/2006/relationships/image" Target="../media/image50.wmf"/><Relationship Id="rId13" Type="http://schemas.openxmlformats.org/officeDocument/2006/relationships/image" Target="../media/image49.wmf"/><Relationship Id="rId12" Type="http://schemas.openxmlformats.org/officeDocument/2006/relationships/image" Target="../media/image48.wmf"/><Relationship Id="rId11" Type="http://schemas.openxmlformats.org/officeDocument/2006/relationships/image" Target="../media/image47.wmf"/><Relationship Id="rId10" Type="http://schemas.openxmlformats.org/officeDocument/2006/relationships/image" Target="../media/image46.wmf"/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1.wmf"/><Relationship Id="rId1" Type="http://schemas.openxmlformats.org/officeDocument/2006/relationships/image" Target="../media/image42.jpeg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7" Type="http://schemas.openxmlformats.org/officeDocument/2006/relationships/image" Target="../media/image73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t" anchorCtr="0" compatLnSpc="1"/>
          <a:lstStyle>
            <a:lvl1pPr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l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物理ch14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321050" y="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t" anchorCtr="0" compatLnSpc="1"/>
          <a:lstStyle>
            <a:lvl1pPr algn="r"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r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756285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b" anchorCtr="0" compatLnSpc="1"/>
          <a:lstStyle>
            <a:lvl1pPr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l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321050" y="756285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b" anchorCtr="0" compatLnSpc="1"/>
          <a:lstStyle>
            <a:lvl1pPr algn="r"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r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797FDD-B458-4F77-9C3A-29475E7895B2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t" anchorCtr="0" compatLnSpc="1"/>
          <a:lstStyle>
            <a:lvl1pPr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l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物理ch14</a:t>
            </a: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321050" y="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t" anchorCtr="0" compatLnSpc="1"/>
          <a:lstStyle>
            <a:lvl1pPr algn="r"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r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939800" y="596900"/>
            <a:ext cx="3981450" cy="29860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81050" y="3781425"/>
            <a:ext cx="4298950" cy="35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756285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b" anchorCtr="0" compatLnSpc="1"/>
          <a:lstStyle>
            <a:lvl1pPr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l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321050" y="7562850"/>
            <a:ext cx="254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964" tIns="39481" rIns="78964" bIns="39481" numCol="1" anchor="b" anchorCtr="0" compatLnSpc="1"/>
          <a:lstStyle>
            <a:lvl1pPr algn="r" defTabSz="787400" eaLnBrk="1" hangingPunct="1">
              <a:spcBef>
                <a:spcPct val="0"/>
              </a:spcBef>
              <a:buClrTx/>
              <a:buFontTx/>
              <a:buNone/>
              <a:defRPr sz="1000"/>
            </a:lvl1pPr>
          </a:lstStyle>
          <a:p>
            <a:pPr marL="0" marR="0" lvl="0" indent="0" algn="r" defTabSz="787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D61D53-792A-419D-B837-D8E68E4B1BC9}" type="slidenum">
              <a:rPr kumimoji="1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vmlDrawing" Target="../drawings/vmlDrawing1.vml"/><Relationship Id="rId18" Type="http://schemas.openxmlformats.org/officeDocument/2006/relationships/image" Target="../media/image6.png"/><Relationship Id="rId17" Type="http://schemas.openxmlformats.org/officeDocument/2006/relationships/image" Target="../media/image5.png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1.bin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vmlDrawing" Target="../drawings/vmlDrawing2.vml"/><Relationship Id="rId18" Type="http://schemas.openxmlformats.org/officeDocument/2006/relationships/image" Target="../media/image6.png"/><Relationship Id="rId17" Type="http://schemas.openxmlformats.org/officeDocument/2006/relationships/image" Target="../media/image5.png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2.bin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026" name="Object 157"/>
          <p:cNvGraphicFramePr>
            <a:graphicFrameLocks noChangeAspect="1"/>
          </p:cNvGraphicFramePr>
          <p:nvPr userDrawn="1"/>
        </p:nvGraphicFramePr>
        <p:xfrm>
          <a:off x="0" y="0"/>
          <a:ext cx="91440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2" imgW="12192000" imgH="1206500" progId="Photoshop.Image.10">
                  <p:embed/>
                </p:oleObj>
              </mc:Choice>
              <mc:Fallback>
                <p:oleObj name="" r:id="rId12" imgW="12192000" imgH="1206500" progId="Photoshop.Image.10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3">
                        <a:lum bright="-6000"/>
                      </a:blip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16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524625"/>
            <a:ext cx="91440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Picture 161" descr="按钮1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243888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Picture 162" descr="按钮2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524750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Picture 163" descr="按钮3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885113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1" name="Picture 164" descr="按钮5">
            <a:hlinkClick r:id="" action="ppaction://hlinkshowjump?jump=lastslide"/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604250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026" name="Object 157"/>
          <p:cNvGraphicFramePr>
            <a:graphicFrameLocks noChangeAspect="1"/>
          </p:cNvGraphicFramePr>
          <p:nvPr userDrawn="1"/>
        </p:nvGraphicFramePr>
        <p:xfrm>
          <a:off x="0" y="0"/>
          <a:ext cx="91440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2" imgW="12192000" imgH="1206500" progId="Photoshop.Image.10">
                  <p:embed/>
                </p:oleObj>
              </mc:Choice>
              <mc:Fallback>
                <p:oleObj name="" r:id="rId12" imgW="12192000" imgH="1206500" progId="Photoshop.Image.10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3">
                        <a:lum bright="-6000"/>
                      </a:blip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16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524625"/>
            <a:ext cx="91440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Picture 161" descr="按钮1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243888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Picture 162" descr="按钮2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524750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0" name="Picture 163" descr="按钮3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885113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1" name="Picture 164" descr="按钮5">
            <a:hlinkClick r:id="" action="ppaction://hlinkshowjump?jump=lastslide"/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604250" y="6537325"/>
            <a:ext cx="4064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8.wmf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7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4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18.w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GIF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2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6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oleObject" Target="../embeddings/oleObject29.bin"/><Relationship Id="rId7" Type="http://schemas.openxmlformats.org/officeDocument/2006/relationships/oleObject" Target="../embeddings/oleObject28.bin"/><Relationship Id="rId6" Type="http://schemas.openxmlformats.org/officeDocument/2006/relationships/image" Target="../media/image33.png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6.bin"/><Relationship Id="rId21" Type="http://schemas.openxmlformats.org/officeDocument/2006/relationships/vmlDrawing" Target="../drawings/vmlDrawing8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31.wmf"/><Relationship Id="rId19" Type="http://schemas.openxmlformats.org/officeDocument/2006/relationships/image" Target="../media/image36.wmf"/><Relationship Id="rId18" Type="http://schemas.openxmlformats.org/officeDocument/2006/relationships/oleObject" Target="../embeddings/oleObject37.bin"/><Relationship Id="rId17" Type="http://schemas.openxmlformats.org/officeDocument/2006/relationships/image" Target="../media/image35.wmf"/><Relationship Id="rId16" Type="http://schemas.openxmlformats.org/officeDocument/2006/relationships/oleObject" Target="../embeddings/oleObject36.bin"/><Relationship Id="rId15" Type="http://schemas.openxmlformats.org/officeDocument/2006/relationships/oleObject" Target="../embeddings/oleObject35.bin"/><Relationship Id="rId14" Type="http://schemas.openxmlformats.org/officeDocument/2006/relationships/oleObject" Target="../embeddings/oleObject34.bin"/><Relationship Id="rId13" Type="http://schemas.openxmlformats.org/officeDocument/2006/relationships/oleObject" Target="../embeddings/oleObject33.bin"/><Relationship Id="rId12" Type="http://schemas.openxmlformats.org/officeDocument/2006/relationships/oleObject" Target="../embeddings/oleObject32.bin"/><Relationship Id="rId11" Type="http://schemas.openxmlformats.org/officeDocument/2006/relationships/image" Target="../media/image34.png"/><Relationship Id="rId10" Type="http://schemas.openxmlformats.org/officeDocument/2006/relationships/oleObject" Target="../embeddings/oleObject31.bin"/><Relationship Id="rId1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0.e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9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9.bin"/><Relationship Id="rId29" Type="http://schemas.openxmlformats.org/officeDocument/2006/relationships/vmlDrawing" Target="../drawings/vmlDrawing9.vml"/><Relationship Id="rId28" Type="http://schemas.openxmlformats.org/officeDocument/2006/relationships/slideLayout" Target="../slideLayouts/slideLayout18.xml"/><Relationship Id="rId27" Type="http://schemas.openxmlformats.org/officeDocument/2006/relationships/image" Target="../media/image50.wmf"/><Relationship Id="rId26" Type="http://schemas.openxmlformats.org/officeDocument/2006/relationships/oleObject" Target="../embeddings/oleObject50.bin"/><Relationship Id="rId25" Type="http://schemas.openxmlformats.org/officeDocument/2006/relationships/image" Target="../media/image49.wmf"/><Relationship Id="rId24" Type="http://schemas.openxmlformats.org/officeDocument/2006/relationships/oleObject" Target="../embeddings/oleObject49.bin"/><Relationship Id="rId23" Type="http://schemas.openxmlformats.org/officeDocument/2006/relationships/image" Target="../media/image48.wmf"/><Relationship Id="rId22" Type="http://schemas.openxmlformats.org/officeDocument/2006/relationships/oleObject" Target="../embeddings/oleObject48.bin"/><Relationship Id="rId21" Type="http://schemas.openxmlformats.org/officeDocument/2006/relationships/image" Target="../media/image47.wmf"/><Relationship Id="rId20" Type="http://schemas.openxmlformats.org/officeDocument/2006/relationships/oleObject" Target="../embeddings/oleObject47.bin"/><Relationship Id="rId2" Type="http://schemas.openxmlformats.org/officeDocument/2006/relationships/image" Target="../media/image37.wmf"/><Relationship Id="rId19" Type="http://schemas.openxmlformats.org/officeDocument/2006/relationships/image" Target="../media/image46.wmf"/><Relationship Id="rId18" Type="http://schemas.openxmlformats.org/officeDocument/2006/relationships/oleObject" Target="../embeddings/oleObject46.bin"/><Relationship Id="rId17" Type="http://schemas.openxmlformats.org/officeDocument/2006/relationships/image" Target="../media/image45.wmf"/><Relationship Id="rId16" Type="http://schemas.openxmlformats.org/officeDocument/2006/relationships/oleObject" Target="../embeddings/oleObject45.bin"/><Relationship Id="rId15" Type="http://schemas.openxmlformats.org/officeDocument/2006/relationships/image" Target="../media/image44.wmf"/><Relationship Id="rId14" Type="http://schemas.openxmlformats.org/officeDocument/2006/relationships/oleObject" Target="../embeddings/oleObject44.bin"/><Relationship Id="rId13" Type="http://schemas.openxmlformats.org/officeDocument/2006/relationships/image" Target="../media/image43.wmf"/><Relationship Id="rId12" Type="http://schemas.openxmlformats.org/officeDocument/2006/relationships/oleObject" Target="../embeddings/oleObject43.bin"/><Relationship Id="rId11" Type="http://schemas.openxmlformats.org/officeDocument/2006/relationships/image" Target="../media/image42.jpeg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54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2.emf"/><Relationship Id="rId3" Type="http://schemas.openxmlformats.org/officeDocument/2006/relationships/image" Target="../media/image42.jpeg"/><Relationship Id="rId2" Type="http://schemas.openxmlformats.org/officeDocument/2006/relationships/image" Target="../media/image51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55.wmf"/><Relationship Id="rId1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emf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emf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66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63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5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oleObject" Target="../embeddings/oleObject62.bin"/><Relationship Id="rId7" Type="http://schemas.openxmlformats.org/officeDocument/2006/relationships/image" Target="../media/image69.wmf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0.bin"/><Relationship Id="rId3" Type="http://schemas.openxmlformats.org/officeDocument/2006/relationships/image" Target="../media/image67.wmf"/><Relationship Id="rId2" Type="http://schemas.openxmlformats.org/officeDocument/2006/relationships/oleObject" Target="../embeddings/oleObject59.bin"/><Relationship Id="rId19" Type="http://schemas.openxmlformats.org/officeDocument/2006/relationships/vmlDrawing" Target="../drawings/vmlDrawing12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74.wmf"/><Relationship Id="rId16" Type="http://schemas.openxmlformats.org/officeDocument/2006/relationships/oleObject" Target="../embeddings/oleObject66.bin"/><Relationship Id="rId15" Type="http://schemas.openxmlformats.org/officeDocument/2006/relationships/image" Target="../media/image73.wmf"/><Relationship Id="rId14" Type="http://schemas.openxmlformats.org/officeDocument/2006/relationships/oleObject" Target="../embeddings/oleObject65.bin"/><Relationship Id="rId13" Type="http://schemas.openxmlformats.org/officeDocument/2006/relationships/image" Target="../media/image72.wmf"/><Relationship Id="rId12" Type="http://schemas.openxmlformats.org/officeDocument/2006/relationships/oleObject" Target="../embeddings/oleObject64.bin"/><Relationship Id="rId11" Type="http://schemas.openxmlformats.org/officeDocument/2006/relationships/image" Target="../media/image71.wmf"/><Relationship Id="rId10" Type="http://schemas.openxmlformats.org/officeDocument/2006/relationships/oleObject" Target="../embeddings/oleObject63.bin"/><Relationship Id="rId1" Type="http://schemas.openxmlformats.org/officeDocument/2006/relationships/image" Target="../media/image4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77.wmf"/><Relationship Id="rId2" Type="http://schemas.openxmlformats.org/officeDocument/2006/relationships/control" Target="../activeX/activeX1.xml"/><Relationship Id="rId1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8.wmf"/><Relationship Id="rId1" Type="http://schemas.openxmlformats.org/officeDocument/2006/relationships/control" Target="../activeX/activeX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Text 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950" y="983615"/>
            <a:ext cx="9061450" cy="1124585"/>
          </a:xfrm>
          <a:prstGeom prst="rect">
            <a:avLst/>
          </a:prstGeom>
          <a:blipFill rotWithShape="0">
            <a:blip r:embed="rId1"/>
            <a:stretch>
              <a:fillRect r="-1458"/>
            </a:stretch>
          </a:blipFill>
          <a:ln w="9525">
            <a:noFill/>
          </a:ln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53250" name="Text Box 11"/>
          <p:cNvSpPr txBox="1"/>
          <p:nvPr/>
        </p:nvSpPr>
        <p:spPr>
          <a:xfrm>
            <a:off x="82550" y="2108200"/>
            <a:ext cx="5486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求：（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=1s 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时物体的位移；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51" name="Text Box 12"/>
          <p:cNvSpPr txBox="1"/>
          <p:nvPr/>
        </p:nvSpPr>
        <p:spPr>
          <a:xfrm>
            <a:off x="790575" y="2627313"/>
            <a:ext cx="6934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）何时物体第一次运动到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=10cm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处；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252" name="Text Box 13"/>
          <p:cNvSpPr txBox="1"/>
          <p:nvPr/>
        </p:nvSpPr>
        <p:spPr>
          <a:xfrm>
            <a:off x="758825" y="3173413"/>
            <a:ext cx="87868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）在经多少时间物体第二次运动到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=10cm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处；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3253" name="Group 27"/>
          <p:cNvGrpSpPr/>
          <p:nvPr/>
        </p:nvGrpSpPr>
        <p:grpSpPr>
          <a:xfrm>
            <a:off x="682872" y="258800"/>
            <a:ext cx="5978278" cy="396838"/>
            <a:chOff x="816" y="138"/>
            <a:chExt cx="4459" cy="256"/>
          </a:xfrm>
        </p:grpSpPr>
        <p:sp>
          <p:nvSpPr>
            <p:cNvPr id="53254" name="WordArt 28"/>
            <p:cNvSpPr>
              <a:spLocks noTextEdit="1"/>
            </p:cNvSpPr>
            <p:nvPr/>
          </p:nvSpPr>
          <p:spPr>
            <a:xfrm>
              <a:off x="818" y="139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255" name="WordArt 29"/>
            <p:cNvSpPr>
              <a:spLocks noTextEdit="1"/>
            </p:cNvSpPr>
            <p:nvPr/>
          </p:nvSpPr>
          <p:spPr>
            <a:xfrm>
              <a:off x="816" y="138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" name="Text Box 13"/>
          <p:cNvSpPr txBox="1"/>
          <p:nvPr/>
        </p:nvSpPr>
        <p:spPr>
          <a:xfrm>
            <a:off x="899795" y="4220845"/>
            <a:ext cx="651256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b="1" dirty="0">
                <a:latin typeface="Times New Roman" panose="02020603050405020304" pitchFamily="18" charset="0"/>
                <a:ea typeface="楷体_GB2312" pitchFamily="49" charset="-122"/>
              </a:rPr>
              <a:t>关键点：逆时针旋转矢量的每一个状态</a:t>
            </a:r>
            <a:endParaRPr lang="zh-CN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</a:t>
            </a:r>
            <a:r>
              <a:rPr lang="zh-CN" b="1" dirty="0">
                <a:latin typeface="Times New Roman" panose="02020603050405020304" pitchFamily="18" charset="0"/>
                <a:ea typeface="楷体_GB2312" pitchFamily="49" charset="-122"/>
              </a:rPr>
              <a:t>简谐振动的一个相位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75" name="Group 35"/>
          <p:cNvGrpSpPr/>
          <p:nvPr/>
        </p:nvGrpSpPr>
        <p:grpSpPr>
          <a:xfrm>
            <a:off x="4859338" y="1666875"/>
            <a:ext cx="4019550" cy="2511425"/>
            <a:chOff x="3588" y="2028"/>
            <a:chExt cx="2532" cy="1582"/>
          </a:xfrm>
        </p:grpSpPr>
        <p:sp>
          <p:nvSpPr>
            <p:cNvPr id="54274" name="Oval 36"/>
            <p:cNvSpPr/>
            <p:nvPr/>
          </p:nvSpPr>
          <p:spPr>
            <a:xfrm>
              <a:off x="3963" y="2056"/>
              <a:ext cx="1526" cy="1554"/>
            </a:xfrm>
            <a:prstGeom prst="ellipse">
              <a:avLst/>
            </a:prstGeom>
            <a:noFill/>
            <a:ln w="38100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75" name="Line 37"/>
            <p:cNvSpPr/>
            <p:nvPr/>
          </p:nvSpPr>
          <p:spPr>
            <a:xfrm>
              <a:off x="4712" y="2841"/>
              <a:ext cx="1072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76" name="Arc 38"/>
            <p:cNvSpPr/>
            <p:nvPr/>
          </p:nvSpPr>
          <p:spPr>
            <a:xfrm rot="-5790090">
              <a:off x="4116" y="1967"/>
              <a:ext cx="213" cy="33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451" h="21600" fill="none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</a:path>
                <a:path w="21451" h="21600" stroke="0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  <a:lnTo>
                    <a:pt x="0" y="2160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277" name="Text Box 39"/>
            <p:cNvSpPr txBox="1"/>
            <p:nvPr/>
          </p:nvSpPr>
          <p:spPr>
            <a:xfrm>
              <a:off x="3783" y="2150"/>
              <a:ext cx="3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4278" name="Line 40"/>
            <p:cNvSpPr/>
            <p:nvPr/>
          </p:nvSpPr>
          <p:spPr>
            <a:xfrm>
              <a:off x="3588" y="2841"/>
              <a:ext cx="1152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79" name="Text Box 41"/>
            <p:cNvSpPr txBox="1"/>
            <p:nvPr/>
          </p:nvSpPr>
          <p:spPr>
            <a:xfrm>
              <a:off x="5548" y="2918"/>
              <a:ext cx="5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1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4280" name="Text Box 42"/>
            <p:cNvSpPr txBox="1"/>
            <p:nvPr/>
          </p:nvSpPr>
          <p:spPr>
            <a:xfrm>
              <a:off x="4678" y="2812"/>
              <a:ext cx="28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22283" name="Group 43"/>
          <p:cNvGrpSpPr/>
          <p:nvPr/>
        </p:nvGrpSpPr>
        <p:grpSpPr>
          <a:xfrm>
            <a:off x="5605463" y="2838450"/>
            <a:ext cx="566737" cy="223838"/>
            <a:chOff x="3986" y="2802"/>
            <a:chExt cx="357" cy="141"/>
          </a:xfrm>
        </p:grpSpPr>
        <p:sp>
          <p:nvSpPr>
            <p:cNvPr id="54282" name="Oval 44"/>
            <p:cNvSpPr/>
            <p:nvPr/>
          </p:nvSpPr>
          <p:spPr>
            <a:xfrm>
              <a:off x="4204" y="2802"/>
              <a:ext cx="139" cy="141"/>
            </a:xfrm>
            <a:prstGeom prst="ellipse">
              <a:avLst/>
            </a:prstGeom>
            <a:solidFill>
              <a:srgbClr val="A50021"/>
            </a:solidFill>
            <a:ln w="9525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283" name="Line 45"/>
            <p:cNvSpPr/>
            <p:nvPr/>
          </p:nvSpPr>
          <p:spPr>
            <a:xfrm>
              <a:off x="3986" y="2875"/>
              <a:ext cx="206" cy="0"/>
            </a:xfrm>
            <a:prstGeom prst="line">
              <a:avLst/>
            </a:prstGeom>
            <a:ln w="19050" cap="flat" cmpd="sng">
              <a:solidFill>
                <a:srgbClr val="A50021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aphicFrame>
        <p:nvGraphicFramePr>
          <p:cNvPr id="522286" name="Object 46"/>
          <p:cNvGraphicFramePr>
            <a:graphicFrameLocks noChangeAspect="1"/>
          </p:cNvGraphicFramePr>
          <p:nvPr/>
        </p:nvGraphicFramePr>
        <p:xfrm>
          <a:off x="5795963" y="3103563"/>
          <a:ext cx="4191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304800" imgH="393065" progId="Equation.3">
                  <p:embed/>
                </p:oleObj>
              </mc:Choice>
              <mc:Fallback>
                <p:oleObj name="" r:id="rId1" imgW="304800" imgH="393065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95963" y="3103563"/>
                        <a:ext cx="419100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287" name="Group 47"/>
          <p:cNvGrpSpPr/>
          <p:nvPr/>
        </p:nvGrpSpPr>
        <p:grpSpPr>
          <a:xfrm>
            <a:off x="5903913" y="1951038"/>
            <a:ext cx="1336675" cy="1163637"/>
            <a:chOff x="4246" y="2207"/>
            <a:chExt cx="842" cy="733"/>
          </a:xfrm>
        </p:grpSpPr>
        <p:sp>
          <p:nvSpPr>
            <p:cNvPr id="54286" name="Line 48"/>
            <p:cNvSpPr/>
            <p:nvPr/>
          </p:nvSpPr>
          <p:spPr>
            <a:xfrm rot="775327">
              <a:off x="4246" y="2207"/>
              <a:ext cx="528" cy="576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4287" name="Line 49"/>
            <p:cNvSpPr/>
            <p:nvPr/>
          </p:nvSpPr>
          <p:spPr>
            <a:xfrm>
              <a:off x="4330" y="2238"/>
              <a:ext cx="0" cy="528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288" name="Arc 50"/>
            <p:cNvSpPr/>
            <p:nvPr/>
          </p:nvSpPr>
          <p:spPr>
            <a:xfrm rot="-1769722">
              <a:off x="4683" y="2609"/>
              <a:ext cx="213" cy="33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451" h="21600" fill="none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</a:path>
                <a:path w="21451" h="21600" stroke="0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  <a:lnTo>
                    <a:pt x="0" y="2160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289" name="Text Box 51"/>
            <p:cNvSpPr txBox="1"/>
            <p:nvPr/>
          </p:nvSpPr>
          <p:spPr>
            <a:xfrm>
              <a:off x="4704" y="2546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22292" name="Rectangle 52"/>
          <p:cNvSpPr/>
          <p:nvPr/>
        </p:nvSpPr>
        <p:spPr>
          <a:xfrm>
            <a:off x="357188" y="981075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dirty="0">
                <a:solidFill>
                  <a:srgbClr val="A50021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endParaRPr lang="zh-CN" altLang="en-US" b="1" dirty="0">
              <a:solidFill>
                <a:srgbClr val="A5002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293" name="Text Box 53"/>
          <p:cNvSpPr txBox="1"/>
          <p:nvPr/>
        </p:nvSpPr>
        <p:spPr>
          <a:xfrm>
            <a:off x="1042988" y="981075"/>
            <a:ext cx="46069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作旋转矢量图，求初相位 </a:t>
            </a:r>
            <a:endParaRPr lang="zh-CN" altLang="en-US" b="1" baseline="-25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22294" name="Object 54"/>
          <p:cNvGraphicFramePr>
            <a:graphicFrameLocks noChangeAspect="1"/>
          </p:cNvGraphicFramePr>
          <p:nvPr/>
        </p:nvGraphicFramePr>
        <p:xfrm>
          <a:off x="1907540" y="2079625"/>
          <a:ext cx="14890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" imgW="558800" imgH="393700" progId="Equation.3">
                  <p:embed/>
                </p:oleObj>
              </mc:Choice>
              <mc:Fallback>
                <p:oleObj name="" r:id="rId3" imgW="558800" imgH="3937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540" y="2079625"/>
                        <a:ext cx="1489075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5" name="Object 55"/>
          <p:cNvGraphicFramePr>
            <a:graphicFrameLocks noChangeAspect="1"/>
          </p:cNvGraphicFramePr>
          <p:nvPr/>
        </p:nvGraphicFramePr>
        <p:xfrm>
          <a:off x="611505" y="2996883"/>
          <a:ext cx="4419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5" imgW="1625600" imgH="393700" progId="Equation.3">
                  <p:embed/>
                </p:oleObj>
              </mc:Choice>
              <mc:Fallback>
                <p:oleObj name="" r:id="rId5" imgW="1625600" imgH="3937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505" y="2996883"/>
                        <a:ext cx="44196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6" name="Object 56"/>
          <p:cNvGraphicFramePr>
            <a:graphicFrameLocks noChangeAspect="1"/>
          </p:cNvGraphicFramePr>
          <p:nvPr/>
        </p:nvGraphicFramePr>
        <p:xfrm>
          <a:off x="6723063" y="2197100"/>
          <a:ext cx="514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7" imgW="190500" imgH="228600" progId="Equation.3">
                  <p:embed/>
                </p:oleObj>
              </mc:Choice>
              <mc:Fallback>
                <p:oleObj name="" r:id="rId7" imgW="190500" imgH="2286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23063" y="2197100"/>
                        <a:ext cx="514350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0" name="Object 80"/>
          <p:cNvGraphicFramePr>
            <a:graphicFrameLocks noChangeAspect="1"/>
          </p:cNvGraphicFramePr>
          <p:nvPr/>
        </p:nvGraphicFramePr>
        <p:xfrm>
          <a:off x="1460183" y="4869180"/>
          <a:ext cx="44196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9" imgW="2057400" imgH="393700" progId="Equation.3">
                  <p:embed/>
                </p:oleObj>
              </mc:Choice>
              <mc:Fallback>
                <p:oleObj name="" r:id="rId9" imgW="2057400" imgH="3937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0183" y="4869180"/>
                        <a:ext cx="4419600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3" name="Text Box 83"/>
          <p:cNvSpPr txBox="1"/>
          <p:nvPr/>
        </p:nvSpPr>
        <p:spPr>
          <a:xfrm>
            <a:off x="682625" y="4178300"/>
            <a:ext cx="43465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=1s 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时物体的位移：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2332" name="Rectangle 92"/>
          <p:cNvSpPr/>
          <p:nvPr/>
        </p:nvSpPr>
        <p:spPr>
          <a:xfrm>
            <a:off x="8097838" y="285432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b="1" i="1" dirty="0">
                <a:solidFill>
                  <a:srgbClr val="3366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b="1" i="1" dirty="0">
              <a:solidFill>
                <a:srgbClr val="3366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1550" y="1453515"/>
            <a:ext cx="3808095" cy="527685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grpSp>
        <p:nvGrpSpPr>
          <p:cNvPr id="53253" name="Group 27"/>
          <p:cNvGrpSpPr/>
          <p:nvPr/>
        </p:nvGrpSpPr>
        <p:grpSpPr>
          <a:xfrm>
            <a:off x="682872" y="258800"/>
            <a:ext cx="5978278" cy="396838"/>
            <a:chOff x="816" y="138"/>
            <a:chExt cx="4459" cy="256"/>
          </a:xfrm>
        </p:grpSpPr>
        <p:sp>
          <p:nvSpPr>
            <p:cNvPr id="53254" name="WordArt 28"/>
            <p:cNvSpPr>
              <a:spLocks noTextEdit="1"/>
            </p:cNvSpPr>
            <p:nvPr/>
          </p:nvSpPr>
          <p:spPr>
            <a:xfrm>
              <a:off x="818" y="139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255" name="WordArt 29"/>
            <p:cNvSpPr>
              <a:spLocks noTextEdit="1"/>
            </p:cNvSpPr>
            <p:nvPr/>
          </p:nvSpPr>
          <p:spPr>
            <a:xfrm>
              <a:off x="816" y="138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9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9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2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2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2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52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2" grpId="0" build="p"/>
      <p:bldP spid="522293" grpId="0" build="p"/>
      <p:bldP spid="522323" grpId="0"/>
      <p:bldP spid="522332" grpId="0"/>
      <p:bldP spid="4" grpId="0" bldLvl="0" animBg="1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3266" name="Group 2"/>
          <p:cNvGrpSpPr/>
          <p:nvPr/>
        </p:nvGrpSpPr>
        <p:grpSpPr>
          <a:xfrm>
            <a:off x="6826250" y="2420938"/>
            <a:ext cx="838200" cy="1066800"/>
            <a:chOff x="4485" y="1440"/>
            <a:chExt cx="528" cy="672"/>
          </a:xfrm>
        </p:grpSpPr>
        <p:sp>
          <p:nvSpPr>
            <p:cNvPr id="55298" name="Line 3"/>
            <p:cNvSpPr/>
            <p:nvPr/>
          </p:nvSpPr>
          <p:spPr>
            <a:xfrm>
              <a:off x="4929" y="1440"/>
              <a:ext cx="0" cy="672"/>
            </a:xfrm>
            <a:prstGeom prst="line">
              <a:avLst/>
            </a:prstGeom>
            <a:ln w="9525" cap="flat" cmpd="sng">
              <a:solidFill>
                <a:srgbClr val="9E3AC6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5299" name="Line 4"/>
            <p:cNvSpPr/>
            <p:nvPr/>
          </p:nvSpPr>
          <p:spPr>
            <a:xfrm rot="775327">
              <a:off x="4485" y="1488"/>
              <a:ext cx="528" cy="576"/>
            </a:xfrm>
            <a:prstGeom prst="line">
              <a:avLst/>
            </a:prstGeom>
            <a:ln w="38100" cap="flat" cmpd="sng">
              <a:solidFill>
                <a:srgbClr val="00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5300" name="Group 5"/>
          <p:cNvGrpSpPr/>
          <p:nvPr/>
        </p:nvGrpSpPr>
        <p:grpSpPr>
          <a:xfrm>
            <a:off x="5160963" y="1125538"/>
            <a:ext cx="4019550" cy="2511425"/>
            <a:chOff x="3340" y="624"/>
            <a:chExt cx="2532" cy="1582"/>
          </a:xfrm>
        </p:grpSpPr>
        <p:sp>
          <p:nvSpPr>
            <p:cNvPr id="55301" name="Oval 6"/>
            <p:cNvSpPr/>
            <p:nvPr/>
          </p:nvSpPr>
          <p:spPr>
            <a:xfrm>
              <a:off x="3715" y="652"/>
              <a:ext cx="1526" cy="1554"/>
            </a:xfrm>
            <a:prstGeom prst="ellipse">
              <a:avLst/>
            </a:prstGeom>
            <a:noFill/>
            <a:ln w="38100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02" name="Line 7"/>
            <p:cNvSpPr/>
            <p:nvPr/>
          </p:nvSpPr>
          <p:spPr>
            <a:xfrm>
              <a:off x="4464" y="1437"/>
              <a:ext cx="1072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303" name="Arc 8"/>
            <p:cNvSpPr/>
            <p:nvPr/>
          </p:nvSpPr>
          <p:spPr>
            <a:xfrm rot="-5790090">
              <a:off x="3868" y="563"/>
              <a:ext cx="213" cy="33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451" h="21600" fill="none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</a:path>
                <a:path w="21451" h="21600" stroke="0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  <a:lnTo>
                    <a:pt x="0" y="2160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304" name="Text Box 9"/>
            <p:cNvSpPr txBox="1"/>
            <p:nvPr/>
          </p:nvSpPr>
          <p:spPr>
            <a:xfrm>
              <a:off x="3535" y="746"/>
              <a:ext cx="3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05" name="Line 10"/>
            <p:cNvSpPr/>
            <p:nvPr/>
          </p:nvSpPr>
          <p:spPr>
            <a:xfrm>
              <a:off x="3340" y="1437"/>
              <a:ext cx="1152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06" name="Text Box 11"/>
            <p:cNvSpPr txBox="1"/>
            <p:nvPr/>
          </p:nvSpPr>
          <p:spPr>
            <a:xfrm>
              <a:off x="5300" y="1514"/>
              <a:ext cx="5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1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5307" name="Line 12"/>
            <p:cNvSpPr/>
            <p:nvPr/>
          </p:nvSpPr>
          <p:spPr>
            <a:xfrm rot="775327">
              <a:off x="3998" y="803"/>
              <a:ext cx="528" cy="576"/>
            </a:xfrm>
            <a:prstGeom prst="line">
              <a:avLst/>
            </a:prstGeom>
            <a:ln w="38100" cap="flat" cmpd="sng">
              <a:solidFill>
                <a:srgbClr val="A50021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aphicFrame>
        <p:nvGraphicFramePr>
          <p:cNvPr id="523277" name="Object 13"/>
          <p:cNvGraphicFramePr>
            <a:graphicFrameLocks noChangeAspect="1"/>
          </p:cNvGraphicFramePr>
          <p:nvPr/>
        </p:nvGraphicFramePr>
        <p:xfrm>
          <a:off x="4078288" y="5391150"/>
          <a:ext cx="27828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" imgW="1180465" imgH="393700" progId="Equation.3">
                  <p:embed/>
                </p:oleObj>
              </mc:Choice>
              <mc:Fallback>
                <p:oleObj name="" r:id="rId1" imgW="1180465" imgH="3937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8288" y="5391150"/>
                        <a:ext cx="2782887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278" name="Object 14"/>
          <p:cNvGraphicFramePr>
            <a:graphicFrameLocks noChangeAspect="1"/>
          </p:cNvGraphicFramePr>
          <p:nvPr/>
        </p:nvGraphicFramePr>
        <p:xfrm>
          <a:off x="6608763" y="3760788"/>
          <a:ext cx="14478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3" imgW="698500" imgH="393700" progId="Equation.3">
                  <p:embed/>
                </p:oleObj>
              </mc:Choice>
              <mc:Fallback>
                <p:oleObj name="" r:id="rId3" imgW="698500" imgH="3937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8763" y="3760788"/>
                        <a:ext cx="1447800" cy="811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279" name="Text Box 15"/>
          <p:cNvSpPr txBox="1"/>
          <p:nvPr/>
        </p:nvSpPr>
        <p:spPr>
          <a:xfrm>
            <a:off x="228600" y="3886200"/>
            <a:ext cx="6934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）何时物体第一次运动到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=10cm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处：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3280" name="Text Box 16"/>
          <p:cNvSpPr txBox="1"/>
          <p:nvPr/>
        </p:nvSpPr>
        <p:spPr>
          <a:xfrm>
            <a:off x="250825" y="4645025"/>
            <a:ext cx="878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）在经多少时间物体第二次运动到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=10cm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处；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23281" name="Group 17"/>
          <p:cNvGrpSpPr/>
          <p:nvPr/>
        </p:nvGrpSpPr>
        <p:grpSpPr>
          <a:xfrm>
            <a:off x="7478713" y="2127250"/>
            <a:ext cx="436562" cy="544513"/>
            <a:chOff x="4896" y="1255"/>
            <a:chExt cx="275" cy="343"/>
          </a:xfrm>
        </p:grpSpPr>
        <p:graphicFrame>
          <p:nvGraphicFramePr>
            <p:cNvPr id="55313" name="Object 18"/>
            <p:cNvGraphicFramePr>
              <a:graphicFrameLocks noChangeAspect="1"/>
            </p:cNvGraphicFramePr>
            <p:nvPr/>
          </p:nvGraphicFramePr>
          <p:xfrm>
            <a:off x="5017" y="1255"/>
            <a:ext cx="15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5" imgW="177800" imgH="393065" progId="Equation.3">
                    <p:embed/>
                  </p:oleObj>
                </mc:Choice>
                <mc:Fallback>
                  <p:oleObj name="" r:id="rId5" imgW="177800" imgH="393065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17" y="1255"/>
                          <a:ext cx="154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4" name="Oval 19"/>
            <p:cNvSpPr/>
            <p:nvPr/>
          </p:nvSpPr>
          <p:spPr>
            <a:xfrm>
              <a:off x="4896" y="1392"/>
              <a:ext cx="96" cy="96"/>
            </a:xfrm>
            <a:prstGeom prst="ellipse">
              <a:avLst/>
            </a:prstGeom>
            <a:solidFill>
              <a:srgbClr val="A50021"/>
            </a:solidFill>
            <a:ln w="9525">
              <a:noFill/>
            </a:ln>
          </p:spPr>
          <p:txBody>
            <a:bodyPr anchor="ctr" anchorCtr="0">
              <a:spAutoFit/>
            </a:bodyPr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23284" name="Group 20"/>
          <p:cNvGrpSpPr/>
          <p:nvPr/>
        </p:nvGrpSpPr>
        <p:grpSpPr>
          <a:xfrm>
            <a:off x="6781800" y="1354138"/>
            <a:ext cx="914400" cy="1066800"/>
            <a:chOff x="4457" y="768"/>
            <a:chExt cx="576" cy="672"/>
          </a:xfrm>
        </p:grpSpPr>
        <p:sp>
          <p:nvSpPr>
            <p:cNvPr id="55316" name="Line 21"/>
            <p:cNvSpPr/>
            <p:nvPr/>
          </p:nvSpPr>
          <p:spPr>
            <a:xfrm rot="-6614229">
              <a:off x="4481" y="785"/>
              <a:ext cx="528" cy="576"/>
            </a:xfrm>
            <a:prstGeom prst="line">
              <a:avLst/>
            </a:prstGeom>
            <a:ln w="38100" cap="flat" cmpd="sng">
              <a:solidFill>
                <a:srgbClr val="00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317" name="Line 22"/>
            <p:cNvSpPr/>
            <p:nvPr/>
          </p:nvSpPr>
          <p:spPr>
            <a:xfrm>
              <a:off x="4922" y="768"/>
              <a:ext cx="0" cy="672"/>
            </a:xfrm>
            <a:prstGeom prst="line">
              <a:avLst/>
            </a:prstGeom>
            <a:ln w="9525" cap="flat" cmpd="sng">
              <a:solidFill>
                <a:srgbClr val="9E3AC6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523287" name="Line 23"/>
          <p:cNvSpPr/>
          <p:nvPr/>
        </p:nvSpPr>
        <p:spPr>
          <a:xfrm>
            <a:off x="1622425" y="5094288"/>
            <a:ext cx="1752600" cy="0"/>
          </a:xfrm>
          <a:prstGeom prst="line">
            <a:avLst/>
          </a:prstGeom>
          <a:ln w="28575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3288" name="AutoShape 24"/>
          <p:cNvSpPr/>
          <p:nvPr/>
        </p:nvSpPr>
        <p:spPr>
          <a:xfrm flipH="1">
            <a:off x="7085013" y="2095500"/>
            <a:ext cx="220662" cy="609600"/>
          </a:xfrm>
          <a:prstGeom prst="moon">
            <a:avLst>
              <a:gd name="adj" fmla="val 50000"/>
            </a:avLst>
          </a:prstGeom>
          <a:solidFill>
            <a:srgbClr val="006699"/>
          </a:solidFill>
          <a:ln w="9525">
            <a:noFill/>
          </a:ln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23289" name="Object 25"/>
          <p:cNvGraphicFramePr>
            <a:graphicFrameLocks noChangeAspect="1"/>
          </p:cNvGraphicFramePr>
          <p:nvPr/>
        </p:nvGraphicFramePr>
        <p:xfrm>
          <a:off x="1622425" y="5391150"/>
          <a:ext cx="1574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7" imgW="698500" imgH="342900" progId="Equation.3">
                  <p:embed/>
                </p:oleObj>
              </mc:Choice>
              <mc:Fallback>
                <p:oleObj name="" r:id="rId7" imgW="698500" imgH="3429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22425" y="5391150"/>
                        <a:ext cx="15748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1" name="Object 34"/>
          <p:cNvGraphicFramePr>
            <a:graphicFrameLocks noChangeAspect="1"/>
          </p:cNvGraphicFramePr>
          <p:nvPr/>
        </p:nvGraphicFramePr>
        <p:xfrm>
          <a:off x="395288" y="1258888"/>
          <a:ext cx="4419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9" imgW="1625600" imgH="393700" progId="Equation.3">
                  <p:embed/>
                </p:oleObj>
              </mc:Choice>
              <mc:Fallback>
                <p:oleObj name="" r:id="rId9" imgW="1625600" imgH="3937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288" y="1258888"/>
                        <a:ext cx="44196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2" name="Arc 35"/>
          <p:cNvSpPr>
            <a:spLocks noChangeAspect="1"/>
          </p:cNvSpPr>
          <p:nvPr/>
        </p:nvSpPr>
        <p:spPr>
          <a:xfrm rot="12300368">
            <a:off x="6125845" y="1911350"/>
            <a:ext cx="1540510" cy="113157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420" h="21600" fill="none">
                <a:moveTo>
                  <a:pt x="0" y="1476"/>
                </a:moveTo>
                <a:cubicBezTo>
                  <a:pt x="2501" y="500"/>
                  <a:pt x="5163" y="0"/>
                  <a:pt x="7848" y="0"/>
                </a:cubicBezTo>
                <a:cubicBezTo>
                  <a:pt x="19352" y="0"/>
                  <a:pt x="28838" y="9017"/>
                  <a:pt x="29420" y="20507"/>
                </a:cubicBezTo>
              </a:path>
              <a:path w="29420" h="21600" stroke="0">
                <a:moveTo>
                  <a:pt x="0" y="1476"/>
                </a:moveTo>
                <a:cubicBezTo>
                  <a:pt x="2501" y="500"/>
                  <a:pt x="5163" y="0"/>
                  <a:pt x="7848" y="0"/>
                </a:cubicBezTo>
                <a:cubicBezTo>
                  <a:pt x="19352" y="0"/>
                  <a:pt x="28838" y="9017"/>
                  <a:pt x="29420" y="20507"/>
                </a:cubicBezTo>
                <a:lnTo>
                  <a:pt x="7848" y="21600"/>
                </a:lnTo>
                <a:lnTo>
                  <a:pt x="0" y="1476"/>
                </a:ln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55323" name="Object 36"/>
          <p:cNvGraphicFramePr>
            <a:graphicFrameLocks noChangeAspect="1"/>
          </p:cNvGraphicFramePr>
          <p:nvPr/>
        </p:nvGraphicFramePr>
        <p:xfrm>
          <a:off x="6807200" y="1125538"/>
          <a:ext cx="4476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1" imgW="190500" imgH="228600" progId="Equation.3">
                  <p:embed/>
                </p:oleObj>
              </mc:Choice>
              <mc:Fallback>
                <p:oleObj name="" r:id="rId11" imgW="190500" imgH="2286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07200" y="1125538"/>
                        <a:ext cx="447675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4" name="Rectangle 37"/>
          <p:cNvSpPr/>
          <p:nvPr/>
        </p:nvSpPr>
        <p:spPr>
          <a:xfrm>
            <a:off x="8386763" y="233997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b="1" i="1" dirty="0">
                <a:solidFill>
                  <a:srgbClr val="3366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b="1" i="1" dirty="0">
              <a:solidFill>
                <a:srgbClr val="3366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5325" name="Object 38"/>
          <p:cNvGraphicFramePr>
            <a:graphicFrameLocks noChangeAspect="1"/>
          </p:cNvGraphicFramePr>
          <p:nvPr/>
        </p:nvGraphicFramePr>
        <p:xfrm>
          <a:off x="1474788" y="2430463"/>
          <a:ext cx="11842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3" imgW="444500" imgH="393700" progId="Equation.3">
                  <p:embed/>
                </p:oleObj>
              </mc:Choice>
              <mc:Fallback>
                <p:oleObj name="" r:id="rId13" imgW="444500" imgH="3937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4788" y="2430463"/>
                        <a:ext cx="1184275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6" name="Object 39"/>
          <p:cNvGraphicFramePr>
            <a:graphicFrameLocks noChangeAspect="1"/>
          </p:cNvGraphicFramePr>
          <p:nvPr/>
        </p:nvGraphicFramePr>
        <p:xfrm>
          <a:off x="6043613" y="2416175"/>
          <a:ext cx="4191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5" imgW="304800" imgH="393065" progId="Equation.3">
                  <p:embed/>
                </p:oleObj>
              </mc:Choice>
              <mc:Fallback>
                <p:oleObj name="" r:id="rId15" imgW="304800" imgH="393065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43613" y="2416175"/>
                        <a:ext cx="419100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7" name="Line 40"/>
          <p:cNvSpPr/>
          <p:nvPr/>
        </p:nvSpPr>
        <p:spPr>
          <a:xfrm>
            <a:off x="6300788" y="1319213"/>
            <a:ext cx="0" cy="1101725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523306" name="Line 42"/>
          <p:cNvSpPr>
            <a:spLocks noChangeAspect="1"/>
          </p:cNvSpPr>
          <p:nvPr/>
        </p:nvSpPr>
        <p:spPr>
          <a:xfrm flipH="1">
            <a:off x="3408363" y="5876925"/>
            <a:ext cx="515937" cy="0"/>
          </a:xfrm>
          <a:prstGeom prst="line">
            <a:avLst/>
          </a:prstGeom>
          <a:ln w="444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grpSp>
        <p:nvGrpSpPr>
          <p:cNvPr id="53253" name="Group 27"/>
          <p:cNvGrpSpPr/>
          <p:nvPr/>
        </p:nvGrpSpPr>
        <p:grpSpPr>
          <a:xfrm>
            <a:off x="682872" y="258800"/>
            <a:ext cx="5978278" cy="396838"/>
            <a:chOff x="816" y="138"/>
            <a:chExt cx="4459" cy="256"/>
          </a:xfrm>
        </p:grpSpPr>
        <p:sp>
          <p:nvSpPr>
            <p:cNvPr id="53254" name="WordArt 28"/>
            <p:cNvSpPr>
              <a:spLocks noTextEdit="1"/>
            </p:cNvSpPr>
            <p:nvPr/>
          </p:nvSpPr>
          <p:spPr>
            <a:xfrm>
              <a:off x="818" y="139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255" name="WordArt 29"/>
            <p:cNvSpPr>
              <a:spLocks noTextEdit="1"/>
            </p:cNvSpPr>
            <p:nvPr/>
          </p:nvSpPr>
          <p:spPr>
            <a:xfrm>
              <a:off x="816" y="138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9" grpId="0"/>
      <p:bldP spid="523280" grpId="0"/>
      <p:bldP spid="523288" grpId="0" animBg="1"/>
      <p:bldP spid="55322" grpId="0" animBg="1"/>
      <p:bldP spid="5532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253" name="Group 27"/>
          <p:cNvGrpSpPr/>
          <p:nvPr/>
        </p:nvGrpSpPr>
        <p:grpSpPr>
          <a:xfrm>
            <a:off x="682872" y="258800"/>
            <a:ext cx="5978278" cy="396838"/>
            <a:chOff x="816" y="138"/>
            <a:chExt cx="4459" cy="256"/>
          </a:xfrm>
        </p:grpSpPr>
        <p:sp>
          <p:nvSpPr>
            <p:cNvPr id="53254" name="WordArt 28"/>
            <p:cNvSpPr>
              <a:spLocks noTextEdit="1"/>
            </p:cNvSpPr>
            <p:nvPr/>
          </p:nvSpPr>
          <p:spPr>
            <a:xfrm>
              <a:off x="818" y="139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255" name="WordArt 29"/>
            <p:cNvSpPr>
              <a:spLocks noTextEdit="1"/>
            </p:cNvSpPr>
            <p:nvPr/>
          </p:nvSpPr>
          <p:spPr>
            <a:xfrm>
              <a:off x="816" y="138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pic>
        <p:nvPicPr>
          <p:cNvPr id="38921" name="Picture 11" descr="xzsl_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9463" y="2140268"/>
            <a:ext cx="3886200" cy="3452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22" name="Picture 12" descr="xzsl_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140268"/>
            <a:ext cx="3884613" cy="3451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90" name="Text Box 10"/>
          <p:cNvSpPr txBox="1"/>
          <p:nvPr/>
        </p:nvSpPr>
        <p:spPr>
          <a:xfrm>
            <a:off x="906145" y="1268730"/>
            <a:ext cx="552894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ea typeface="微软雅黑" panose="020B0503020204020204" pitchFamily="34" charset="-122"/>
                <a:cs typeface="Times New Roman" panose="02020603050405020304" pitchFamily="18" charset="0"/>
              </a:rPr>
              <a:t>的大小、</a:t>
            </a:r>
            <a:r>
              <a:rPr lang="en-US" altLang="zh-CN" b="1" i="1" dirty="0">
                <a:ea typeface="微软雅黑" panose="020B0503020204020204" pitchFamily="34" charset="-122"/>
                <a:cs typeface="Times New Roman" panose="02020603050405020304" pitchFamily="18" charset="0"/>
              </a:rPr>
              <a:t>v </a:t>
            </a:r>
            <a:r>
              <a:rPr lang="zh-CN" altLang="en-US" b="1" dirty="0">
                <a:ea typeface="微软雅黑" panose="020B0503020204020204" pitchFamily="34" charset="-122"/>
                <a:cs typeface="Times New Roman" panose="02020603050405020304" pitchFamily="18" charset="0"/>
              </a:rPr>
              <a:t>的符号确定相位</a:t>
            </a:r>
            <a:endParaRPr lang="zh-CN" altLang="en-US" b="1" dirty="0"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Text Box 2"/>
          <p:cNvSpPr txBox="1"/>
          <p:nvPr/>
        </p:nvSpPr>
        <p:spPr>
          <a:xfrm>
            <a:off x="1390650" y="981075"/>
            <a:ext cx="6350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小结：用</a:t>
            </a:r>
            <a:r>
              <a:rPr lang="zh-CN" altLang="en-US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旋转矢量法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求相位或相位差的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627" name="Text Box 3"/>
          <p:cNvSpPr txBox="1"/>
          <p:nvPr/>
        </p:nvSpPr>
        <p:spPr>
          <a:xfrm>
            <a:off x="250825" y="3678238"/>
            <a:ext cx="8569325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第一步：由质点的位移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的值确定旋转矢量动端投影点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395" name="Group 4"/>
          <p:cNvGrpSpPr/>
          <p:nvPr/>
        </p:nvGrpSpPr>
        <p:grpSpPr>
          <a:xfrm>
            <a:off x="2627313" y="1631950"/>
            <a:ext cx="3240087" cy="1973263"/>
            <a:chOff x="3939" y="1311"/>
            <a:chExt cx="1773" cy="1108"/>
          </a:xfrm>
        </p:grpSpPr>
        <p:sp>
          <p:nvSpPr>
            <p:cNvPr id="59396" name="Oval 5"/>
            <p:cNvSpPr>
              <a:spLocks noChangeAspect="1"/>
            </p:cNvSpPr>
            <p:nvPr/>
          </p:nvSpPr>
          <p:spPr>
            <a:xfrm>
              <a:off x="4202" y="1331"/>
              <a:ext cx="1068" cy="1088"/>
            </a:xfrm>
            <a:prstGeom prst="ellipse">
              <a:avLst/>
            </a:prstGeom>
            <a:noFill/>
            <a:ln w="38100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397" name="Line 6"/>
            <p:cNvSpPr>
              <a:spLocks noChangeAspect="1"/>
            </p:cNvSpPr>
            <p:nvPr/>
          </p:nvSpPr>
          <p:spPr>
            <a:xfrm>
              <a:off x="4726" y="1880"/>
              <a:ext cx="751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9398" name="Arc 7"/>
            <p:cNvSpPr>
              <a:spLocks noChangeAspect="1"/>
            </p:cNvSpPr>
            <p:nvPr/>
          </p:nvSpPr>
          <p:spPr>
            <a:xfrm rot="-5790090">
              <a:off x="4308" y="1267"/>
              <a:ext cx="149" cy="2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451" h="21600" fill="none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</a:path>
                <a:path w="21451" h="21600" stroke="0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  <a:lnTo>
                    <a:pt x="0" y="2160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399" name="Text Box 8"/>
            <p:cNvSpPr txBox="1">
              <a:spLocks noChangeAspect="1"/>
            </p:cNvSpPr>
            <p:nvPr/>
          </p:nvSpPr>
          <p:spPr>
            <a:xfrm>
              <a:off x="4076" y="1396"/>
              <a:ext cx="25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9400" name="Line 9"/>
            <p:cNvSpPr>
              <a:spLocks noChangeAspect="1"/>
            </p:cNvSpPr>
            <p:nvPr/>
          </p:nvSpPr>
          <p:spPr>
            <a:xfrm>
              <a:off x="3939" y="1880"/>
              <a:ext cx="807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1" name="Text Box 10"/>
            <p:cNvSpPr txBox="1">
              <a:spLocks noChangeAspect="1"/>
            </p:cNvSpPr>
            <p:nvPr/>
          </p:nvSpPr>
          <p:spPr>
            <a:xfrm>
              <a:off x="5311" y="1934"/>
              <a:ext cx="401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20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402" name="Text Box 11"/>
            <p:cNvSpPr txBox="1">
              <a:spLocks noChangeAspect="1"/>
            </p:cNvSpPr>
            <p:nvPr/>
          </p:nvSpPr>
          <p:spPr>
            <a:xfrm>
              <a:off x="4702" y="1860"/>
              <a:ext cx="201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38636" name="Text Box 12"/>
          <p:cNvSpPr txBox="1"/>
          <p:nvPr/>
        </p:nvSpPr>
        <p:spPr>
          <a:xfrm>
            <a:off x="250825" y="4797425"/>
            <a:ext cx="9145588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第二步：过该点作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轴的垂线，与矢量参考圆交于两点；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637" name="Text Box 13"/>
          <p:cNvSpPr txBox="1"/>
          <p:nvPr/>
        </p:nvSpPr>
        <p:spPr>
          <a:xfrm>
            <a:off x="250825" y="5373688"/>
            <a:ext cx="8893175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第三步：由质点振动速度的方向确定旋转矢量的位置。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638" name="Oval 14"/>
          <p:cNvSpPr>
            <a:spLocks noChangeAspect="1"/>
          </p:cNvSpPr>
          <p:nvPr/>
        </p:nvSpPr>
        <p:spPr>
          <a:xfrm>
            <a:off x="3635375" y="2590800"/>
            <a:ext cx="104775" cy="106363"/>
          </a:xfrm>
          <a:prstGeom prst="ellipse">
            <a:avLst/>
          </a:prstGeom>
          <a:solidFill>
            <a:srgbClr val="A50021"/>
          </a:solidFill>
          <a:ln w="9525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09" name="Rectangle 18"/>
          <p:cNvSpPr/>
          <p:nvPr/>
        </p:nvSpPr>
        <p:spPr>
          <a:xfrm>
            <a:off x="5430838" y="23495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b="1" i="1" dirty="0">
                <a:solidFill>
                  <a:srgbClr val="3366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b="1" i="1" dirty="0">
              <a:solidFill>
                <a:srgbClr val="3366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8643" name="Text Box 19"/>
          <p:cNvSpPr txBox="1"/>
          <p:nvPr/>
        </p:nvSpPr>
        <p:spPr>
          <a:xfrm>
            <a:off x="1690688" y="4191000"/>
            <a:ext cx="3084512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轴上的位置；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644" name="Line 20"/>
          <p:cNvSpPr/>
          <p:nvPr/>
        </p:nvSpPr>
        <p:spPr>
          <a:xfrm>
            <a:off x="3708400" y="1557338"/>
            <a:ext cx="0" cy="2159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59412" name="Rectangle 21"/>
          <p:cNvSpPr/>
          <p:nvPr/>
        </p:nvSpPr>
        <p:spPr>
          <a:xfrm>
            <a:off x="3924300" y="25654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413" name="Oval 22"/>
          <p:cNvSpPr>
            <a:spLocks noChangeAspect="1"/>
          </p:cNvSpPr>
          <p:nvPr/>
        </p:nvSpPr>
        <p:spPr>
          <a:xfrm flipV="1">
            <a:off x="4067175" y="2636838"/>
            <a:ext cx="42863" cy="42862"/>
          </a:xfrm>
          <a:prstGeom prst="ellipse">
            <a:avLst/>
          </a:prstGeom>
          <a:solidFill>
            <a:srgbClr val="A50021"/>
          </a:solidFill>
          <a:ln w="9525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8647" name="Oval 23"/>
          <p:cNvSpPr>
            <a:spLocks noChangeAspect="1"/>
          </p:cNvSpPr>
          <p:nvPr/>
        </p:nvSpPr>
        <p:spPr>
          <a:xfrm>
            <a:off x="3675063" y="1700213"/>
            <a:ext cx="104775" cy="106362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8648" name="Oval 24"/>
          <p:cNvSpPr>
            <a:spLocks noChangeAspect="1"/>
          </p:cNvSpPr>
          <p:nvPr/>
        </p:nvSpPr>
        <p:spPr>
          <a:xfrm>
            <a:off x="3635375" y="3467100"/>
            <a:ext cx="104775" cy="106363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8649" name="Line 25"/>
          <p:cNvSpPr>
            <a:spLocks noChangeAspect="1"/>
          </p:cNvSpPr>
          <p:nvPr/>
        </p:nvSpPr>
        <p:spPr>
          <a:xfrm>
            <a:off x="3132138" y="2651125"/>
            <a:ext cx="515937" cy="0"/>
          </a:xfrm>
          <a:prstGeom prst="line">
            <a:avLst/>
          </a:prstGeom>
          <a:ln w="444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538650" name="Line 26"/>
          <p:cNvSpPr/>
          <p:nvPr/>
        </p:nvSpPr>
        <p:spPr>
          <a:xfrm flipH="1" flipV="1">
            <a:off x="3740150" y="1782763"/>
            <a:ext cx="327025" cy="8540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538651" name="Text Box 27"/>
          <p:cNvSpPr txBox="1"/>
          <p:nvPr/>
        </p:nvSpPr>
        <p:spPr>
          <a:xfrm>
            <a:off x="1657350" y="5878513"/>
            <a:ext cx="4138613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并由此定出此刻的相位。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652" name="Arc 28"/>
          <p:cNvSpPr/>
          <p:nvPr/>
        </p:nvSpPr>
        <p:spPr>
          <a:xfrm rot="-1600353">
            <a:off x="3563938" y="2168525"/>
            <a:ext cx="912812" cy="75565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572" h="17841" fill="none">
                <a:moveTo>
                  <a:pt x="12176" y="-1"/>
                </a:moveTo>
                <a:cubicBezTo>
                  <a:pt x="17754" y="3806"/>
                  <a:pt x="21230" y="10004"/>
                  <a:pt x="21572" y="16748"/>
                </a:cubicBezTo>
              </a:path>
              <a:path w="21572" h="17841" stroke="0">
                <a:moveTo>
                  <a:pt x="12176" y="-1"/>
                </a:moveTo>
                <a:cubicBezTo>
                  <a:pt x="17754" y="3806"/>
                  <a:pt x="21230" y="10004"/>
                  <a:pt x="21572" y="16748"/>
                </a:cubicBezTo>
                <a:lnTo>
                  <a:pt x="0" y="17841"/>
                </a:lnTo>
                <a:lnTo>
                  <a:pt x="12176" y="-1"/>
                </a:lnTo>
                <a:close/>
              </a:path>
            </a:pathLst>
          </a:custGeom>
          <a:noFill/>
          <a:ln w="38100" cap="flat" cmpd="dbl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20" name="Rectangle 29"/>
          <p:cNvSpPr/>
          <p:nvPr/>
        </p:nvSpPr>
        <p:spPr>
          <a:xfrm>
            <a:off x="2771775" y="1500188"/>
            <a:ext cx="4286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endParaRPr lang="en-US" altLang="zh-CN" b="1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38654" name="Object 30"/>
          <p:cNvGraphicFramePr>
            <a:graphicFrameLocks noChangeAspect="1"/>
          </p:cNvGraphicFramePr>
          <p:nvPr/>
        </p:nvGraphicFramePr>
        <p:xfrm>
          <a:off x="4211638" y="1916113"/>
          <a:ext cx="4460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" imgW="165100" imgH="152400" progId="Equation.3">
                  <p:embed/>
                </p:oleObj>
              </mc:Choice>
              <mc:Fallback>
                <p:oleObj name="" r:id="rId1" imgW="165100" imgH="1524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1638" y="1916113"/>
                        <a:ext cx="446087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3" name="Group 27"/>
          <p:cNvGrpSpPr/>
          <p:nvPr/>
        </p:nvGrpSpPr>
        <p:grpSpPr>
          <a:xfrm>
            <a:off x="682872" y="258800"/>
            <a:ext cx="5978278" cy="396838"/>
            <a:chOff x="816" y="138"/>
            <a:chExt cx="4459" cy="256"/>
          </a:xfrm>
        </p:grpSpPr>
        <p:sp>
          <p:nvSpPr>
            <p:cNvPr id="53254" name="WordArt 28"/>
            <p:cNvSpPr>
              <a:spLocks noTextEdit="1"/>
            </p:cNvSpPr>
            <p:nvPr/>
          </p:nvSpPr>
          <p:spPr>
            <a:xfrm>
              <a:off x="818" y="139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255" name="WordArt 29"/>
            <p:cNvSpPr>
              <a:spLocks noTextEdit="1"/>
            </p:cNvSpPr>
            <p:nvPr/>
          </p:nvSpPr>
          <p:spPr>
            <a:xfrm>
              <a:off x="816" y="138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862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864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863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53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863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53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3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865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3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53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uild="p"/>
      <p:bldP spid="538636" grpId="0" build="p"/>
      <p:bldP spid="538637" grpId="0" build="p"/>
      <p:bldP spid="538638" grpId="0" animBg="1"/>
      <p:bldP spid="538643" grpId="0" build="p"/>
      <p:bldP spid="538647" grpId="0" animBg="1"/>
      <p:bldP spid="538648" grpId="0" animBg="1"/>
      <p:bldP spid="53865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Text Box 2"/>
          <p:cNvSpPr txBox="1"/>
          <p:nvPr/>
        </p:nvSpPr>
        <p:spPr>
          <a:xfrm>
            <a:off x="1390650" y="981075"/>
            <a:ext cx="6350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旋转矢量法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求相位或相位差的方法：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418" name="Group 3"/>
          <p:cNvGrpSpPr/>
          <p:nvPr/>
        </p:nvGrpSpPr>
        <p:grpSpPr>
          <a:xfrm>
            <a:off x="2627313" y="1641475"/>
            <a:ext cx="3240087" cy="1973263"/>
            <a:chOff x="3939" y="1311"/>
            <a:chExt cx="1773" cy="1108"/>
          </a:xfrm>
        </p:grpSpPr>
        <p:sp>
          <p:nvSpPr>
            <p:cNvPr id="60419" name="Oval 4"/>
            <p:cNvSpPr>
              <a:spLocks noChangeAspect="1"/>
            </p:cNvSpPr>
            <p:nvPr/>
          </p:nvSpPr>
          <p:spPr>
            <a:xfrm>
              <a:off x="4202" y="1331"/>
              <a:ext cx="1068" cy="1088"/>
            </a:xfrm>
            <a:prstGeom prst="ellipse">
              <a:avLst/>
            </a:prstGeom>
            <a:noFill/>
            <a:ln w="38100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0" name="Line 5"/>
            <p:cNvSpPr>
              <a:spLocks noChangeAspect="1"/>
            </p:cNvSpPr>
            <p:nvPr/>
          </p:nvSpPr>
          <p:spPr>
            <a:xfrm>
              <a:off x="4726" y="1880"/>
              <a:ext cx="751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0421" name="Arc 6"/>
            <p:cNvSpPr>
              <a:spLocks noChangeAspect="1"/>
            </p:cNvSpPr>
            <p:nvPr/>
          </p:nvSpPr>
          <p:spPr>
            <a:xfrm rot="-5790090">
              <a:off x="4308" y="1267"/>
              <a:ext cx="149" cy="2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451" h="21600" fill="none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</a:path>
                <a:path w="21451" h="21600" stroke="0">
                  <a:moveTo>
                    <a:pt x="2" y="0"/>
                  </a:moveTo>
                  <a:cubicBezTo>
                    <a:pt x="10949" y="1"/>
                    <a:pt x="20164" y="8191"/>
                    <a:pt x="21450" y="19063"/>
                  </a:cubicBezTo>
                  <a:lnTo>
                    <a:pt x="0" y="21600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22" name="Text Box 7"/>
            <p:cNvSpPr txBox="1">
              <a:spLocks noChangeAspect="1"/>
            </p:cNvSpPr>
            <p:nvPr/>
          </p:nvSpPr>
          <p:spPr>
            <a:xfrm>
              <a:off x="4076" y="1396"/>
              <a:ext cx="25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0423" name="Line 8"/>
            <p:cNvSpPr>
              <a:spLocks noChangeAspect="1"/>
            </p:cNvSpPr>
            <p:nvPr/>
          </p:nvSpPr>
          <p:spPr>
            <a:xfrm>
              <a:off x="3939" y="1880"/>
              <a:ext cx="807" cy="0"/>
            </a:xfrm>
            <a:prstGeom prst="line">
              <a:avLst/>
            </a:prstGeom>
            <a:ln w="9525" cap="flat" cmpd="sng">
              <a:solidFill>
                <a:srgbClr val="0066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4" name="Text Box 9"/>
            <p:cNvSpPr txBox="1">
              <a:spLocks noChangeAspect="1"/>
            </p:cNvSpPr>
            <p:nvPr/>
          </p:nvSpPr>
          <p:spPr>
            <a:xfrm>
              <a:off x="5311" y="1934"/>
              <a:ext cx="401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20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0425" name="Text Box 10"/>
            <p:cNvSpPr txBox="1">
              <a:spLocks noChangeAspect="1"/>
            </p:cNvSpPr>
            <p:nvPr/>
          </p:nvSpPr>
          <p:spPr>
            <a:xfrm>
              <a:off x="4702" y="1860"/>
              <a:ext cx="201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39659" name="Text Box 11"/>
          <p:cNvSpPr txBox="1"/>
          <p:nvPr/>
        </p:nvSpPr>
        <p:spPr>
          <a:xfrm>
            <a:off x="106363" y="3748088"/>
            <a:ext cx="7489825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两状态对应的旋转矢量的角度差即为相位差！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430" name="Rectangle 15"/>
          <p:cNvSpPr/>
          <p:nvPr/>
        </p:nvSpPr>
        <p:spPr>
          <a:xfrm>
            <a:off x="5430838" y="2359025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b="1" i="1" dirty="0">
                <a:solidFill>
                  <a:srgbClr val="3366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b="1" i="1" dirty="0">
              <a:solidFill>
                <a:srgbClr val="3366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31" name="Rectangle 16"/>
          <p:cNvSpPr/>
          <p:nvPr/>
        </p:nvSpPr>
        <p:spPr>
          <a:xfrm>
            <a:off x="3924300" y="2574925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32" name="Oval 17"/>
          <p:cNvSpPr>
            <a:spLocks noChangeAspect="1"/>
          </p:cNvSpPr>
          <p:nvPr/>
        </p:nvSpPr>
        <p:spPr>
          <a:xfrm flipV="1">
            <a:off x="4067175" y="2646363"/>
            <a:ext cx="42863" cy="42862"/>
          </a:xfrm>
          <a:prstGeom prst="ellipse">
            <a:avLst/>
          </a:prstGeom>
          <a:solidFill>
            <a:srgbClr val="A50021"/>
          </a:solidFill>
          <a:ln w="9525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33" name="Line 18"/>
          <p:cNvSpPr/>
          <p:nvPr/>
        </p:nvSpPr>
        <p:spPr>
          <a:xfrm flipH="1" flipV="1">
            <a:off x="3654425" y="1792288"/>
            <a:ext cx="412750" cy="8540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60434" name="Arc 19"/>
          <p:cNvSpPr/>
          <p:nvPr/>
        </p:nvSpPr>
        <p:spPr>
          <a:xfrm rot="-2414123">
            <a:off x="3687763" y="2224088"/>
            <a:ext cx="808037" cy="7762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19114" h="18334" fill="none">
                <a:moveTo>
                  <a:pt x="11420" y="-1"/>
                </a:moveTo>
                <a:cubicBezTo>
                  <a:pt x="14673" y="2026"/>
                  <a:pt x="17328" y="4881"/>
                  <a:pt x="19113" y="8273"/>
                </a:cubicBezTo>
              </a:path>
              <a:path w="19114" h="18334" stroke="0">
                <a:moveTo>
                  <a:pt x="11420" y="-1"/>
                </a:moveTo>
                <a:cubicBezTo>
                  <a:pt x="14673" y="2026"/>
                  <a:pt x="17328" y="4881"/>
                  <a:pt x="19113" y="8273"/>
                </a:cubicBezTo>
                <a:lnTo>
                  <a:pt x="0" y="18334"/>
                </a:lnTo>
                <a:lnTo>
                  <a:pt x="11420" y="-1"/>
                </a:lnTo>
                <a:close/>
              </a:path>
            </a:pathLst>
          </a:custGeom>
          <a:noFill/>
          <a:ln w="38100" cap="flat" cmpd="dbl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435" name="Rectangle 20"/>
          <p:cNvSpPr/>
          <p:nvPr/>
        </p:nvSpPr>
        <p:spPr>
          <a:xfrm>
            <a:off x="2771775" y="1509713"/>
            <a:ext cx="4286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</a:t>
            </a:r>
            <a:endParaRPr lang="en-US" altLang="zh-CN" b="1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0436" name="Object 21"/>
          <p:cNvGraphicFramePr>
            <a:graphicFrameLocks noChangeAspect="1"/>
          </p:cNvGraphicFramePr>
          <p:nvPr/>
        </p:nvGraphicFramePr>
        <p:xfrm>
          <a:off x="3851275" y="1925638"/>
          <a:ext cx="50482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" imgW="266065" imgH="165100" progId="Equation.3">
                  <p:embed/>
                </p:oleObj>
              </mc:Choice>
              <mc:Fallback>
                <p:oleObj name="" r:id="rId1" imgW="266065" imgH="1651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1275" y="1925638"/>
                        <a:ext cx="504825" cy="325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7" name="Line 22"/>
          <p:cNvSpPr/>
          <p:nvPr/>
        </p:nvSpPr>
        <p:spPr>
          <a:xfrm flipV="1">
            <a:off x="4102100" y="1906588"/>
            <a:ext cx="685800" cy="7826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sp>
      <p:sp>
        <p:nvSpPr>
          <p:cNvPr id="539671" name="Text Box 23"/>
          <p:cNvSpPr txBox="1"/>
          <p:nvPr/>
        </p:nvSpPr>
        <p:spPr>
          <a:xfrm>
            <a:off x="454025" y="4941888"/>
            <a:ext cx="480695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对同一个振动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不同时刻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9672" name="Object 24"/>
          <p:cNvGraphicFramePr>
            <a:graphicFrameLocks noChangeAspect="1"/>
          </p:cNvGraphicFramePr>
          <p:nvPr/>
        </p:nvGraphicFramePr>
        <p:xfrm>
          <a:off x="6359525" y="4978400"/>
          <a:ext cx="17176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3" imgW="672465" imgH="177800" progId="Equation.DSMT4">
                  <p:embed/>
                </p:oleObj>
              </mc:Choice>
              <mc:Fallback>
                <p:oleObj name="" r:id="rId3" imgW="672465" imgH="1778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9525" y="4978400"/>
                        <a:ext cx="1717675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73" name="Text Box 25"/>
          <p:cNvSpPr txBox="1"/>
          <p:nvPr/>
        </p:nvSpPr>
        <p:spPr>
          <a:xfrm>
            <a:off x="463550" y="5629275"/>
            <a:ext cx="640715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对同频率的两个不同振动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同一时刻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9674" name="Object 26"/>
          <p:cNvGraphicFramePr>
            <a:graphicFrameLocks noChangeAspect="1"/>
          </p:cNvGraphicFramePr>
          <p:nvPr/>
        </p:nvGraphicFramePr>
        <p:xfrm>
          <a:off x="6457950" y="5575300"/>
          <a:ext cx="16192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5" imgW="635000" imgH="228600" progId="Equation.DSMT4">
                  <p:embed/>
                </p:oleObj>
              </mc:Choice>
              <mc:Fallback>
                <p:oleObj name="" r:id="rId5" imgW="635000" imgH="228600" progId="Equation.DSMT4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57950" y="5575300"/>
                        <a:ext cx="1619250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2374900" y="4308475"/>
          <a:ext cx="25574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7" imgW="1002665" imgH="228600" progId="Equation.DSMT4">
                  <p:embed/>
                </p:oleObj>
              </mc:Choice>
              <mc:Fallback>
                <p:oleObj name="" r:id="rId7" imgW="1002665" imgH="2286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74900" y="4308475"/>
                        <a:ext cx="2557463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3" name="Group 27"/>
          <p:cNvGrpSpPr/>
          <p:nvPr/>
        </p:nvGrpSpPr>
        <p:grpSpPr>
          <a:xfrm>
            <a:off x="682872" y="258800"/>
            <a:ext cx="5978278" cy="396838"/>
            <a:chOff x="816" y="138"/>
            <a:chExt cx="4459" cy="256"/>
          </a:xfrm>
        </p:grpSpPr>
        <p:sp>
          <p:nvSpPr>
            <p:cNvPr id="53254" name="WordArt 28"/>
            <p:cNvSpPr>
              <a:spLocks noTextEdit="1"/>
            </p:cNvSpPr>
            <p:nvPr/>
          </p:nvSpPr>
          <p:spPr>
            <a:xfrm>
              <a:off x="818" y="139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53255" name="WordArt 29"/>
            <p:cNvSpPr>
              <a:spLocks noTextEdit="1"/>
            </p:cNvSpPr>
            <p:nvPr/>
          </p:nvSpPr>
          <p:spPr>
            <a:xfrm>
              <a:off x="816" y="138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简谐振动的旋转矢量图示法</a:t>
              </a:r>
              <a:endParaRPr lang="zh-CN" altLang="en-US" sz="3600" b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965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967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967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9" grpId="0" build="p"/>
      <p:bldP spid="539671" grpId="0" build="p"/>
      <p:bldP spid="53967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3730" name="Group 2"/>
          <p:cNvGrpSpPr/>
          <p:nvPr/>
        </p:nvGrpSpPr>
        <p:grpSpPr>
          <a:xfrm>
            <a:off x="250825" y="1052513"/>
            <a:ext cx="8458200" cy="1066800"/>
            <a:chOff x="192" y="432"/>
            <a:chExt cx="5328" cy="672"/>
          </a:xfrm>
        </p:grpSpPr>
        <p:sp>
          <p:nvSpPr>
            <p:cNvPr id="73731" name="Text Box 3"/>
            <p:cNvSpPr txBox="1"/>
            <p:nvPr/>
          </p:nvSpPr>
          <p:spPr>
            <a:xfrm>
              <a:off x="192" y="480"/>
              <a:ext cx="532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     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   质量为            的物体，以振幅                     作简谐运动，其最大加速度为                ，求：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73732" name="Object 4"/>
            <p:cNvGraphicFramePr>
              <a:graphicFrameLocks noChangeAspect="1"/>
            </p:cNvGraphicFramePr>
            <p:nvPr/>
          </p:nvGraphicFramePr>
          <p:xfrm>
            <a:off x="1824" y="480"/>
            <a:ext cx="816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" name="" r:id="rId1" imgW="469900" imgH="203200" progId="Equation.3">
                    <p:embed/>
                  </p:oleObj>
                </mc:Choice>
                <mc:Fallback>
                  <p:oleObj name="" r:id="rId1" imgW="469900" imgH="203200" progId="Equation.3">
                    <p:embed/>
                    <p:pic>
                      <p:nvPicPr>
                        <p:cNvPr id="0" name="图片 33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24" y="480"/>
                          <a:ext cx="816" cy="3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33" name="Object 5"/>
            <p:cNvGraphicFramePr>
              <a:graphicFrameLocks noChangeAspect="1"/>
            </p:cNvGraphicFramePr>
            <p:nvPr/>
          </p:nvGraphicFramePr>
          <p:xfrm>
            <a:off x="4240" y="432"/>
            <a:ext cx="1280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" name="" r:id="rId3" imgW="711200" imgH="203200" progId="Equation.3">
                    <p:embed/>
                  </p:oleObj>
                </mc:Choice>
                <mc:Fallback>
                  <p:oleObj name="" r:id="rId3" imgW="711200" imgH="203200" progId="Equation.3">
                    <p:embed/>
                    <p:pic>
                      <p:nvPicPr>
                        <p:cNvPr id="0" name="图片 33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40" y="432"/>
                          <a:ext cx="1280" cy="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34" name="Object 6"/>
            <p:cNvGraphicFramePr>
              <a:graphicFrameLocks noChangeAspect="1"/>
            </p:cNvGraphicFramePr>
            <p:nvPr/>
          </p:nvGraphicFramePr>
          <p:xfrm>
            <a:off x="3172" y="713"/>
            <a:ext cx="1148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" name="" r:id="rId5" imgW="596900" imgH="203200" progId="Equation.3">
                    <p:embed/>
                  </p:oleObj>
                </mc:Choice>
                <mc:Fallback>
                  <p:oleObj name="" r:id="rId5" imgW="596900" imgH="203200" progId="Equation.3">
                    <p:embed/>
                    <p:pic>
                      <p:nvPicPr>
                        <p:cNvPr id="0" name="图片 33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72" y="713"/>
                          <a:ext cx="1148" cy="3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735" name="Group 7"/>
          <p:cNvGrpSpPr/>
          <p:nvPr/>
        </p:nvGrpSpPr>
        <p:grpSpPr>
          <a:xfrm>
            <a:off x="914400" y="2205038"/>
            <a:ext cx="6781800" cy="2057400"/>
            <a:chOff x="576" y="1056"/>
            <a:chExt cx="4272" cy="1296"/>
          </a:xfrm>
        </p:grpSpPr>
        <p:graphicFrame>
          <p:nvGraphicFramePr>
            <p:cNvPr id="73736" name="Object 8"/>
            <p:cNvGraphicFramePr>
              <a:graphicFrameLocks noChangeAspect="1"/>
            </p:cNvGraphicFramePr>
            <p:nvPr/>
          </p:nvGraphicFramePr>
          <p:xfrm>
            <a:off x="2748" y="2092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" name="" r:id="rId7" imgW="114300" imgH="215900" progId="Equation.3">
                    <p:embed/>
                  </p:oleObj>
                </mc:Choice>
                <mc:Fallback>
                  <p:oleObj name="" r:id="rId7" imgW="114300" imgH="215900" progId="Equation.3">
                    <p:embed/>
                    <p:pic>
                      <p:nvPicPr>
                        <p:cNvPr id="0" name="图片 338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48" y="2092"/>
                          <a:ext cx="72" cy="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37" name="Rectangle 9"/>
            <p:cNvSpPr/>
            <p:nvPr/>
          </p:nvSpPr>
          <p:spPr>
            <a:xfrm>
              <a:off x="576" y="1056"/>
              <a:ext cx="4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）振动的周期；     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738" name="Rectangle 10"/>
            <p:cNvSpPr/>
            <p:nvPr/>
          </p:nvSpPr>
          <p:spPr>
            <a:xfrm>
              <a:off x="576" y="1374"/>
              <a:ext cx="32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）通过平衡位置的动能；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739" name="Rectangle 11"/>
            <p:cNvSpPr/>
            <p:nvPr/>
          </p:nvSpPr>
          <p:spPr>
            <a:xfrm>
              <a:off x="576" y="1692"/>
              <a:ext cx="28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）总能量；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740" name="Rectangle 12"/>
            <p:cNvSpPr/>
            <p:nvPr/>
          </p:nvSpPr>
          <p:spPr>
            <a:xfrm>
              <a:off x="576" y="2025"/>
              <a:ext cx="41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）物体在何处其动能和势能相等？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3744" name="Picture 23" descr="随堂练习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" y="-100012"/>
            <a:ext cx="2597150" cy="652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3973" name="Group 11"/>
          <p:cNvGrpSpPr/>
          <p:nvPr/>
        </p:nvGrpSpPr>
        <p:grpSpPr>
          <a:xfrm>
            <a:off x="397828" y="926465"/>
            <a:ext cx="4806950" cy="1428750"/>
            <a:chOff x="2448" y="1536"/>
            <a:chExt cx="3028" cy="900"/>
          </a:xfrm>
        </p:grpSpPr>
        <p:sp>
          <p:nvSpPr>
            <p:cNvPr id="7" name="Rectangle 12"/>
            <p:cNvSpPr>
              <a:spLocks noChangeArrowheads="1"/>
            </p:cNvSpPr>
            <p:nvPr/>
          </p:nvSpPr>
          <p:spPr bwMode="auto">
            <a:xfrm>
              <a:off x="4440" y="1913"/>
              <a:ext cx="249" cy="286"/>
            </a:xfrm>
            <a:prstGeom prst="rect">
              <a:avLst/>
            </a:prstGeom>
            <a:solidFill>
              <a:srgbClr val="993366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3975" name="Group 13"/>
            <p:cNvGrpSpPr/>
            <p:nvPr/>
          </p:nvGrpSpPr>
          <p:grpSpPr>
            <a:xfrm>
              <a:off x="2448" y="1536"/>
              <a:ext cx="3028" cy="900"/>
              <a:chOff x="2448" y="1536"/>
              <a:chExt cx="3028" cy="900"/>
            </a:xfrm>
          </p:grpSpPr>
          <p:sp>
            <p:nvSpPr>
              <p:cNvPr id="9" name="Line 14"/>
              <p:cNvSpPr>
                <a:spLocks noChangeShapeType="1"/>
              </p:cNvSpPr>
              <p:nvPr/>
            </p:nvSpPr>
            <p:spPr bwMode="auto">
              <a:xfrm>
                <a:off x="2448" y="1855"/>
                <a:ext cx="0" cy="3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Line 15"/>
              <p:cNvSpPr>
                <a:spLocks noChangeShapeType="1"/>
              </p:cNvSpPr>
              <p:nvPr/>
            </p:nvSpPr>
            <p:spPr bwMode="auto">
              <a:xfrm>
                <a:off x="2448" y="2208"/>
                <a:ext cx="2989" cy="0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6"/>
              <p:cNvSpPr>
                <a:spLocks noChangeArrowheads="1"/>
              </p:cNvSpPr>
              <p:nvPr/>
            </p:nvSpPr>
            <p:spPr bwMode="auto">
              <a:xfrm>
                <a:off x="5232" y="2128"/>
                <a:ext cx="244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2600" b="1" i="1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  <a:endPara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7"/>
              <p:cNvSpPr>
                <a:spLocks noChangeArrowheads="1"/>
              </p:cNvSpPr>
              <p:nvPr/>
            </p:nvSpPr>
            <p:spPr bwMode="auto">
              <a:xfrm>
                <a:off x="2784" y="1536"/>
                <a:ext cx="312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600" b="1" i="1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0" lang="en-US" altLang="zh-CN" sz="2600" b="1" i="0" u="none" strike="noStrike" kern="0" cap="none" spc="0" normalizeH="0" baseline="-2500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2600" b="1" i="0" u="none" strike="noStrike" kern="0" cap="none" spc="0" normalizeH="0" baseline="-2500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8"/>
              <p:cNvSpPr>
                <a:spLocks noChangeArrowheads="1"/>
              </p:cNvSpPr>
              <p:nvPr/>
            </p:nvSpPr>
            <p:spPr bwMode="auto">
              <a:xfrm>
                <a:off x="3693" y="1552"/>
                <a:ext cx="288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600" b="1" i="1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0" lang="en-US" altLang="zh-CN" sz="2600" b="1" i="0" u="none" strike="noStrike" kern="0" cap="none" spc="0" normalizeH="0" baseline="-2500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2600" b="1" i="0" u="none" strike="noStrike" kern="0" cap="none" spc="0" normalizeH="0" baseline="-2500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9"/>
              <p:cNvSpPr>
                <a:spLocks noChangeArrowheads="1"/>
              </p:cNvSpPr>
              <p:nvPr/>
            </p:nvSpPr>
            <p:spPr bwMode="auto">
              <a:xfrm>
                <a:off x="3648" y="2128"/>
                <a:ext cx="220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600" b="1" i="1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</a:t>
                </a:r>
                <a:endParaRPr kumimoji="0" lang="en-US" altLang="zh-CN" sz="2600" b="1" i="1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20"/>
              <p:cNvSpPr>
                <a:spLocks noChangeArrowheads="1"/>
              </p:cNvSpPr>
              <p:nvPr/>
            </p:nvSpPr>
            <p:spPr bwMode="auto">
              <a:xfrm>
                <a:off x="4416" y="2128"/>
                <a:ext cx="244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2600" b="1" i="1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x</a:t>
                </a:r>
                <a:endParaRPr kumimoji="0" lang="en-US" altLang="zh-CN" sz="2600" b="1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83983" name="Group 21"/>
              <p:cNvGrpSpPr/>
              <p:nvPr/>
            </p:nvGrpSpPr>
            <p:grpSpPr>
              <a:xfrm>
                <a:off x="2472" y="1933"/>
                <a:ext cx="816" cy="181"/>
                <a:chOff x="3211" y="1708"/>
                <a:chExt cx="1072" cy="411"/>
              </a:xfrm>
            </p:grpSpPr>
            <p:sp>
              <p:nvSpPr>
                <p:cNvPr id="28" name="Freeform 22"/>
                <p:cNvSpPr/>
                <p:nvPr/>
              </p:nvSpPr>
              <p:spPr bwMode="auto">
                <a:xfrm>
                  <a:off x="3936" y="1708"/>
                  <a:ext cx="215" cy="411"/>
                </a:xfrm>
                <a:custGeom>
                  <a:avLst/>
                  <a:gdLst>
                    <a:gd name="T0" fmla="*/ 0 w 1078"/>
                    <a:gd name="T1" fmla="*/ 1237 h 2464"/>
                    <a:gd name="T2" fmla="*/ 0 w 1078"/>
                    <a:gd name="T3" fmla="*/ 1235 h 2464"/>
                    <a:gd name="T4" fmla="*/ 0 w 1078"/>
                    <a:gd name="T5" fmla="*/ 1233 h 2464"/>
                    <a:gd name="T6" fmla="*/ 6 w 1078"/>
                    <a:gd name="T7" fmla="*/ 1046 h 2464"/>
                    <a:gd name="T8" fmla="*/ 24 w 1078"/>
                    <a:gd name="T9" fmla="*/ 867 h 2464"/>
                    <a:gd name="T10" fmla="*/ 53 w 1078"/>
                    <a:gd name="T11" fmla="*/ 699 h 2464"/>
                    <a:gd name="T12" fmla="*/ 93 w 1078"/>
                    <a:gd name="T13" fmla="*/ 545 h 2464"/>
                    <a:gd name="T14" fmla="*/ 141 w 1078"/>
                    <a:gd name="T15" fmla="*/ 405 h 2464"/>
                    <a:gd name="T16" fmla="*/ 196 w 1078"/>
                    <a:gd name="T17" fmla="*/ 282 h 2464"/>
                    <a:gd name="T18" fmla="*/ 260 w 1078"/>
                    <a:gd name="T19" fmla="*/ 179 h 2464"/>
                    <a:gd name="T20" fmla="*/ 329 w 1078"/>
                    <a:gd name="T21" fmla="*/ 97 h 2464"/>
                    <a:gd name="T22" fmla="*/ 403 w 1078"/>
                    <a:gd name="T23" fmla="*/ 39 h 2464"/>
                    <a:gd name="T24" fmla="*/ 483 w 1078"/>
                    <a:gd name="T25" fmla="*/ 6 h 2464"/>
                    <a:gd name="T26" fmla="*/ 566 w 1078"/>
                    <a:gd name="T27" fmla="*/ 2 h 2464"/>
                    <a:gd name="T28" fmla="*/ 647 w 1078"/>
                    <a:gd name="T29" fmla="*/ 25 h 2464"/>
                    <a:gd name="T30" fmla="*/ 723 w 1078"/>
                    <a:gd name="T31" fmla="*/ 75 h 2464"/>
                    <a:gd name="T32" fmla="*/ 794 w 1078"/>
                    <a:gd name="T33" fmla="*/ 148 h 2464"/>
                    <a:gd name="T34" fmla="*/ 860 w 1078"/>
                    <a:gd name="T35" fmla="*/ 245 h 2464"/>
                    <a:gd name="T36" fmla="*/ 918 w 1078"/>
                    <a:gd name="T37" fmla="*/ 360 h 2464"/>
                    <a:gd name="T38" fmla="*/ 969 w 1078"/>
                    <a:gd name="T39" fmla="*/ 493 h 2464"/>
                    <a:gd name="T40" fmla="*/ 1011 w 1078"/>
                    <a:gd name="T41" fmla="*/ 643 h 2464"/>
                    <a:gd name="T42" fmla="*/ 1043 w 1078"/>
                    <a:gd name="T43" fmla="*/ 806 h 2464"/>
                    <a:gd name="T44" fmla="*/ 1065 w 1078"/>
                    <a:gd name="T45" fmla="*/ 981 h 2464"/>
                    <a:gd name="T46" fmla="*/ 1076 w 1078"/>
                    <a:gd name="T47" fmla="*/ 1166 h 2464"/>
                    <a:gd name="T48" fmla="*/ 1078 w 1078"/>
                    <a:gd name="T49" fmla="*/ 1226 h 2464"/>
                    <a:gd name="T50" fmla="*/ 1078 w 1078"/>
                    <a:gd name="T51" fmla="*/ 1228 h 2464"/>
                    <a:gd name="T52" fmla="*/ 1078 w 1078"/>
                    <a:gd name="T53" fmla="*/ 1230 h 2464"/>
                    <a:gd name="T54" fmla="*/ 1075 w 1078"/>
                    <a:gd name="T55" fmla="*/ 1478 h 2464"/>
                    <a:gd name="T56" fmla="*/ 1057 w 1078"/>
                    <a:gd name="T57" fmla="*/ 1818 h 2464"/>
                    <a:gd name="T58" fmla="*/ 1025 w 1078"/>
                    <a:gd name="T59" fmla="*/ 2102 h 2464"/>
                    <a:gd name="T60" fmla="*/ 1006 w 1078"/>
                    <a:gd name="T61" fmla="*/ 2218 h 2464"/>
                    <a:gd name="T62" fmla="*/ 984 w 1078"/>
                    <a:gd name="T63" fmla="*/ 2314 h 2464"/>
                    <a:gd name="T64" fmla="*/ 960 w 1078"/>
                    <a:gd name="T65" fmla="*/ 2388 h 2464"/>
                    <a:gd name="T66" fmla="*/ 935 w 1078"/>
                    <a:gd name="T67" fmla="*/ 2438 h 2464"/>
                    <a:gd name="T68" fmla="*/ 907 w 1078"/>
                    <a:gd name="T69" fmla="*/ 2462 h 2464"/>
                    <a:gd name="T70" fmla="*/ 879 w 1078"/>
                    <a:gd name="T71" fmla="*/ 2458 h 2464"/>
                    <a:gd name="T72" fmla="*/ 853 w 1078"/>
                    <a:gd name="T73" fmla="*/ 2425 h 2464"/>
                    <a:gd name="T74" fmla="*/ 829 w 1078"/>
                    <a:gd name="T75" fmla="*/ 2367 h 2464"/>
                    <a:gd name="T76" fmla="*/ 805 w 1078"/>
                    <a:gd name="T77" fmla="*/ 2285 h 2464"/>
                    <a:gd name="T78" fmla="*/ 784 w 1078"/>
                    <a:gd name="T79" fmla="*/ 2182 h 2464"/>
                    <a:gd name="T80" fmla="*/ 760 w 1078"/>
                    <a:gd name="T81" fmla="*/ 2014 h 2464"/>
                    <a:gd name="T82" fmla="*/ 732 w 1078"/>
                    <a:gd name="T83" fmla="*/ 1709 h 2464"/>
                    <a:gd name="T84" fmla="*/ 719 w 1078"/>
                    <a:gd name="T85" fmla="*/ 1357 h 2464"/>
                    <a:gd name="T86" fmla="*/ 719 w 1078"/>
                    <a:gd name="T87" fmla="*/ 1227 h 2464"/>
                    <a:gd name="T88" fmla="*/ 719 w 1078"/>
                    <a:gd name="T89" fmla="*/ 1222 h 2464"/>
                    <a:gd name="T90" fmla="*/ 719 w 1078"/>
                    <a:gd name="T91" fmla="*/ 1217 h 2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078" h="2464">
                      <a:moveTo>
                        <a:pt x="0" y="1238"/>
                      </a:moveTo>
                      <a:lnTo>
                        <a:pt x="0" y="1238"/>
                      </a:lnTo>
                      <a:lnTo>
                        <a:pt x="0" y="1237"/>
                      </a:lnTo>
                      <a:lnTo>
                        <a:pt x="0" y="1237"/>
                      </a:lnTo>
                      <a:lnTo>
                        <a:pt x="0" y="1236"/>
                      </a:lnTo>
                      <a:lnTo>
                        <a:pt x="0" y="1235"/>
                      </a:lnTo>
                      <a:lnTo>
                        <a:pt x="0" y="1234"/>
                      </a:lnTo>
                      <a:lnTo>
                        <a:pt x="0" y="1234"/>
                      </a:lnTo>
                      <a:lnTo>
                        <a:pt x="0" y="1233"/>
                      </a:lnTo>
                      <a:lnTo>
                        <a:pt x="1" y="1171"/>
                      </a:lnTo>
                      <a:lnTo>
                        <a:pt x="3" y="1107"/>
                      </a:lnTo>
                      <a:lnTo>
                        <a:pt x="6" y="1046"/>
                      </a:lnTo>
                      <a:lnTo>
                        <a:pt x="11" y="986"/>
                      </a:lnTo>
                      <a:lnTo>
                        <a:pt x="17" y="926"/>
                      </a:lnTo>
                      <a:lnTo>
                        <a:pt x="24" y="867"/>
                      </a:lnTo>
                      <a:lnTo>
                        <a:pt x="32" y="810"/>
                      </a:lnTo>
                      <a:lnTo>
                        <a:pt x="42" y="755"/>
                      </a:lnTo>
                      <a:lnTo>
                        <a:pt x="53" y="699"/>
                      </a:lnTo>
                      <a:lnTo>
                        <a:pt x="65" y="646"/>
                      </a:lnTo>
                      <a:lnTo>
                        <a:pt x="78" y="595"/>
                      </a:lnTo>
                      <a:lnTo>
                        <a:pt x="93" y="545"/>
                      </a:lnTo>
                      <a:lnTo>
                        <a:pt x="107" y="496"/>
                      </a:lnTo>
                      <a:lnTo>
                        <a:pt x="123" y="450"/>
                      </a:lnTo>
                      <a:lnTo>
                        <a:pt x="141" y="405"/>
                      </a:lnTo>
                      <a:lnTo>
                        <a:pt x="158" y="362"/>
                      </a:lnTo>
                      <a:lnTo>
                        <a:pt x="177" y="321"/>
                      </a:lnTo>
                      <a:lnTo>
                        <a:pt x="196" y="282"/>
                      </a:lnTo>
                      <a:lnTo>
                        <a:pt x="217" y="246"/>
                      </a:lnTo>
                      <a:lnTo>
                        <a:pt x="237" y="212"/>
                      </a:lnTo>
                      <a:lnTo>
                        <a:pt x="260" y="179"/>
                      </a:lnTo>
                      <a:lnTo>
                        <a:pt x="282" y="150"/>
                      </a:lnTo>
                      <a:lnTo>
                        <a:pt x="305" y="122"/>
                      </a:lnTo>
                      <a:lnTo>
                        <a:pt x="329" y="97"/>
                      </a:lnTo>
                      <a:lnTo>
                        <a:pt x="353" y="76"/>
                      </a:lnTo>
                      <a:lnTo>
                        <a:pt x="378" y="57"/>
                      </a:lnTo>
                      <a:lnTo>
                        <a:pt x="403" y="39"/>
                      </a:lnTo>
                      <a:lnTo>
                        <a:pt x="430" y="26"/>
                      </a:lnTo>
                      <a:lnTo>
                        <a:pt x="456" y="15"/>
                      </a:lnTo>
                      <a:lnTo>
                        <a:pt x="483" y="6"/>
                      </a:lnTo>
                      <a:lnTo>
                        <a:pt x="511" y="2"/>
                      </a:lnTo>
                      <a:lnTo>
                        <a:pt x="538" y="0"/>
                      </a:lnTo>
                      <a:lnTo>
                        <a:pt x="566" y="2"/>
                      </a:lnTo>
                      <a:lnTo>
                        <a:pt x="593" y="6"/>
                      </a:lnTo>
                      <a:lnTo>
                        <a:pt x="620" y="15"/>
                      </a:lnTo>
                      <a:lnTo>
                        <a:pt x="647" y="25"/>
                      </a:lnTo>
                      <a:lnTo>
                        <a:pt x="672" y="39"/>
                      </a:lnTo>
                      <a:lnTo>
                        <a:pt x="697" y="55"/>
                      </a:lnTo>
                      <a:lnTo>
                        <a:pt x="723" y="75"/>
                      </a:lnTo>
                      <a:lnTo>
                        <a:pt x="747" y="96"/>
                      </a:lnTo>
                      <a:lnTo>
                        <a:pt x="771" y="121"/>
                      </a:lnTo>
                      <a:lnTo>
                        <a:pt x="794" y="148"/>
                      </a:lnTo>
                      <a:lnTo>
                        <a:pt x="817" y="178"/>
                      </a:lnTo>
                      <a:lnTo>
                        <a:pt x="838" y="210"/>
                      </a:lnTo>
                      <a:lnTo>
                        <a:pt x="860" y="245"/>
                      </a:lnTo>
                      <a:lnTo>
                        <a:pt x="881" y="280"/>
                      </a:lnTo>
                      <a:lnTo>
                        <a:pt x="900" y="319"/>
                      </a:lnTo>
                      <a:lnTo>
                        <a:pt x="918" y="360"/>
                      </a:lnTo>
                      <a:lnTo>
                        <a:pt x="936" y="402"/>
                      </a:lnTo>
                      <a:lnTo>
                        <a:pt x="953" y="447"/>
                      </a:lnTo>
                      <a:lnTo>
                        <a:pt x="969" y="493"/>
                      </a:lnTo>
                      <a:lnTo>
                        <a:pt x="984" y="542"/>
                      </a:lnTo>
                      <a:lnTo>
                        <a:pt x="998" y="591"/>
                      </a:lnTo>
                      <a:lnTo>
                        <a:pt x="1011" y="643"/>
                      </a:lnTo>
                      <a:lnTo>
                        <a:pt x="1023" y="695"/>
                      </a:lnTo>
                      <a:lnTo>
                        <a:pt x="1034" y="751"/>
                      </a:lnTo>
                      <a:lnTo>
                        <a:pt x="1043" y="806"/>
                      </a:lnTo>
                      <a:lnTo>
                        <a:pt x="1052" y="863"/>
                      </a:lnTo>
                      <a:lnTo>
                        <a:pt x="1059" y="921"/>
                      </a:lnTo>
                      <a:lnTo>
                        <a:pt x="1065" y="981"/>
                      </a:lnTo>
                      <a:lnTo>
                        <a:pt x="1070" y="1042"/>
                      </a:lnTo>
                      <a:lnTo>
                        <a:pt x="1073" y="1103"/>
                      </a:lnTo>
                      <a:lnTo>
                        <a:pt x="1076" y="1166"/>
                      </a:lnTo>
                      <a:lnTo>
                        <a:pt x="1076" y="1229"/>
                      </a:lnTo>
                      <a:lnTo>
                        <a:pt x="1078" y="1226"/>
                      </a:lnTo>
                      <a:lnTo>
                        <a:pt x="1078" y="1226"/>
                      </a:lnTo>
                      <a:lnTo>
                        <a:pt x="1078" y="1227"/>
                      </a:lnTo>
                      <a:lnTo>
                        <a:pt x="1078" y="1227"/>
                      </a:lnTo>
                      <a:lnTo>
                        <a:pt x="1078" y="1228"/>
                      </a:lnTo>
                      <a:lnTo>
                        <a:pt x="1078" y="1229"/>
                      </a:lnTo>
                      <a:lnTo>
                        <a:pt x="1078" y="1230"/>
                      </a:lnTo>
                      <a:lnTo>
                        <a:pt x="1078" y="1230"/>
                      </a:lnTo>
                      <a:lnTo>
                        <a:pt x="1078" y="1231"/>
                      </a:lnTo>
                      <a:lnTo>
                        <a:pt x="1077" y="1357"/>
                      </a:lnTo>
                      <a:lnTo>
                        <a:pt x="1075" y="1478"/>
                      </a:lnTo>
                      <a:lnTo>
                        <a:pt x="1070" y="1597"/>
                      </a:lnTo>
                      <a:lnTo>
                        <a:pt x="1064" y="1709"/>
                      </a:lnTo>
                      <a:lnTo>
                        <a:pt x="1057" y="1818"/>
                      </a:lnTo>
                      <a:lnTo>
                        <a:pt x="1047" y="1919"/>
                      </a:lnTo>
                      <a:lnTo>
                        <a:pt x="1037" y="2014"/>
                      </a:lnTo>
                      <a:lnTo>
                        <a:pt x="1025" y="2102"/>
                      </a:lnTo>
                      <a:lnTo>
                        <a:pt x="1019" y="2143"/>
                      </a:lnTo>
                      <a:lnTo>
                        <a:pt x="1012" y="2182"/>
                      </a:lnTo>
                      <a:lnTo>
                        <a:pt x="1006" y="2218"/>
                      </a:lnTo>
                      <a:lnTo>
                        <a:pt x="999" y="2252"/>
                      </a:lnTo>
                      <a:lnTo>
                        <a:pt x="992" y="2285"/>
                      </a:lnTo>
                      <a:lnTo>
                        <a:pt x="984" y="2314"/>
                      </a:lnTo>
                      <a:lnTo>
                        <a:pt x="976" y="2342"/>
                      </a:lnTo>
                      <a:lnTo>
                        <a:pt x="969" y="2367"/>
                      </a:lnTo>
                      <a:lnTo>
                        <a:pt x="960" y="2388"/>
                      </a:lnTo>
                      <a:lnTo>
                        <a:pt x="952" y="2407"/>
                      </a:lnTo>
                      <a:lnTo>
                        <a:pt x="943" y="2425"/>
                      </a:lnTo>
                      <a:lnTo>
                        <a:pt x="935" y="2438"/>
                      </a:lnTo>
                      <a:lnTo>
                        <a:pt x="925" y="2449"/>
                      </a:lnTo>
                      <a:lnTo>
                        <a:pt x="917" y="2458"/>
                      </a:lnTo>
                      <a:lnTo>
                        <a:pt x="907" y="2462"/>
                      </a:lnTo>
                      <a:lnTo>
                        <a:pt x="899" y="2464"/>
                      </a:lnTo>
                      <a:lnTo>
                        <a:pt x="889" y="2462"/>
                      </a:lnTo>
                      <a:lnTo>
                        <a:pt x="879" y="2458"/>
                      </a:lnTo>
                      <a:lnTo>
                        <a:pt x="871" y="2449"/>
                      </a:lnTo>
                      <a:lnTo>
                        <a:pt x="863" y="2438"/>
                      </a:lnTo>
                      <a:lnTo>
                        <a:pt x="853" y="2425"/>
                      </a:lnTo>
                      <a:lnTo>
                        <a:pt x="844" y="2407"/>
                      </a:lnTo>
                      <a:lnTo>
                        <a:pt x="837" y="2388"/>
                      </a:lnTo>
                      <a:lnTo>
                        <a:pt x="829" y="2367"/>
                      </a:lnTo>
                      <a:lnTo>
                        <a:pt x="820" y="2342"/>
                      </a:lnTo>
                      <a:lnTo>
                        <a:pt x="813" y="2314"/>
                      </a:lnTo>
                      <a:lnTo>
                        <a:pt x="805" y="2285"/>
                      </a:lnTo>
                      <a:lnTo>
                        <a:pt x="797" y="2252"/>
                      </a:lnTo>
                      <a:lnTo>
                        <a:pt x="791" y="2218"/>
                      </a:lnTo>
                      <a:lnTo>
                        <a:pt x="784" y="2182"/>
                      </a:lnTo>
                      <a:lnTo>
                        <a:pt x="778" y="2143"/>
                      </a:lnTo>
                      <a:lnTo>
                        <a:pt x="771" y="2102"/>
                      </a:lnTo>
                      <a:lnTo>
                        <a:pt x="760" y="2014"/>
                      </a:lnTo>
                      <a:lnTo>
                        <a:pt x="749" y="1919"/>
                      </a:lnTo>
                      <a:lnTo>
                        <a:pt x="741" y="1818"/>
                      </a:lnTo>
                      <a:lnTo>
                        <a:pt x="732" y="1709"/>
                      </a:lnTo>
                      <a:lnTo>
                        <a:pt x="726" y="1597"/>
                      </a:lnTo>
                      <a:lnTo>
                        <a:pt x="723" y="1478"/>
                      </a:lnTo>
                      <a:lnTo>
                        <a:pt x="719" y="1357"/>
                      </a:lnTo>
                      <a:lnTo>
                        <a:pt x="719" y="1231"/>
                      </a:lnTo>
                      <a:lnTo>
                        <a:pt x="719" y="1229"/>
                      </a:lnTo>
                      <a:lnTo>
                        <a:pt x="719" y="1227"/>
                      </a:lnTo>
                      <a:lnTo>
                        <a:pt x="719" y="1225"/>
                      </a:lnTo>
                      <a:lnTo>
                        <a:pt x="719" y="1224"/>
                      </a:lnTo>
                      <a:lnTo>
                        <a:pt x="719" y="1222"/>
                      </a:lnTo>
                      <a:lnTo>
                        <a:pt x="719" y="1220"/>
                      </a:lnTo>
                      <a:lnTo>
                        <a:pt x="719" y="1218"/>
                      </a:lnTo>
                      <a:lnTo>
                        <a:pt x="719" y="1217"/>
                      </a:lnTo>
                    </a:path>
                  </a:pathLst>
                </a:custGeom>
                <a:noFill/>
                <a:ln w="38100">
                  <a:solidFill>
                    <a:srgbClr val="1F1A17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3333CC"/>
                    </a:buClr>
                    <a:buSzTx/>
                    <a:buFont typeface="Monotype Sorts" pitchFamily="2" charset="2"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83985" name="Group 23"/>
                <p:cNvGrpSpPr/>
                <p:nvPr/>
              </p:nvGrpSpPr>
              <p:grpSpPr>
                <a:xfrm>
                  <a:off x="3211" y="1708"/>
                  <a:ext cx="1072" cy="411"/>
                  <a:chOff x="3211" y="1708"/>
                  <a:chExt cx="1072" cy="411"/>
                </a:xfrm>
              </p:grpSpPr>
              <p:sp>
                <p:nvSpPr>
                  <p:cNvPr id="30" name="Freeform 24"/>
                  <p:cNvSpPr/>
                  <p:nvPr/>
                </p:nvSpPr>
                <p:spPr bwMode="auto">
                  <a:xfrm>
                    <a:off x="4068" y="1708"/>
                    <a:ext cx="215" cy="207"/>
                  </a:xfrm>
                  <a:custGeom>
                    <a:avLst/>
                    <a:gdLst>
                      <a:gd name="T0" fmla="*/ 0 w 1076"/>
                      <a:gd name="T1" fmla="*/ 1238 h 1238"/>
                      <a:gd name="T2" fmla="*/ 0 w 1076"/>
                      <a:gd name="T3" fmla="*/ 1237 h 1238"/>
                      <a:gd name="T4" fmla="*/ 0 w 1076"/>
                      <a:gd name="T5" fmla="*/ 1235 h 1238"/>
                      <a:gd name="T6" fmla="*/ 0 w 1076"/>
                      <a:gd name="T7" fmla="*/ 1234 h 1238"/>
                      <a:gd name="T8" fmla="*/ 1 w 1076"/>
                      <a:gd name="T9" fmla="*/ 1171 h 1238"/>
                      <a:gd name="T10" fmla="*/ 7 w 1076"/>
                      <a:gd name="T11" fmla="*/ 1046 h 1238"/>
                      <a:gd name="T12" fmla="*/ 17 w 1076"/>
                      <a:gd name="T13" fmla="*/ 926 h 1238"/>
                      <a:gd name="T14" fmla="*/ 34 w 1076"/>
                      <a:gd name="T15" fmla="*/ 810 h 1238"/>
                      <a:gd name="T16" fmla="*/ 53 w 1076"/>
                      <a:gd name="T17" fmla="*/ 699 h 1238"/>
                      <a:gd name="T18" fmla="*/ 78 w 1076"/>
                      <a:gd name="T19" fmla="*/ 595 h 1238"/>
                      <a:gd name="T20" fmla="*/ 107 w 1076"/>
                      <a:gd name="T21" fmla="*/ 496 h 1238"/>
                      <a:gd name="T22" fmla="*/ 141 w 1076"/>
                      <a:gd name="T23" fmla="*/ 405 h 1238"/>
                      <a:gd name="T24" fmla="*/ 177 w 1076"/>
                      <a:gd name="T25" fmla="*/ 321 h 1238"/>
                      <a:gd name="T26" fmla="*/ 217 w 1076"/>
                      <a:gd name="T27" fmla="*/ 246 h 1238"/>
                      <a:gd name="T28" fmla="*/ 260 w 1076"/>
                      <a:gd name="T29" fmla="*/ 179 h 1238"/>
                      <a:gd name="T30" fmla="*/ 306 w 1076"/>
                      <a:gd name="T31" fmla="*/ 122 h 1238"/>
                      <a:gd name="T32" fmla="*/ 354 w 1076"/>
                      <a:gd name="T33" fmla="*/ 76 h 1238"/>
                      <a:gd name="T34" fmla="*/ 404 w 1076"/>
                      <a:gd name="T35" fmla="*/ 39 h 1238"/>
                      <a:gd name="T36" fmla="*/ 457 w 1076"/>
                      <a:gd name="T37" fmla="*/ 15 h 1238"/>
                      <a:gd name="T38" fmla="*/ 511 w 1076"/>
                      <a:gd name="T39" fmla="*/ 2 h 1238"/>
                      <a:gd name="T40" fmla="*/ 566 w 1076"/>
                      <a:gd name="T41" fmla="*/ 2 h 1238"/>
                      <a:gd name="T42" fmla="*/ 621 w 1076"/>
                      <a:gd name="T43" fmla="*/ 15 h 1238"/>
                      <a:gd name="T44" fmla="*/ 672 w 1076"/>
                      <a:gd name="T45" fmla="*/ 39 h 1238"/>
                      <a:gd name="T46" fmla="*/ 723 w 1076"/>
                      <a:gd name="T47" fmla="*/ 75 h 1238"/>
                      <a:gd name="T48" fmla="*/ 771 w 1076"/>
                      <a:gd name="T49" fmla="*/ 121 h 1238"/>
                      <a:gd name="T50" fmla="*/ 817 w 1076"/>
                      <a:gd name="T51" fmla="*/ 178 h 1238"/>
                      <a:gd name="T52" fmla="*/ 860 w 1076"/>
                      <a:gd name="T53" fmla="*/ 245 h 1238"/>
                      <a:gd name="T54" fmla="*/ 900 w 1076"/>
                      <a:gd name="T55" fmla="*/ 319 h 1238"/>
                      <a:gd name="T56" fmla="*/ 936 w 1076"/>
                      <a:gd name="T57" fmla="*/ 402 h 1238"/>
                      <a:gd name="T58" fmla="*/ 969 w 1076"/>
                      <a:gd name="T59" fmla="*/ 493 h 1238"/>
                      <a:gd name="T60" fmla="*/ 999 w 1076"/>
                      <a:gd name="T61" fmla="*/ 591 h 1238"/>
                      <a:gd name="T62" fmla="*/ 1023 w 1076"/>
                      <a:gd name="T63" fmla="*/ 695 h 1238"/>
                      <a:gd name="T64" fmla="*/ 1043 w 1076"/>
                      <a:gd name="T65" fmla="*/ 806 h 1238"/>
                      <a:gd name="T66" fmla="*/ 1059 w 1076"/>
                      <a:gd name="T67" fmla="*/ 921 h 1238"/>
                      <a:gd name="T68" fmla="*/ 1070 w 1076"/>
                      <a:gd name="T69" fmla="*/ 1042 h 1238"/>
                      <a:gd name="T70" fmla="*/ 1076 w 1076"/>
                      <a:gd name="T71" fmla="*/ 1166 h 1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076" h="1238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1" y="1171"/>
                        </a:lnTo>
                        <a:lnTo>
                          <a:pt x="4" y="1107"/>
                        </a:lnTo>
                        <a:lnTo>
                          <a:pt x="7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4" y="810"/>
                        </a:lnTo>
                        <a:lnTo>
                          <a:pt x="43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3" y="545"/>
                        </a:lnTo>
                        <a:lnTo>
                          <a:pt x="107" y="496"/>
                        </a:lnTo>
                        <a:lnTo>
                          <a:pt x="124" y="450"/>
                        </a:lnTo>
                        <a:lnTo>
                          <a:pt x="141" y="405"/>
                        </a:lnTo>
                        <a:lnTo>
                          <a:pt x="158" y="362"/>
                        </a:lnTo>
                        <a:lnTo>
                          <a:pt x="177" y="321"/>
                        </a:lnTo>
                        <a:lnTo>
                          <a:pt x="196" y="282"/>
                        </a:lnTo>
                        <a:lnTo>
                          <a:pt x="217" y="246"/>
                        </a:lnTo>
                        <a:lnTo>
                          <a:pt x="237" y="212"/>
                        </a:lnTo>
                        <a:lnTo>
                          <a:pt x="260" y="179"/>
                        </a:lnTo>
                        <a:lnTo>
                          <a:pt x="282" y="150"/>
                        </a:lnTo>
                        <a:lnTo>
                          <a:pt x="306" y="122"/>
                        </a:lnTo>
                        <a:lnTo>
                          <a:pt x="329" y="97"/>
                        </a:lnTo>
                        <a:lnTo>
                          <a:pt x="354" y="76"/>
                        </a:lnTo>
                        <a:lnTo>
                          <a:pt x="378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9" y="0"/>
                        </a:lnTo>
                        <a:lnTo>
                          <a:pt x="566" y="2"/>
                        </a:lnTo>
                        <a:lnTo>
                          <a:pt x="593" y="6"/>
                        </a:lnTo>
                        <a:lnTo>
                          <a:pt x="621" y="15"/>
                        </a:lnTo>
                        <a:lnTo>
                          <a:pt x="647" y="25"/>
                        </a:lnTo>
                        <a:lnTo>
                          <a:pt x="672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60" y="245"/>
                        </a:lnTo>
                        <a:lnTo>
                          <a:pt x="881" y="280"/>
                        </a:lnTo>
                        <a:lnTo>
                          <a:pt x="900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4" y="542"/>
                        </a:lnTo>
                        <a:lnTo>
                          <a:pt x="999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3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4" y="1103"/>
                        </a:lnTo>
                        <a:lnTo>
                          <a:pt x="1076" y="1166"/>
                        </a:lnTo>
                        <a:lnTo>
                          <a:pt x="1076" y="1229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1" name="Freeform 25"/>
                  <p:cNvSpPr/>
                  <p:nvPr/>
                </p:nvSpPr>
                <p:spPr bwMode="auto">
                  <a:xfrm>
                    <a:off x="3790" y="1708"/>
                    <a:ext cx="217" cy="411"/>
                  </a:xfrm>
                  <a:custGeom>
                    <a:avLst/>
                    <a:gdLst>
                      <a:gd name="T0" fmla="*/ 0 w 1079"/>
                      <a:gd name="T1" fmla="*/ 1237 h 2464"/>
                      <a:gd name="T2" fmla="*/ 0 w 1079"/>
                      <a:gd name="T3" fmla="*/ 1235 h 2464"/>
                      <a:gd name="T4" fmla="*/ 0 w 1079"/>
                      <a:gd name="T5" fmla="*/ 1233 h 2464"/>
                      <a:gd name="T6" fmla="*/ 6 w 1079"/>
                      <a:gd name="T7" fmla="*/ 1046 h 2464"/>
                      <a:gd name="T8" fmla="*/ 24 w 1079"/>
                      <a:gd name="T9" fmla="*/ 867 h 2464"/>
                      <a:gd name="T10" fmla="*/ 53 w 1079"/>
                      <a:gd name="T11" fmla="*/ 699 h 2464"/>
                      <a:gd name="T12" fmla="*/ 93 w 1079"/>
                      <a:gd name="T13" fmla="*/ 545 h 2464"/>
                      <a:gd name="T14" fmla="*/ 140 w 1079"/>
                      <a:gd name="T15" fmla="*/ 405 h 2464"/>
                      <a:gd name="T16" fmla="*/ 197 w 1079"/>
                      <a:gd name="T17" fmla="*/ 282 h 2464"/>
                      <a:gd name="T18" fmla="*/ 259 w 1079"/>
                      <a:gd name="T19" fmla="*/ 179 h 2464"/>
                      <a:gd name="T20" fmla="*/ 329 w 1079"/>
                      <a:gd name="T21" fmla="*/ 97 h 2464"/>
                      <a:gd name="T22" fmla="*/ 404 w 1079"/>
                      <a:gd name="T23" fmla="*/ 39 h 2464"/>
                      <a:gd name="T24" fmla="*/ 483 w 1079"/>
                      <a:gd name="T25" fmla="*/ 6 h 2464"/>
                      <a:gd name="T26" fmla="*/ 567 w 1079"/>
                      <a:gd name="T27" fmla="*/ 2 h 2464"/>
                      <a:gd name="T28" fmla="*/ 647 w 1079"/>
                      <a:gd name="T29" fmla="*/ 25 h 2464"/>
                      <a:gd name="T30" fmla="*/ 723 w 1079"/>
                      <a:gd name="T31" fmla="*/ 75 h 2464"/>
                      <a:gd name="T32" fmla="*/ 794 w 1079"/>
                      <a:gd name="T33" fmla="*/ 148 h 2464"/>
                      <a:gd name="T34" fmla="*/ 861 w 1079"/>
                      <a:gd name="T35" fmla="*/ 245 h 2464"/>
                      <a:gd name="T36" fmla="*/ 918 w 1079"/>
                      <a:gd name="T37" fmla="*/ 360 h 2464"/>
                      <a:gd name="T38" fmla="*/ 969 w 1079"/>
                      <a:gd name="T39" fmla="*/ 493 h 2464"/>
                      <a:gd name="T40" fmla="*/ 1011 w 1079"/>
                      <a:gd name="T41" fmla="*/ 643 h 2464"/>
                      <a:gd name="T42" fmla="*/ 1044 w 1079"/>
                      <a:gd name="T43" fmla="*/ 806 h 2464"/>
                      <a:gd name="T44" fmla="*/ 1065 w 1079"/>
                      <a:gd name="T45" fmla="*/ 981 h 2464"/>
                      <a:gd name="T46" fmla="*/ 1076 w 1079"/>
                      <a:gd name="T47" fmla="*/ 1166 h 2464"/>
                      <a:gd name="T48" fmla="*/ 1079 w 1079"/>
                      <a:gd name="T49" fmla="*/ 1226 h 2464"/>
                      <a:gd name="T50" fmla="*/ 1079 w 1079"/>
                      <a:gd name="T51" fmla="*/ 1228 h 2464"/>
                      <a:gd name="T52" fmla="*/ 1079 w 1079"/>
                      <a:gd name="T53" fmla="*/ 1230 h 2464"/>
                      <a:gd name="T54" fmla="*/ 1075 w 1079"/>
                      <a:gd name="T55" fmla="*/ 1478 h 2464"/>
                      <a:gd name="T56" fmla="*/ 1057 w 1079"/>
                      <a:gd name="T57" fmla="*/ 1818 h 2464"/>
                      <a:gd name="T58" fmla="*/ 1026 w 1079"/>
                      <a:gd name="T59" fmla="*/ 2102 h 2464"/>
                      <a:gd name="T60" fmla="*/ 1006 w 1079"/>
                      <a:gd name="T61" fmla="*/ 2218 h 2464"/>
                      <a:gd name="T62" fmla="*/ 985 w 1079"/>
                      <a:gd name="T63" fmla="*/ 2314 h 2464"/>
                      <a:gd name="T64" fmla="*/ 961 w 1079"/>
                      <a:gd name="T65" fmla="*/ 2388 h 2464"/>
                      <a:gd name="T66" fmla="*/ 935 w 1079"/>
                      <a:gd name="T67" fmla="*/ 2438 h 2464"/>
                      <a:gd name="T68" fmla="*/ 908 w 1079"/>
                      <a:gd name="T69" fmla="*/ 2462 h 2464"/>
                      <a:gd name="T70" fmla="*/ 880 w 1079"/>
                      <a:gd name="T71" fmla="*/ 2458 h 2464"/>
                      <a:gd name="T72" fmla="*/ 853 w 1079"/>
                      <a:gd name="T73" fmla="*/ 2425 h 2464"/>
                      <a:gd name="T74" fmla="*/ 829 w 1079"/>
                      <a:gd name="T75" fmla="*/ 2367 h 2464"/>
                      <a:gd name="T76" fmla="*/ 805 w 1079"/>
                      <a:gd name="T77" fmla="*/ 2285 h 2464"/>
                      <a:gd name="T78" fmla="*/ 785 w 1079"/>
                      <a:gd name="T79" fmla="*/ 2182 h 2464"/>
                      <a:gd name="T80" fmla="*/ 761 w 1079"/>
                      <a:gd name="T81" fmla="*/ 2014 h 2464"/>
                      <a:gd name="T82" fmla="*/ 733 w 1079"/>
                      <a:gd name="T83" fmla="*/ 1709 h 2464"/>
                      <a:gd name="T84" fmla="*/ 720 w 1079"/>
                      <a:gd name="T85" fmla="*/ 1357 h 2464"/>
                      <a:gd name="T86" fmla="*/ 720 w 1079"/>
                      <a:gd name="T87" fmla="*/ 1227 h 2464"/>
                      <a:gd name="T88" fmla="*/ 720 w 1079"/>
                      <a:gd name="T89" fmla="*/ 1222 h 2464"/>
                      <a:gd name="T90" fmla="*/ 720 w 1079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9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1" y="1171"/>
                        </a:lnTo>
                        <a:lnTo>
                          <a:pt x="4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3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9" y="595"/>
                        </a:lnTo>
                        <a:lnTo>
                          <a:pt x="93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7" y="321"/>
                        </a:lnTo>
                        <a:lnTo>
                          <a:pt x="197" y="282"/>
                        </a:lnTo>
                        <a:lnTo>
                          <a:pt x="217" y="246"/>
                        </a:lnTo>
                        <a:lnTo>
                          <a:pt x="238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9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9" y="0"/>
                        </a:lnTo>
                        <a:lnTo>
                          <a:pt x="567" y="2"/>
                        </a:lnTo>
                        <a:lnTo>
                          <a:pt x="593" y="6"/>
                        </a:lnTo>
                        <a:lnTo>
                          <a:pt x="621" y="15"/>
                        </a:lnTo>
                        <a:lnTo>
                          <a:pt x="647" y="25"/>
                        </a:lnTo>
                        <a:lnTo>
                          <a:pt x="673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61" y="245"/>
                        </a:lnTo>
                        <a:lnTo>
                          <a:pt x="880" y="280"/>
                        </a:lnTo>
                        <a:lnTo>
                          <a:pt x="900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5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4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4" y="1103"/>
                        </a:lnTo>
                        <a:lnTo>
                          <a:pt x="1076" y="1166"/>
                        </a:lnTo>
                        <a:lnTo>
                          <a:pt x="1076" y="1229"/>
                        </a:lnTo>
                        <a:lnTo>
                          <a:pt x="1079" y="1226"/>
                        </a:lnTo>
                        <a:lnTo>
                          <a:pt x="1079" y="1226"/>
                        </a:lnTo>
                        <a:lnTo>
                          <a:pt x="1079" y="1227"/>
                        </a:lnTo>
                        <a:lnTo>
                          <a:pt x="1079" y="1227"/>
                        </a:lnTo>
                        <a:lnTo>
                          <a:pt x="1079" y="1228"/>
                        </a:lnTo>
                        <a:lnTo>
                          <a:pt x="1079" y="1229"/>
                        </a:lnTo>
                        <a:lnTo>
                          <a:pt x="1079" y="1230"/>
                        </a:lnTo>
                        <a:lnTo>
                          <a:pt x="1079" y="1230"/>
                        </a:lnTo>
                        <a:lnTo>
                          <a:pt x="1079" y="1231"/>
                        </a:lnTo>
                        <a:lnTo>
                          <a:pt x="1077" y="1357"/>
                        </a:lnTo>
                        <a:lnTo>
                          <a:pt x="1075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7" y="1818"/>
                        </a:lnTo>
                        <a:lnTo>
                          <a:pt x="1047" y="1919"/>
                        </a:lnTo>
                        <a:lnTo>
                          <a:pt x="1038" y="2014"/>
                        </a:lnTo>
                        <a:lnTo>
                          <a:pt x="1026" y="2102"/>
                        </a:lnTo>
                        <a:lnTo>
                          <a:pt x="1020" y="2143"/>
                        </a:lnTo>
                        <a:lnTo>
                          <a:pt x="1012" y="2182"/>
                        </a:lnTo>
                        <a:lnTo>
                          <a:pt x="1006" y="2218"/>
                        </a:lnTo>
                        <a:lnTo>
                          <a:pt x="999" y="2252"/>
                        </a:lnTo>
                        <a:lnTo>
                          <a:pt x="992" y="2285"/>
                        </a:lnTo>
                        <a:lnTo>
                          <a:pt x="985" y="2314"/>
                        </a:lnTo>
                        <a:lnTo>
                          <a:pt x="976" y="2342"/>
                        </a:lnTo>
                        <a:lnTo>
                          <a:pt x="969" y="2367"/>
                        </a:lnTo>
                        <a:lnTo>
                          <a:pt x="961" y="2388"/>
                        </a:lnTo>
                        <a:lnTo>
                          <a:pt x="952" y="2407"/>
                        </a:lnTo>
                        <a:lnTo>
                          <a:pt x="944" y="2425"/>
                        </a:lnTo>
                        <a:lnTo>
                          <a:pt x="935" y="2438"/>
                        </a:lnTo>
                        <a:lnTo>
                          <a:pt x="926" y="2449"/>
                        </a:lnTo>
                        <a:lnTo>
                          <a:pt x="917" y="2458"/>
                        </a:lnTo>
                        <a:lnTo>
                          <a:pt x="908" y="2462"/>
                        </a:lnTo>
                        <a:lnTo>
                          <a:pt x="899" y="2464"/>
                        </a:lnTo>
                        <a:lnTo>
                          <a:pt x="889" y="2462"/>
                        </a:lnTo>
                        <a:lnTo>
                          <a:pt x="880" y="2458"/>
                        </a:lnTo>
                        <a:lnTo>
                          <a:pt x="871" y="2449"/>
                        </a:lnTo>
                        <a:lnTo>
                          <a:pt x="863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6" y="2388"/>
                        </a:lnTo>
                        <a:lnTo>
                          <a:pt x="829" y="2367"/>
                        </a:lnTo>
                        <a:lnTo>
                          <a:pt x="821" y="2342"/>
                        </a:lnTo>
                        <a:lnTo>
                          <a:pt x="814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1" y="2218"/>
                        </a:lnTo>
                        <a:lnTo>
                          <a:pt x="785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61" y="2014"/>
                        </a:lnTo>
                        <a:lnTo>
                          <a:pt x="750" y="1919"/>
                        </a:lnTo>
                        <a:lnTo>
                          <a:pt x="741" y="1818"/>
                        </a:lnTo>
                        <a:lnTo>
                          <a:pt x="733" y="1709"/>
                        </a:lnTo>
                        <a:lnTo>
                          <a:pt x="727" y="1597"/>
                        </a:lnTo>
                        <a:lnTo>
                          <a:pt x="723" y="1478"/>
                        </a:lnTo>
                        <a:lnTo>
                          <a:pt x="720" y="1357"/>
                        </a:lnTo>
                        <a:lnTo>
                          <a:pt x="720" y="1231"/>
                        </a:lnTo>
                        <a:lnTo>
                          <a:pt x="720" y="1229"/>
                        </a:lnTo>
                        <a:lnTo>
                          <a:pt x="720" y="1227"/>
                        </a:lnTo>
                        <a:lnTo>
                          <a:pt x="720" y="1225"/>
                        </a:lnTo>
                        <a:lnTo>
                          <a:pt x="720" y="1224"/>
                        </a:lnTo>
                        <a:lnTo>
                          <a:pt x="720" y="1222"/>
                        </a:lnTo>
                        <a:lnTo>
                          <a:pt x="720" y="1220"/>
                        </a:lnTo>
                        <a:lnTo>
                          <a:pt x="720" y="1218"/>
                        </a:lnTo>
                        <a:lnTo>
                          <a:pt x="720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2" name="Freeform 26"/>
                  <p:cNvSpPr/>
                  <p:nvPr/>
                </p:nvSpPr>
                <p:spPr bwMode="auto">
                  <a:xfrm>
                    <a:off x="3645" y="1708"/>
                    <a:ext cx="214" cy="411"/>
                  </a:xfrm>
                  <a:custGeom>
                    <a:avLst/>
                    <a:gdLst>
                      <a:gd name="T0" fmla="*/ 0 w 1077"/>
                      <a:gd name="T1" fmla="*/ 1237 h 2464"/>
                      <a:gd name="T2" fmla="*/ 0 w 1077"/>
                      <a:gd name="T3" fmla="*/ 1235 h 2464"/>
                      <a:gd name="T4" fmla="*/ 0 w 1077"/>
                      <a:gd name="T5" fmla="*/ 1233 h 2464"/>
                      <a:gd name="T6" fmla="*/ 6 w 1077"/>
                      <a:gd name="T7" fmla="*/ 1046 h 2464"/>
                      <a:gd name="T8" fmla="*/ 24 w 1077"/>
                      <a:gd name="T9" fmla="*/ 867 h 2464"/>
                      <a:gd name="T10" fmla="*/ 53 w 1077"/>
                      <a:gd name="T11" fmla="*/ 699 h 2464"/>
                      <a:gd name="T12" fmla="*/ 91 w 1077"/>
                      <a:gd name="T13" fmla="*/ 545 h 2464"/>
                      <a:gd name="T14" fmla="*/ 140 w 1077"/>
                      <a:gd name="T15" fmla="*/ 405 h 2464"/>
                      <a:gd name="T16" fmla="*/ 196 w 1077"/>
                      <a:gd name="T17" fmla="*/ 282 h 2464"/>
                      <a:gd name="T18" fmla="*/ 259 w 1077"/>
                      <a:gd name="T19" fmla="*/ 179 h 2464"/>
                      <a:gd name="T20" fmla="*/ 329 w 1077"/>
                      <a:gd name="T21" fmla="*/ 97 h 2464"/>
                      <a:gd name="T22" fmla="*/ 404 w 1077"/>
                      <a:gd name="T23" fmla="*/ 39 h 2464"/>
                      <a:gd name="T24" fmla="*/ 483 w 1077"/>
                      <a:gd name="T25" fmla="*/ 6 h 2464"/>
                      <a:gd name="T26" fmla="*/ 565 w 1077"/>
                      <a:gd name="T27" fmla="*/ 2 h 2464"/>
                      <a:gd name="T28" fmla="*/ 646 w 1077"/>
                      <a:gd name="T29" fmla="*/ 25 h 2464"/>
                      <a:gd name="T30" fmla="*/ 723 w 1077"/>
                      <a:gd name="T31" fmla="*/ 75 h 2464"/>
                      <a:gd name="T32" fmla="*/ 794 w 1077"/>
                      <a:gd name="T33" fmla="*/ 148 h 2464"/>
                      <a:gd name="T34" fmla="*/ 859 w 1077"/>
                      <a:gd name="T35" fmla="*/ 245 h 2464"/>
                      <a:gd name="T36" fmla="*/ 918 w 1077"/>
                      <a:gd name="T37" fmla="*/ 360 h 2464"/>
                      <a:gd name="T38" fmla="*/ 969 w 1077"/>
                      <a:gd name="T39" fmla="*/ 493 h 2464"/>
                      <a:gd name="T40" fmla="*/ 1011 w 1077"/>
                      <a:gd name="T41" fmla="*/ 643 h 2464"/>
                      <a:gd name="T42" fmla="*/ 1043 w 1077"/>
                      <a:gd name="T43" fmla="*/ 806 h 2464"/>
                      <a:gd name="T44" fmla="*/ 1065 w 1077"/>
                      <a:gd name="T45" fmla="*/ 981 h 2464"/>
                      <a:gd name="T46" fmla="*/ 1075 w 1077"/>
                      <a:gd name="T47" fmla="*/ 1166 h 2464"/>
                      <a:gd name="T48" fmla="*/ 1077 w 1077"/>
                      <a:gd name="T49" fmla="*/ 1226 h 2464"/>
                      <a:gd name="T50" fmla="*/ 1077 w 1077"/>
                      <a:gd name="T51" fmla="*/ 1228 h 2464"/>
                      <a:gd name="T52" fmla="*/ 1077 w 1077"/>
                      <a:gd name="T53" fmla="*/ 1230 h 2464"/>
                      <a:gd name="T54" fmla="*/ 1073 w 1077"/>
                      <a:gd name="T55" fmla="*/ 1478 h 2464"/>
                      <a:gd name="T56" fmla="*/ 1055 w 1077"/>
                      <a:gd name="T57" fmla="*/ 1818 h 2464"/>
                      <a:gd name="T58" fmla="*/ 1025 w 1077"/>
                      <a:gd name="T59" fmla="*/ 2102 h 2464"/>
                      <a:gd name="T60" fmla="*/ 1005 w 1077"/>
                      <a:gd name="T61" fmla="*/ 2218 h 2464"/>
                      <a:gd name="T62" fmla="*/ 983 w 1077"/>
                      <a:gd name="T63" fmla="*/ 2314 h 2464"/>
                      <a:gd name="T64" fmla="*/ 959 w 1077"/>
                      <a:gd name="T65" fmla="*/ 2388 h 2464"/>
                      <a:gd name="T66" fmla="*/ 934 w 1077"/>
                      <a:gd name="T67" fmla="*/ 2438 h 2464"/>
                      <a:gd name="T68" fmla="*/ 907 w 1077"/>
                      <a:gd name="T69" fmla="*/ 2462 h 2464"/>
                      <a:gd name="T70" fmla="*/ 879 w 1077"/>
                      <a:gd name="T71" fmla="*/ 2458 h 2464"/>
                      <a:gd name="T72" fmla="*/ 853 w 1077"/>
                      <a:gd name="T73" fmla="*/ 2425 h 2464"/>
                      <a:gd name="T74" fmla="*/ 828 w 1077"/>
                      <a:gd name="T75" fmla="*/ 2367 h 2464"/>
                      <a:gd name="T76" fmla="*/ 805 w 1077"/>
                      <a:gd name="T77" fmla="*/ 2285 h 2464"/>
                      <a:gd name="T78" fmla="*/ 784 w 1077"/>
                      <a:gd name="T79" fmla="*/ 2182 h 2464"/>
                      <a:gd name="T80" fmla="*/ 759 w 1077"/>
                      <a:gd name="T81" fmla="*/ 2014 h 2464"/>
                      <a:gd name="T82" fmla="*/ 732 w 1077"/>
                      <a:gd name="T83" fmla="*/ 1709 h 2464"/>
                      <a:gd name="T84" fmla="*/ 719 w 1077"/>
                      <a:gd name="T85" fmla="*/ 1357 h 2464"/>
                      <a:gd name="T86" fmla="*/ 718 w 1077"/>
                      <a:gd name="T87" fmla="*/ 1227 h 2464"/>
                      <a:gd name="T88" fmla="*/ 718 w 1077"/>
                      <a:gd name="T89" fmla="*/ 1222 h 2464"/>
                      <a:gd name="T90" fmla="*/ 718 w 1077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7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1" y="1171"/>
                        </a:lnTo>
                        <a:lnTo>
                          <a:pt x="2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2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1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6" y="282"/>
                        </a:lnTo>
                        <a:lnTo>
                          <a:pt x="217" y="246"/>
                        </a:lnTo>
                        <a:lnTo>
                          <a:pt x="237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8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7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19" y="15"/>
                        </a:lnTo>
                        <a:lnTo>
                          <a:pt x="646" y="25"/>
                        </a:lnTo>
                        <a:lnTo>
                          <a:pt x="672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59" y="245"/>
                        </a:lnTo>
                        <a:lnTo>
                          <a:pt x="879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4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3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3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7" y="1226"/>
                        </a:lnTo>
                        <a:lnTo>
                          <a:pt x="1077" y="1226"/>
                        </a:lnTo>
                        <a:lnTo>
                          <a:pt x="1077" y="1227"/>
                        </a:lnTo>
                        <a:lnTo>
                          <a:pt x="1077" y="1227"/>
                        </a:lnTo>
                        <a:lnTo>
                          <a:pt x="1077" y="1228"/>
                        </a:lnTo>
                        <a:lnTo>
                          <a:pt x="1077" y="1229"/>
                        </a:lnTo>
                        <a:lnTo>
                          <a:pt x="1077" y="1230"/>
                        </a:lnTo>
                        <a:lnTo>
                          <a:pt x="1077" y="1230"/>
                        </a:lnTo>
                        <a:lnTo>
                          <a:pt x="1077" y="1231"/>
                        </a:lnTo>
                        <a:lnTo>
                          <a:pt x="1077" y="1357"/>
                        </a:lnTo>
                        <a:lnTo>
                          <a:pt x="1073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5" y="1818"/>
                        </a:lnTo>
                        <a:lnTo>
                          <a:pt x="1047" y="1919"/>
                        </a:lnTo>
                        <a:lnTo>
                          <a:pt x="1036" y="2014"/>
                        </a:lnTo>
                        <a:lnTo>
                          <a:pt x="1025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9" y="2252"/>
                        </a:lnTo>
                        <a:lnTo>
                          <a:pt x="992" y="2285"/>
                        </a:lnTo>
                        <a:lnTo>
                          <a:pt x="983" y="2314"/>
                        </a:lnTo>
                        <a:lnTo>
                          <a:pt x="976" y="2342"/>
                        </a:lnTo>
                        <a:lnTo>
                          <a:pt x="967" y="2367"/>
                        </a:lnTo>
                        <a:lnTo>
                          <a:pt x="959" y="2388"/>
                        </a:lnTo>
                        <a:lnTo>
                          <a:pt x="952" y="2407"/>
                        </a:lnTo>
                        <a:lnTo>
                          <a:pt x="943" y="2425"/>
                        </a:lnTo>
                        <a:lnTo>
                          <a:pt x="934" y="2438"/>
                        </a:lnTo>
                        <a:lnTo>
                          <a:pt x="925" y="2449"/>
                        </a:lnTo>
                        <a:lnTo>
                          <a:pt x="917" y="2458"/>
                        </a:lnTo>
                        <a:lnTo>
                          <a:pt x="907" y="2462"/>
                        </a:lnTo>
                        <a:lnTo>
                          <a:pt x="898" y="2464"/>
                        </a:lnTo>
                        <a:lnTo>
                          <a:pt x="889" y="2462"/>
                        </a:lnTo>
                        <a:lnTo>
                          <a:pt x="879" y="2458"/>
                        </a:lnTo>
                        <a:lnTo>
                          <a:pt x="871" y="2449"/>
                        </a:lnTo>
                        <a:lnTo>
                          <a:pt x="861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6" y="2388"/>
                        </a:lnTo>
                        <a:lnTo>
                          <a:pt x="828" y="2367"/>
                        </a:lnTo>
                        <a:lnTo>
                          <a:pt x="820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0" y="2218"/>
                        </a:lnTo>
                        <a:lnTo>
                          <a:pt x="784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49" y="1919"/>
                        </a:lnTo>
                        <a:lnTo>
                          <a:pt x="740" y="1818"/>
                        </a:lnTo>
                        <a:lnTo>
                          <a:pt x="732" y="1709"/>
                        </a:lnTo>
                        <a:lnTo>
                          <a:pt x="726" y="1597"/>
                        </a:lnTo>
                        <a:lnTo>
                          <a:pt x="722" y="1478"/>
                        </a:lnTo>
                        <a:lnTo>
                          <a:pt x="719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3" name="Freeform 27"/>
                  <p:cNvSpPr/>
                  <p:nvPr/>
                </p:nvSpPr>
                <p:spPr bwMode="auto">
                  <a:xfrm>
                    <a:off x="3500" y="1708"/>
                    <a:ext cx="215" cy="411"/>
                  </a:xfrm>
                  <a:custGeom>
                    <a:avLst/>
                    <a:gdLst>
                      <a:gd name="T0" fmla="*/ 0 w 1078"/>
                      <a:gd name="T1" fmla="*/ 1237 h 2464"/>
                      <a:gd name="T2" fmla="*/ 0 w 1078"/>
                      <a:gd name="T3" fmla="*/ 1235 h 2464"/>
                      <a:gd name="T4" fmla="*/ 0 w 1078"/>
                      <a:gd name="T5" fmla="*/ 1233 h 2464"/>
                      <a:gd name="T6" fmla="*/ 6 w 1078"/>
                      <a:gd name="T7" fmla="*/ 1046 h 2464"/>
                      <a:gd name="T8" fmla="*/ 24 w 1078"/>
                      <a:gd name="T9" fmla="*/ 867 h 2464"/>
                      <a:gd name="T10" fmla="*/ 53 w 1078"/>
                      <a:gd name="T11" fmla="*/ 699 h 2464"/>
                      <a:gd name="T12" fmla="*/ 92 w 1078"/>
                      <a:gd name="T13" fmla="*/ 545 h 2464"/>
                      <a:gd name="T14" fmla="*/ 140 w 1078"/>
                      <a:gd name="T15" fmla="*/ 405 h 2464"/>
                      <a:gd name="T16" fmla="*/ 197 w 1078"/>
                      <a:gd name="T17" fmla="*/ 282 h 2464"/>
                      <a:gd name="T18" fmla="*/ 259 w 1078"/>
                      <a:gd name="T19" fmla="*/ 179 h 2464"/>
                      <a:gd name="T20" fmla="*/ 329 w 1078"/>
                      <a:gd name="T21" fmla="*/ 97 h 2464"/>
                      <a:gd name="T22" fmla="*/ 404 w 1078"/>
                      <a:gd name="T23" fmla="*/ 39 h 2464"/>
                      <a:gd name="T24" fmla="*/ 483 w 1078"/>
                      <a:gd name="T25" fmla="*/ 6 h 2464"/>
                      <a:gd name="T26" fmla="*/ 565 w 1078"/>
                      <a:gd name="T27" fmla="*/ 2 h 2464"/>
                      <a:gd name="T28" fmla="*/ 646 w 1078"/>
                      <a:gd name="T29" fmla="*/ 25 h 2464"/>
                      <a:gd name="T30" fmla="*/ 723 w 1078"/>
                      <a:gd name="T31" fmla="*/ 75 h 2464"/>
                      <a:gd name="T32" fmla="*/ 794 w 1078"/>
                      <a:gd name="T33" fmla="*/ 148 h 2464"/>
                      <a:gd name="T34" fmla="*/ 859 w 1078"/>
                      <a:gd name="T35" fmla="*/ 245 h 2464"/>
                      <a:gd name="T36" fmla="*/ 918 w 1078"/>
                      <a:gd name="T37" fmla="*/ 360 h 2464"/>
                      <a:gd name="T38" fmla="*/ 969 w 1078"/>
                      <a:gd name="T39" fmla="*/ 493 h 2464"/>
                      <a:gd name="T40" fmla="*/ 1011 w 1078"/>
                      <a:gd name="T41" fmla="*/ 643 h 2464"/>
                      <a:gd name="T42" fmla="*/ 1044 w 1078"/>
                      <a:gd name="T43" fmla="*/ 806 h 2464"/>
                      <a:gd name="T44" fmla="*/ 1065 w 1078"/>
                      <a:gd name="T45" fmla="*/ 981 h 2464"/>
                      <a:gd name="T46" fmla="*/ 1075 w 1078"/>
                      <a:gd name="T47" fmla="*/ 1166 h 2464"/>
                      <a:gd name="T48" fmla="*/ 1078 w 1078"/>
                      <a:gd name="T49" fmla="*/ 1226 h 2464"/>
                      <a:gd name="T50" fmla="*/ 1078 w 1078"/>
                      <a:gd name="T51" fmla="*/ 1228 h 2464"/>
                      <a:gd name="T52" fmla="*/ 1078 w 1078"/>
                      <a:gd name="T53" fmla="*/ 1230 h 2464"/>
                      <a:gd name="T54" fmla="*/ 1074 w 1078"/>
                      <a:gd name="T55" fmla="*/ 1478 h 2464"/>
                      <a:gd name="T56" fmla="*/ 1056 w 1078"/>
                      <a:gd name="T57" fmla="*/ 1818 h 2464"/>
                      <a:gd name="T58" fmla="*/ 1026 w 1078"/>
                      <a:gd name="T59" fmla="*/ 2102 h 2464"/>
                      <a:gd name="T60" fmla="*/ 1005 w 1078"/>
                      <a:gd name="T61" fmla="*/ 2218 h 2464"/>
                      <a:gd name="T62" fmla="*/ 984 w 1078"/>
                      <a:gd name="T63" fmla="*/ 2314 h 2464"/>
                      <a:gd name="T64" fmla="*/ 959 w 1078"/>
                      <a:gd name="T65" fmla="*/ 2388 h 2464"/>
                      <a:gd name="T66" fmla="*/ 934 w 1078"/>
                      <a:gd name="T67" fmla="*/ 2438 h 2464"/>
                      <a:gd name="T68" fmla="*/ 908 w 1078"/>
                      <a:gd name="T69" fmla="*/ 2462 h 2464"/>
                      <a:gd name="T70" fmla="*/ 880 w 1078"/>
                      <a:gd name="T71" fmla="*/ 2458 h 2464"/>
                      <a:gd name="T72" fmla="*/ 853 w 1078"/>
                      <a:gd name="T73" fmla="*/ 2425 h 2464"/>
                      <a:gd name="T74" fmla="*/ 828 w 1078"/>
                      <a:gd name="T75" fmla="*/ 2367 h 2464"/>
                      <a:gd name="T76" fmla="*/ 805 w 1078"/>
                      <a:gd name="T77" fmla="*/ 2285 h 2464"/>
                      <a:gd name="T78" fmla="*/ 785 w 1078"/>
                      <a:gd name="T79" fmla="*/ 2182 h 2464"/>
                      <a:gd name="T80" fmla="*/ 759 w 1078"/>
                      <a:gd name="T81" fmla="*/ 2014 h 2464"/>
                      <a:gd name="T82" fmla="*/ 733 w 1078"/>
                      <a:gd name="T83" fmla="*/ 1709 h 2464"/>
                      <a:gd name="T84" fmla="*/ 720 w 1078"/>
                      <a:gd name="T85" fmla="*/ 1357 h 2464"/>
                      <a:gd name="T86" fmla="*/ 718 w 1078"/>
                      <a:gd name="T87" fmla="*/ 1227 h 2464"/>
                      <a:gd name="T88" fmla="*/ 718 w 1078"/>
                      <a:gd name="T89" fmla="*/ 1222 h 2464"/>
                      <a:gd name="T90" fmla="*/ 718 w 1078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8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0" y="1171"/>
                        </a:lnTo>
                        <a:lnTo>
                          <a:pt x="3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3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9" y="595"/>
                        </a:lnTo>
                        <a:lnTo>
                          <a:pt x="92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7" y="282"/>
                        </a:lnTo>
                        <a:lnTo>
                          <a:pt x="217" y="246"/>
                        </a:lnTo>
                        <a:lnTo>
                          <a:pt x="238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9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8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20" y="15"/>
                        </a:lnTo>
                        <a:lnTo>
                          <a:pt x="646" y="25"/>
                        </a:lnTo>
                        <a:lnTo>
                          <a:pt x="673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59" y="245"/>
                        </a:lnTo>
                        <a:lnTo>
                          <a:pt x="880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7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4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4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4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8" y="1226"/>
                        </a:lnTo>
                        <a:lnTo>
                          <a:pt x="1078" y="1226"/>
                        </a:lnTo>
                        <a:lnTo>
                          <a:pt x="1078" y="1227"/>
                        </a:lnTo>
                        <a:lnTo>
                          <a:pt x="1078" y="1227"/>
                        </a:lnTo>
                        <a:lnTo>
                          <a:pt x="1078" y="1228"/>
                        </a:lnTo>
                        <a:lnTo>
                          <a:pt x="1078" y="1229"/>
                        </a:lnTo>
                        <a:lnTo>
                          <a:pt x="1078" y="1230"/>
                        </a:lnTo>
                        <a:lnTo>
                          <a:pt x="1078" y="1230"/>
                        </a:lnTo>
                        <a:lnTo>
                          <a:pt x="1078" y="1231"/>
                        </a:lnTo>
                        <a:lnTo>
                          <a:pt x="1078" y="1357"/>
                        </a:lnTo>
                        <a:lnTo>
                          <a:pt x="1074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6" y="1818"/>
                        </a:lnTo>
                        <a:lnTo>
                          <a:pt x="1047" y="1919"/>
                        </a:lnTo>
                        <a:lnTo>
                          <a:pt x="1037" y="2014"/>
                        </a:lnTo>
                        <a:lnTo>
                          <a:pt x="1026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9" y="2252"/>
                        </a:lnTo>
                        <a:lnTo>
                          <a:pt x="992" y="2285"/>
                        </a:lnTo>
                        <a:lnTo>
                          <a:pt x="984" y="2314"/>
                        </a:lnTo>
                        <a:lnTo>
                          <a:pt x="976" y="2342"/>
                        </a:lnTo>
                        <a:lnTo>
                          <a:pt x="968" y="2367"/>
                        </a:lnTo>
                        <a:lnTo>
                          <a:pt x="959" y="2388"/>
                        </a:lnTo>
                        <a:lnTo>
                          <a:pt x="952" y="2407"/>
                        </a:lnTo>
                        <a:lnTo>
                          <a:pt x="943" y="2425"/>
                        </a:lnTo>
                        <a:lnTo>
                          <a:pt x="934" y="2438"/>
                        </a:lnTo>
                        <a:lnTo>
                          <a:pt x="926" y="2449"/>
                        </a:lnTo>
                        <a:lnTo>
                          <a:pt x="916" y="2458"/>
                        </a:lnTo>
                        <a:lnTo>
                          <a:pt x="908" y="2462"/>
                        </a:lnTo>
                        <a:lnTo>
                          <a:pt x="898" y="2464"/>
                        </a:lnTo>
                        <a:lnTo>
                          <a:pt x="890" y="2462"/>
                        </a:lnTo>
                        <a:lnTo>
                          <a:pt x="880" y="2458"/>
                        </a:lnTo>
                        <a:lnTo>
                          <a:pt x="871" y="2449"/>
                        </a:lnTo>
                        <a:lnTo>
                          <a:pt x="862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7" y="2388"/>
                        </a:lnTo>
                        <a:lnTo>
                          <a:pt x="828" y="2367"/>
                        </a:lnTo>
                        <a:lnTo>
                          <a:pt x="821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1" y="2218"/>
                        </a:lnTo>
                        <a:lnTo>
                          <a:pt x="785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50" y="1919"/>
                        </a:lnTo>
                        <a:lnTo>
                          <a:pt x="740" y="1818"/>
                        </a:lnTo>
                        <a:lnTo>
                          <a:pt x="733" y="1709"/>
                        </a:lnTo>
                        <a:lnTo>
                          <a:pt x="727" y="1597"/>
                        </a:lnTo>
                        <a:lnTo>
                          <a:pt x="722" y="1478"/>
                        </a:lnTo>
                        <a:lnTo>
                          <a:pt x="720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4" name="Freeform 28"/>
                  <p:cNvSpPr/>
                  <p:nvPr/>
                </p:nvSpPr>
                <p:spPr bwMode="auto">
                  <a:xfrm>
                    <a:off x="3356" y="1708"/>
                    <a:ext cx="215" cy="411"/>
                  </a:xfrm>
                  <a:custGeom>
                    <a:avLst/>
                    <a:gdLst>
                      <a:gd name="T0" fmla="*/ 0 w 1077"/>
                      <a:gd name="T1" fmla="*/ 1237 h 2464"/>
                      <a:gd name="T2" fmla="*/ 0 w 1077"/>
                      <a:gd name="T3" fmla="*/ 1235 h 2464"/>
                      <a:gd name="T4" fmla="*/ 0 w 1077"/>
                      <a:gd name="T5" fmla="*/ 1233 h 2464"/>
                      <a:gd name="T6" fmla="*/ 6 w 1077"/>
                      <a:gd name="T7" fmla="*/ 1046 h 2464"/>
                      <a:gd name="T8" fmla="*/ 24 w 1077"/>
                      <a:gd name="T9" fmla="*/ 867 h 2464"/>
                      <a:gd name="T10" fmla="*/ 53 w 1077"/>
                      <a:gd name="T11" fmla="*/ 699 h 2464"/>
                      <a:gd name="T12" fmla="*/ 91 w 1077"/>
                      <a:gd name="T13" fmla="*/ 545 h 2464"/>
                      <a:gd name="T14" fmla="*/ 139 w 1077"/>
                      <a:gd name="T15" fmla="*/ 405 h 2464"/>
                      <a:gd name="T16" fmla="*/ 196 w 1077"/>
                      <a:gd name="T17" fmla="*/ 282 h 2464"/>
                      <a:gd name="T18" fmla="*/ 259 w 1077"/>
                      <a:gd name="T19" fmla="*/ 179 h 2464"/>
                      <a:gd name="T20" fmla="*/ 329 w 1077"/>
                      <a:gd name="T21" fmla="*/ 97 h 2464"/>
                      <a:gd name="T22" fmla="*/ 403 w 1077"/>
                      <a:gd name="T23" fmla="*/ 39 h 2464"/>
                      <a:gd name="T24" fmla="*/ 483 w 1077"/>
                      <a:gd name="T25" fmla="*/ 6 h 2464"/>
                      <a:gd name="T26" fmla="*/ 565 w 1077"/>
                      <a:gd name="T27" fmla="*/ 2 h 2464"/>
                      <a:gd name="T28" fmla="*/ 646 w 1077"/>
                      <a:gd name="T29" fmla="*/ 25 h 2464"/>
                      <a:gd name="T30" fmla="*/ 723 w 1077"/>
                      <a:gd name="T31" fmla="*/ 75 h 2464"/>
                      <a:gd name="T32" fmla="*/ 794 w 1077"/>
                      <a:gd name="T33" fmla="*/ 148 h 2464"/>
                      <a:gd name="T34" fmla="*/ 859 w 1077"/>
                      <a:gd name="T35" fmla="*/ 245 h 2464"/>
                      <a:gd name="T36" fmla="*/ 918 w 1077"/>
                      <a:gd name="T37" fmla="*/ 360 h 2464"/>
                      <a:gd name="T38" fmla="*/ 968 w 1077"/>
                      <a:gd name="T39" fmla="*/ 493 h 2464"/>
                      <a:gd name="T40" fmla="*/ 1011 w 1077"/>
                      <a:gd name="T41" fmla="*/ 643 h 2464"/>
                      <a:gd name="T42" fmla="*/ 1043 w 1077"/>
                      <a:gd name="T43" fmla="*/ 806 h 2464"/>
                      <a:gd name="T44" fmla="*/ 1065 w 1077"/>
                      <a:gd name="T45" fmla="*/ 981 h 2464"/>
                      <a:gd name="T46" fmla="*/ 1075 w 1077"/>
                      <a:gd name="T47" fmla="*/ 1166 h 2464"/>
                      <a:gd name="T48" fmla="*/ 1077 w 1077"/>
                      <a:gd name="T49" fmla="*/ 1226 h 2464"/>
                      <a:gd name="T50" fmla="*/ 1077 w 1077"/>
                      <a:gd name="T51" fmla="*/ 1228 h 2464"/>
                      <a:gd name="T52" fmla="*/ 1077 w 1077"/>
                      <a:gd name="T53" fmla="*/ 1230 h 2464"/>
                      <a:gd name="T54" fmla="*/ 1073 w 1077"/>
                      <a:gd name="T55" fmla="*/ 1478 h 2464"/>
                      <a:gd name="T56" fmla="*/ 1055 w 1077"/>
                      <a:gd name="T57" fmla="*/ 1818 h 2464"/>
                      <a:gd name="T58" fmla="*/ 1025 w 1077"/>
                      <a:gd name="T59" fmla="*/ 2102 h 2464"/>
                      <a:gd name="T60" fmla="*/ 1005 w 1077"/>
                      <a:gd name="T61" fmla="*/ 2218 h 2464"/>
                      <a:gd name="T62" fmla="*/ 983 w 1077"/>
                      <a:gd name="T63" fmla="*/ 2314 h 2464"/>
                      <a:gd name="T64" fmla="*/ 959 w 1077"/>
                      <a:gd name="T65" fmla="*/ 2388 h 2464"/>
                      <a:gd name="T66" fmla="*/ 934 w 1077"/>
                      <a:gd name="T67" fmla="*/ 2438 h 2464"/>
                      <a:gd name="T68" fmla="*/ 907 w 1077"/>
                      <a:gd name="T69" fmla="*/ 2462 h 2464"/>
                      <a:gd name="T70" fmla="*/ 879 w 1077"/>
                      <a:gd name="T71" fmla="*/ 2458 h 2464"/>
                      <a:gd name="T72" fmla="*/ 853 w 1077"/>
                      <a:gd name="T73" fmla="*/ 2425 h 2464"/>
                      <a:gd name="T74" fmla="*/ 827 w 1077"/>
                      <a:gd name="T75" fmla="*/ 2367 h 2464"/>
                      <a:gd name="T76" fmla="*/ 805 w 1077"/>
                      <a:gd name="T77" fmla="*/ 2285 h 2464"/>
                      <a:gd name="T78" fmla="*/ 784 w 1077"/>
                      <a:gd name="T79" fmla="*/ 2182 h 2464"/>
                      <a:gd name="T80" fmla="*/ 759 w 1077"/>
                      <a:gd name="T81" fmla="*/ 2014 h 2464"/>
                      <a:gd name="T82" fmla="*/ 732 w 1077"/>
                      <a:gd name="T83" fmla="*/ 1709 h 2464"/>
                      <a:gd name="T84" fmla="*/ 719 w 1077"/>
                      <a:gd name="T85" fmla="*/ 1357 h 2464"/>
                      <a:gd name="T86" fmla="*/ 718 w 1077"/>
                      <a:gd name="T87" fmla="*/ 1227 h 2464"/>
                      <a:gd name="T88" fmla="*/ 718 w 1077"/>
                      <a:gd name="T89" fmla="*/ 1222 h 2464"/>
                      <a:gd name="T90" fmla="*/ 718 w 1077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7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0" y="1171"/>
                        </a:lnTo>
                        <a:lnTo>
                          <a:pt x="2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2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1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39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6" y="282"/>
                        </a:lnTo>
                        <a:lnTo>
                          <a:pt x="215" y="246"/>
                        </a:lnTo>
                        <a:lnTo>
                          <a:pt x="237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8" y="57"/>
                        </a:lnTo>
                        <a:lnTo>
                          <a:pt x="403" y="39"/>
                        </a:lnTo>
                        <a:lnTo>
                          <a:pt x="430" y="26"/>
                        </a:lnTo>
                        <a:lnTo>
                          <a:pt x="455" y="15"/>
                        </a:lnTo>
                        <a:lnTo>
                          <a:pt x="483" y="6"/>
                        </a:lnTo>
                        <a:lnTo>
                          <a:pt x="509" y="2"/>
                        </a:lnTo>
                        <a:lnTo>
                          <a:pt x="537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19" y="15"/>
                        </a:lnTo>
                        <a:lnTo>
                          <a:pt x="646" y="25"/>
                        </a:lnTo>
                        <a:lnTo>
                          <a:pt x="672" y="39"/>
                        </a:lnTo>
                        <a:lnTo>
                          <a:pt x="697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8" y="210"/>
                        </a:lnTo>
                        <a:lnTo>
                          <a:pt x="859" y="245"/>
                        </a:lnTo>
                        <a:lnTo>
                          <a:pt x="879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8" y="493"/>
                        </a:lnTo>
                        <a:lnTo>
                          <a:pt x="983" y="542"/>
                        </a:lnTo>
                        <a:lnTo>
                          <a:pt x="997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3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3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7" y="1226"/>
                        </a:lnTo>
                        <a:lnTo>
                          <a:pt x="1077" y="1226"/>
                        </a:lnTo>
                        <a:lnTo>
                          <a:pt x="1077" y="1227"/>
                        </a:lnTo>
                        <a:lnTo>
                          <a:pt x="1077" y="1227"/>
                        </a:lnTo>
                        <a:lnTo>
                          <a:pt x="1077" y="1228"/>
                        </a:lnTo>
                        <a:lnTo>
                          <a:pt x="1077" y="1229"/>
                        </a:lnTo>
                        <a:lnTo>
                          <a:pt x="1077" y="1230"/>
                        </a:lnTo>
                        <a:lnTo>
                          <a:pt x="1077" y="1230"/>
                        </a:lnTo>
                        <a:lnTo>
                          <a:pt x="1077" y="1231"/>
                        </a:lnTo>
                        <a:lnTo>
                          <a:pt x="1077" y="1357"/>
                        </a:lnTo>
                        <a:lnTo>
                          <a:pt x="1073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5" y="1818"/>
                        </a:lnTo>
                        <a:lnTo>
                          <a:pt x="1047" y="1919"/>
                        </a:lnTo>
                        <a:lnTo>
                          <a:pt x="1036" y="2014"/>
                        </a:lnTo>
                        <a:lnTo>
                          <a:pt x="1025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9" y="2252"/>
                        </a:lnTo>
                        <a:lnTo>
                          <a:pt x="990" y="2285"/>
                        </a:lnTo>
                        <a:lnTo>
                          <a:pt x="983" y="2314"/>
                        </a:lnTo>
                        <a:lnTo>
                          <a:pt x="976" y="2342"/>
                        </a:lnTo>
                        <a:lnTo>
                          <a:pt x="967" y="2367"/>
                        </a:lnTo>
                        <a:lnTo>
                          <a:pt x="959" y="2388"/>
                        </a:lnTo>
                        <a:lnTo>
                          <a:pt x="950" y="2407"/>
                        </a:lnTo>
                        <a:lnTo>
                          <a:pt x="942" y="2425"/>
                        </a:lnTo>
                        <a:lnTo>
                          <a:pt x="934" y="2438"/>
                        </a:lnTo>
                        <a:lnTo>
                          <a:pt x="925" y="2449"/>
                        </a:lnTo>
                        <a:lnTo>
                          <a:pt x="915" y="2458"/>
                        </a:lnTo>
                        <a:lnTo>
                          <a:pt x="907" y="2462"/>
                        </a:lnTo>
                        <a:lnTo>
                          <a:pt x="897" y="2464"/>
                        </a:lnTo>
                        <a:lnTo>
                          <a:pt x="889" y="2462"/>
                        </a:lnTo>
                        <a:lnTo>
                          <a:pt x="879" y="2458"/>
                        </a:lnTo>
                        <a:lnTo>
                          <a:pt x="871" y="2449"/>
                        </a:lnTo>
                        <a:lnTo>
                          <a:pt x="861" y="2438"/>
                        </a:lnTo>
                        <a:lnTo>
                          <a:pt x="853" y="2425"/>
                        </a:lnTo>
                        <a:lnTo>
                          <a:pt x="844" y="2407"/>
                        </a:lnTo>
                        <a:lnTo>
                          <a:pt x="836" y="2388"/>
                        </a:lnTo>
                        <a:lnTo>
                          <a:pt x="827" y="2367"/>
                        </a:lnTo>
                        <a:lnTo>
                          <a:pt x="820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7" y="2252"/>
                        </a:lnTo>
                        <a:lnTo>
                          <a:pt x="790" y="2218"/>
                        </a:lnTo>
                        <a:lnTo>
                          <a:pt x="784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49" y="1919"/>
                        </a:lnTo>
                        <a:lnTo>
                          <a:pt x="740" y="1818"/>
                        </a:lnTo>
                        <a:lnTo>
                          <a:pt x="732" y="1709"/>
                        </a:lnTo>
                        <a:lnTo>
                          <a:pt x="726" y="1597"/>
                        </a:lnTo>
                        <a:lnTo>
                          <a:pt x="721" y="1478"/>
                        </a:lnTo>
                        <a:lnTo>
                          <a:pt x="719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5" name="Freeform 29"/>
                  <p:cNvSpPr/>
                  <p:nvPr/>
                </p:nvSpPr>
                <p:spPr bwMode="auto">
                  <a:xfrm>
                    <a:off x="3211" y="1708"/>
                    <a:ext cx="215" cy="411"/>
                  </a:xfrm>
                  <a:custGeom>
                    <a:avLst/>
                    <a:gdLst>
                      <a:gd name="T0" fmla="*/ 0 w 1077"/>
                      <a:gd name="T1" fmla="*/ 1237 h 2464"/>
                      <a:gd name="T2" fmla="*/ 0 w 1077"/>
                      <a:gd name="T3" fmla="*/ 1235 h 2464"/>
                      <a:gd name="T4" fmla="*/ 0 w 1077"/>
                      <a:gd name="T5" fmla="*/ 1233 h 2464"/>
                      <a:gd name="T6" fmla="*/ 6 w 1077"/>
                      <a:gd name="T7" fmla="*/ 1046 h 2464"/>
                      <a:gd name="T8" fmla="*/ 24 w 1077"/>
                      <a:gd name="T9" fmla="*/ 867 h 2464"/>
                      <a:gd name="T10" fmla="*/ 53 w 1077"/>
                      <a:gd name="T11" fmla="*/ 699 h 2464"/>
                      <a:gd name="T12" fmla="*/ 92 w 1077"/>
                      <a:gd name="T13" fmla="*/ 545 h 2464"/>
                      <a:gd name="T14" fmla="*/ 140 w 1077"/>
                      <a:gd name="T15" fmla="*/ 405 h 2464"/>
                      <a:gd name="T16" fmla="*/ 196 w 1077"/>
                      <a:gd name="T17" fmla="*/ 282 h 2464"/>
                      <a:gd name="T18" fmla="*/ 259 w 1077"/>
                      <a:gd name="T19" fmla="*/ 179 h 2464"/>
                      <a:gd name="T20" fmla="*/ 329 w 1077"/>
                      <a:gd name="T21" fmla="*/ 97 h 2464"/>
                      <a:gd name="T22" fmla="*/ 404 w 1077"/>
                      <a:gd name="T23" fmla="*/ 39 h 2464"/>
                      <a:gd name="T24" fmla="*/ 483 w 1077"/>
                      <a:gd name="T25" fmla="*/ 6 h 2464"/>
                      <a:gd name="T26" fmla="*/ 565 w 1077"/>
                      <a:gd name="T27" fmla="*/ 2 h 2464"/>
                      <a:gd name="T28" fmla="*/ 646 w 1077"/>
                      <a:gd name="T29" fmla="*/ 25 h 2464"/>
                      <a:gd name="T30" fmla="*/ 723 w 1077"/>
                      <a:gd name="T31" fmla="*/ 75 h 2464"/>
                      <a:gd name="T32" fmla="*/ 794 w 1077"/>
                      <a:gd name="T33" fmla="*/ 148 h 2464"/>
                      <a:gd name="T34" fmla="*/ 859 w 1077"/>
                      <a:gd name="T35" fmla="*/ 245 h 2464"/>
                      <a:gd name="T36" fmla="*/ 918 w 1077"/>
                      <a:gd name="T37" fmla="*/ 360 h 2464"/>
                      <a:gd name="T38" fmla="*/ 969 w 1077"/>
                      <a:gd name="T39" fmla="*/ 493 h 2464"/>
                      <a:gd name="T40" fmla="*/ 1011 w 1077"/>
                      <a:gd name="T41" fmla="*/ 643 h 2464"/>
                      <a:gd name="T42" fmla="*/ 1044 w 1077"/>
                      <a:gd name="T43" fmla="*/ 806 h 2464"/>
                      <a:gd name="T44" fmla="*/ 1065 w 1077"/>
                      <a:gd name="T45" fmla="*/ 981 h 2464"/>
                      <a:gd name="T46" fmla="*/ 1075 w 1077"/>
                      <a:gd name="T47" fmla="*/ 1166 h 2464"/>
                      <a:gd name="T48" fmla="*/ 1077 w 1077"/>
                      <a:gd name="T49" fmla="*/ 1226 h 2464"/>
                      <a:gd name="T50" fmla="*/ 1077 w 1077"/>
                      <a:gd name="T51" fmla="*/ 1228 h 2464"/>
                      <a:gd name="T52" fmla="*/ 1077 w 1077"/>
                      <a:gd name="T53" fmla="*/ 1230 h 2464"/>
                      <a:gd name="T54" fmla="*/ 1074 w 1077"/>
                      <a:gd name="T55" fmla="*/ 1478 h 2464"/>
                      <a:gd name="T56" fmla="*/ 1056 w 1077"/>
                      <a:gd name="T57" fmla="*/ 1818 h 2464"/>
                      <a:gd name="T58" fmla="*/ 1026 w 1077"/>
                      <a:gd name="T59" fmla="*/ 2102 h 2464"/>
                      <a:gd name="T60" fmla="*/ 1005 w 1077"/>
                      <a:gd name="T61" fmla="*/ 2218 h 2464"/>
                      <a:gd name="T62" fmla="*/ 983 w 1077"/>
                      <a:gd name="T63" fmla="*/ 2314 h 2464"/>
                      <a:gd name="T64" fmla="*/ 959 w 1077"/>
                      <a:gd name="T65" fmla="*/ 2388 h 2464"/>
                      <a:gd name="T66" fmla="*/ 934 w 1077"/>
                      <a:gd name="T67" fmla="*/ 2438 h 2464"/>
                      <a:gd name="T68" fmla="*/ 907 w 1077"/>
                      <a:gd name="T69" fmla="*/ 2462 h 2464"/>
                      <a:gd name="T70" fmla="*/ 880 w 1077"/>
                      <a:gd name="T71" fmla="*/ 2458 h 2464"/>
                      <a:gd name="T72" fmla="*/ 853 w 1077"/>
                      <a:gd name="T73" fmla="*/ 2425 h 2464"/>
                      <a:gd name="T74" fmla="*/ 828 w 1077"/>
                      <a:gd name="T75" fmla="*/ 2367 h 2464"/>
                      <a:gd name="T76" fmla="*/ 805 w 1077"/>
                      <a:gd name="T77" fmla="*/ 2285 h 2464"/>
                      <a:gd name="T78" fmla="*/ 783 w 1077"/>
                      <a:gd name="T79" fmla="*/ 2182 h 2464"/>
                      <a:gd name="T80" fmla="*/ 759 w 1077"/>
                      <a:gd name="T81" fmla="*/ 2014 h 2464"/>
                      <a:gd name="T82" fmla="*/ 733 w 1077"/>
                      <a:gd name="T83" fmla="*/ 1709 h 2464"/>
                      <a:gd name="T84" fmla="*/ 719 w 1077"/>
                      <a:gd name="T85" fmla="*/ 1357 h 2464"/>
                      <a:gd name="T86" fmla="*/ 718 w 1077"/>
                      <a:gd name="T87" fmla="*/ 1227 h 2464"/>
                      <a:gd name="T88" fmla="*/ 718 w 1077"/>
                      <a:gd name="T89" fmla="*/ 1222 h 2464"/>
                      <a:gd name="T90" fmla="*/ 718 w 1077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7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0" y="1171"/>
                        </a:lnTo>
                        <a:lnTo>
                          <a:pt x="2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3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2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6" y="282"/>
                        </a:lnTo>
                        <a:lnTo>
                          <a:pt x="216" y="246"/>
                        </a:lnTo>
                        <a:lnTo>
                          <a:pt x="237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8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6" y="15"/>
                        </a:lnTo>
                        <a:lnTo>
                          <a:pt x="483" y="6"/>
                        </a:lnTo>
                        <a:lnTo>
                          <a:pt x="510" y="2"/>
                        </a:lnTo>
                        <a:lnTo>
                          <a:pt x="537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19" y="15"/>
                        </a:lnTo>
                        <a:lnTo>
                          <a:pt x="646" y="25"/>
                        </a:lnTo>
                        <a:lnTo>
                          <a:pt x="672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59" y="245"/>
                        </a:lnTo>
                        <a:lnTo>
                          <a:pt x="880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3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4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3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7" y="1226"/>
                        </a:lnTo>
                        <a:lnTo>
                          <a:pt x="1077" y="1226"/>
                        </a:lnTo>
                        <a:lnTo>
                          <a:pt x="1077" y="1227"/>
                        </a:lnTo>
                        <a:lnTo>
                          <a:pt x="1077" y="1227"/>
                        </a:lnTo>
                        <a:lnTo>
                          <a:pt x="1077" y="1228"/>
                        </a:lnTo>
                        <a:lnTo>
                          <a:pt x="1077" y="1229"/>
                        </a:lnTo>
                        <a:lnTo>
                          <a:pt x="1077" y="1230"/>
                        </a:lnTo>
                        <a:lnTo>
                          <a:pt x="1077" y="1230"/>
                        </a:lnTo>
                        <a:lnTo>
                          <a:pt x="1077" y="1231"/>
                        </a:lnTo>
                        <a:lnTo>
                          <a:pt x="1076" y="1357"/>
                        </a:lnTo>
                        <a:lnTo>
                          <a:pt x="1074" y="1478"/>
                        </a:lnTo>
                        <a:lnTo>
                          <a:pt x="1070" y="1597"/>
                        </a:lnTo>
                        <a:lnTo>
                          <a:pt x="1063" y="1709"/>
                        </a:lnTo>
                        <a:lnTo>
                          <a:pt x="1056" y="1818"/>
                        </a:lnTo>
                        <a:lnTo>
                          <a:pt x="1047" y="1919"/>
                        </a:lnTo>
                        <a:lnTo>
                          <a:pt x="1036" y="2014"/>
                        </a:lnTo>
                        <a:lnTo>
                          <a:pt x="1026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8" y="2252"/>
                        </a:lnTo>
                        <a:lnTo>
                          <a:pt x="991" y="2285"/>
                        </a:lnTo>
                        <a:lnTo>
                          <a:pt x="983" y="2314"/>
                        </a:lnTo>
                        <a:lnTo>
                          <a:pt x="976" y="2342"/>
                        </a:lnTo>
                        <a:lnTo>
                          <a:pt x="968" y="2367"/>
                        </a:lnTo>
                        <a:lnTo>
                          <a:pt x="959" y="2388"/>
                        </a:lnTo>
                        <a:lnTo>
                          <a:pt x="951" y="2407"/>
                        </a:lnTo>
                        <a:lnTo>
                          <a:pt x="942" y="2425"/>
                        </a:lnTo>
                        <a:lnTo>
                          <a:pt x="934" y="2438"/>
                        </a:lnTo>
                        <a:lnTo>
                          <a:pt x="926" y="2449"/>
                        </a:lnTo>
                        <a:lnTo>
                          <a:pt x="916" y="2458"/>
                        </a:lnTo>
                        <a:lnTo>
                          <a:pt x="907" y="2462"/>
                        </a:lnTo>
                        <a:lnTo>
                          <a:pt x="898" y="2464"/>
                        </a:lnTo>
                        <a:lnTo>
                          <a:pt x="889" y="2462"/>
                        </a:lnTo>
                        <a:lnTo>
                          <a:pt x="880" y="2458"/>
                        </a:lnTo>
                        <a:lnTo>
                          <a:pt x="870" y="2449"/>
                        </a:lnTo>
                        <a:lnTo>
                          <a:pt x="862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6" y="2388"/>
                        </a:lnTo>
                        <a:lnTo>
                          <a:pt x="828" y="2367"/>
                        </a:lnTo>
                        <a:lnTo>
                          <a:pt x="821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1" y="2218"/>
                        </a:lnTo>
                        <a:lnTo>
                          <a:pt x="783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50" y="1919"/>
                        </a:lnTo>
                        <a:lnTo>
                          <a:pt x="740" y="1818"/>
                        </a:lnTo>
                        <a:lnTo>
                          <a:pt x="733" y="1709"/>
                        </a:lnTo>
                        <a:lnTo>
                          <a:pt x="727" y="1597"/>
                        </a:lnTo>
                        <a:lnTo>
                          <a:pt x="722" y="1478"/>
                        </a:lnTo>
                        <a:lnTo>
                          <a:pt x="719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17" name="Line 30"/>
              <p:cNvSpPr>
                <a:spLocks noChangeShapeType="1"/>
              </p:cNvSpPr>
              <p:nvPr/>
            </p:nvSpPr>
            <p:spPr bwMode="auto">
              <a:xfrm>
                <a:off x="3288" y="2024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83993" name="Group 31"/>
              <p:cNvGrpSpPr/>
              <p:nvPr/>
            </p:nvGrpSpPr>
            <p:grpSpPr>
              <a:xfrm>
                <a:off x="3373" y="1933"/>
                <a:ext cx="997" cy="227"/>
                <a:chOff x="3211" y="1708"/>
                <a:chExt cx="1072" cy="411"/>
              </a:xfrm>
            </p:grpSpPr>
            <p:sp>
              <p:nvSpPr>
                <p:cNvPr id="20" name="Freeform 32"/>
                <p:cNvSpPr/>
                <p:nvPr/>
              </p:nvSpPr>
              <p:spPr bwMode="auto">
                <a:xfrm>
                  <a:off x="3936" y="1708"/>
                  <a:ext cx="216" cy="411"/>
                </a:xfrm>
                <a:custGeom>
                  <a:avLst/>
                  <a:gdLst>
                    <a:gd name="T0" fmla="*/ 0 w 1078"/>
                    <a:gd name="T1" fmla="*/ 1237 h 2464"/>
                    <a:gd name="T2" fmla="*/ 0 w 1078"/>
                    <a:gd name="T3" fmla="*/ 1235 h 2464"/>
                    <a:gd name="T4" fmla="*/ 0 w 1078"/>
                    <a:gd name="T5" fmla="*/ 1233 h 2464"/>
                    <a:gd name="T6" fmla="*/ 6 w 1078"/>
                    <a:gd name="T7" fmla="*/ 1046 h 2464"/>
                    <a:gd name="T8" fmla="*/ 24 w 1078"/>
                    <a:gd name="T9" fmla="*/ 867 h 2464"/>
                    <a:gd name="T10" fmla="*/ 53 w 1078"/>
                    <a:gd name="T11" fmla="*/ 699 h 2464"/>
                    <a:gd name="T12" fmla="*/ 93 w 1078"/>
                    <a:gd name="T13" fmla="*/ 545 h 2464"/>
                    <a:gd name="T14" fmla="*/ 141 w 1078"/>
                    <a:gd name="T15" fmla="*/ 405 h 2464"/>
                    <a:gd name="T16" fmla="*/ 196 w 1078"/>
                    <a:gd name="T17" fmla="*/ 282 h 2464"/>
                    <a:gd name="T18" fmla="*/ 260 w 1078"/>
                    <a:gd name="T19" fmla="*/ 179 h 2464"/>
                    <a:gd name="T20" fmla="*/ 329 w 1078"/>
                    <a:gd name="T21" fmla="*/ 97 h 2464"/>
                    <a:gd name="T22" fmla="*/ 403 w 1078"/>
                    <a:gd name="T23" fmla="*/ 39 h 2464"/>
                    <a:gd name="T24" fmla="*/ 483 w 1078"/>
                    <a:gd name="T25" fmla="*/ 6 h 2464"/>
                    <a:gd name="T26" fmla="*/ 566 w 1078"/>
                    <a:gd name="T27" fmla="*/ 2 h 2464"/>
                    <a:gd name="T28" fmla="*/ 647 w 1078"/>
                    <a:gd name="T29" fmla="*/ 25 h 2464"/>
                    <a:gd name="T30" fmla="*/ 723 w 1078"/>
                    <a:gd name="T31" fmla="*/ 75 h 2464"/>
                    <a:gd name="T32" fmla="*/ 794 w 1078"/>
                    <a:gd name="T33" fmla="*/ 148 h 2464"/>
                    <a:gd name="T34" fmla="*/ 860 w 1078"/>
                    <a:gd name="T35" fmla="*/ 245 h 2464"/>
                    <a:gd name="T36" fmla="*/ 918 w 1078"/>
                    <a:gd name="T37" fmla="*/ 360 h 2464"/>
                    <a:gd name="T38" fmla="*/ 969 w 1078"/>
                    <a:gd name="T39" fmla="*/ 493 h 2464"/>
                    <a:gd name="T40" fmla="*/ 1011 w 1078"/>
                    <a:gd name="T41" fmla="*/ 643 h 2464"/>
                    <a:gd name="T42" fmla="*/ 1043 w 1078"/>
                    <a:gd name="T43" fmla="*/ 806 h 2464"/>
                    <a:gd name="T44" fmla="*/ 1065 w 1078"/>
                    <a:gd name="T45" fmla="*/ 981 h 2464"/>
                    <a:gd name="T46" fmla="*/ 1076 w 1078"/>
                    <a:gd name="T47" fmla="*/ 1166 h 2464"/>
                    <a:gd name="T48" fmla="*/ 1078 w 1078"/>
                    <a:gd name="T49" fmla="*/ 1226 h 2464"/>
                    <a:gd name="T50" fmla="*/ 1078 w 1078"/>
                    <a:gd name="T51" fmla="*/ 1228 h 2464"/>
                    <a:gd name="T52" fmla="*/ 1078 w 1078"/>
                    <a:gd name="T53" fmla="*/ 1230 h 2464"/>
                    <a:gd name="T54" fmla="*/ 1075 w 1078"/>
                    <a:gd name="T55" fmla="*/ 1478 h 2464"/>
                    <a:gd name="T56" fmla="*/ 1057 w 1078"/>
                    <a:gd name="T57" fmla="*/ 1818 h 2464"/>
                    <a:gd name="T58" fmla="*/ 1025 w 1078"/>
                    <a:gd name="T59" fmla="*/ 2102 h 2464"/>
                    <a:gd name="T60" fmla="*/ 1006 w 1078"/>
                    <a:gd name="T61" fmla="*/ 2218 h 2464"/>
                    <a:gd name="T62" fmla="*/ 984 w 1078"/>
                    <a:gd name="T63" fmla="*/ 2314 h 2464"/>
                    <a:gd name="T64" fmla="*/ 960 w 1078"/>
                    <a:gd name="T65" fmla="*/ 2388 h 2464"/>
                    <a:gd name="T66" fmla="*/ 935 w 1078"/>
                    <a:gd name="T67" fmla="*/ 2438 h 2464"/>
                    <a:gd name="T68" fmla="*/ 907 w 1078"/>
                    <a:gd name="T69" fmla="*/ 2462 h 2464"/>
                    <a:gd name="T70" fmla="*/ 879 w 1078"/>
                    <a:gd name="T71" fmla="*/ 2458 h 2464"/>
                    <a:gd name="T72" fmla="*/ 853 w 1078"/>
                    <a:gd name="T73" fmla="*/ 2425 h 2464"/>
                    <a:gd name="T74" fmla="*/ 829 w 1078"/>
                    <a:gd name="T75" fmla="*/ 2367 h 2464"/>
                    <a:gd name="T76" fmla="*/ 805 w 1078"/>
                    <a:gd name="T77" fmla="*/ 2285 h 2464"/>
                    <a:gd name="T78" fmla="*/ 784 w 1078"/>
                    <a:gd name="T79" fmla="*/ 2182 h 2464"/>
                    <a:gd name="T80" fmla="*/ 760 w 1078"/>
                    <a:gd name="T81" fmla="*/ 2014 h 2464"/>
                    <a:gd name="T82" fmla="*/ 732 w 1078"/>
                    <a:gd name="T83" fmla="*/ 1709 h 2464"/>
                    <a:gd name="T84" fmla="*/ 719 w 1078"/>
                    <a:gd name="T85" fmla="*/ 1357 h 2464"/>
                    <a:gd name="T86" fmla="*/ 719 w 1078"/>
                    <a:gd name="T87" fmla="*/ 1227 h 2464"/>
                    <a:gd name="T88" fmla="*/ 719 w 1078"/>
                    <a:gd name="T89" fmla="*/ 1222 h 2464"/>
                    <a:gd name="T90" fmla="*/ 719 w 1078"/>
                    <a:gd name="T91" fmla="*/ 1217 h 24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078" h="2464">
                      <a:moveTo>
                        <a:pt x="0" y="1238"/>
                      </a:moveTo>
                      <a:lnTo>
                        <a:pt x="0" y="1238"/>
                      </a:lnTo>
                      <a:lnTo>
                        <a:pt x="0" y="1237"/>
                      </a:lnTo>
                      <a:lnTo>
                        <a:pt x="0" y="1237"/>
                      </a:lnTo>
                      <a:lnTo>
                        <a:pt x="0" y="1236"/>
                      </a:lnTo>
                      <a:lnTo>
                        <a:pt x="0" y="1235"/>
                      </a:lnTo>
                      <a:lnTo>
                        <a:pt x="0" y="1234"/>
                      </a:lnTo>
                      <a:lnTo>
                        <a:pt x="0" y="1234"/>
                      </a:lnTo>
                      <a:lnTo>
                        <a:pt x="0" y="1233"/>
                      </a:lnTo>
                      <a:lnTo>
                        <a:pt x="1" y="1171"/>
                      </a:lnTo>
                      <a:lnTo>
                        <a:pt x="3" y="1107"/>
                      </a:lnTo>
                      <a:lnTo>
                        <a:pt x="6" y="1046"/>
                      </a:lnTo>
                      <a:lnTo>
                        <a:pt x="11" y="986"/>
                      </a:lnTo>
                      <a:lnTo>
                        <a:pt x="17" y="926"/>
                      </a:lnTo>
                      <a:lnTo>
                        <a:pt x="24" y="867"/>
                      </a:lnTo>
                      <a:lnTo>
                        <a:pt x="32" y="810"/>
                      </a:lnTo>
                      <a:lnTo>
                        <a:pt x="42" y="755"/>
                      </a:lnTo>
                      <a:lnTo>
                        <a:pt x="53" y="699"/>
                      </a:lnTo>
                      <a:lnTo>
                        <a:pt x="65" y="646"/>
                      </a:lnTo>
                      <a:lnTo>
                        <a:pt x="78" y="595"/>
                      </a:lnTo>
                      <a:lnTo>
                        <a:pt x="93" y="545"/>
                      </a:lnTo>
                      <a:lnTo>
                        <a:pt x="107" y="496"/>
                      </a:lnTo>
                      <a:lnTo>
                        <a:pt x="123" y="450"/>
                      </a:lnTo>
                      <a:lnTo>
                        <a:pt x="141" y="405"/>
                      </a:lnTo>
                      <a:lnTo>
                        <a:pt x="158" y="362"/>
                      </a:lnTo>
                      <a:lnTo>
                        <a:pt x="177" y="321"/>
                      </a:lnTo>
                      <a:lnTo>
                        <a:pt x="196" y="282"/>
                      </a:lnTo>
                      <a:lnTo>
                        <a:pt x="217" y="246"/>
                      </a:lnTo>
                      <a:lnTo>
                        <a:pt x="237" y="212"/>
                      </a:lnTo>
                      <a:lnTo>
                        <a:pt x="260" y="179"/>
                      </a:lnTo>
                      <a:lnTo>
                        <a:pt x="282" y="150"/>
                      </a:lnTo>
                      <a:lnTo>
                        <a:pt x="305" y="122"/>
                      </a:lnTo>
                      <a:lnTo>
                        <a:pt x="329" y="97"/>
                      </a:lnTo>
                      <a:lnTo>
                        <a:pt x="353" y="76"/>
                      </a:lnTo>
                      <a:lnTo>
                        <a:pt x="378" y="57"/>
                      </a:lnTo>
                      <a:lnTo>
                        <a:pt x="403" y="39"/>
                      </a:lnTo>
                      <a:lnTo>
                        <a:pt x="430" y="26"/>
                      </a:lnTo>
                      <a:lnTo>
                        <a:pt x="456" y="15"/>
                      </a:lnTo>
                      <a:lnTo>
                        <a:pt x="483" y="6"/>
                      </a:lnTo>
                      <a:lnTo>
                        <a:pt x="511" y="2"/>
                      </a:lnTo>
                      <a:lnTo>
                        <a:pt x="538" y="0"/>
                      </a:lnTo>
                      <a:lnTo>
                        <a:pt x="566" y="2"/>
                      </a:lnTo>
                      <a:lnTo>
                        <a:pt x="593" y="6"/>
                      </a:lnTo>
                      <a:lnTo>
                        <a:pt x="620" y="15"/>
                      </a:lnTo>
                      <a:lnTo>
                        <a:pt x="647" y="25"/>
                      </a:lnTo>
                      <a:lnTo>
                        <a:pt x="672" y="39"/>
                      </a:lnTo>
                      <a:lnTo>
                        <a:pt x="697" y="55"/>
                      </a:lnTo>
                      <a:lnTo>
                        <a:pt x="723" y="75"/>
                      </a:lnTo>
                      <a:lnTo>
                        <a:pt x="747" y="96"/>
                      </a:lnTo>
                      <a:lnTo>
                        <a:pt x="771" y="121"/>
                      </a:lnTo>
                      <a:lnTo>
                        <a:pt x="794" y="148"/>
                      </a:lnTo>
                      <a:lnTo>
                        <a:pt x="817" y="178"/>
                      </a:lnTo>
                      <a:lnTo>
                        <a:pt x="838" y="210"/>
                      </a:lnTo>
                      <a:lnTo>
                        <a:pt x="860" y="245"/>
                      </a:lnTo>
                      <a:lnTo>
                        <a:pt x="881" y="280"/>
                      </a:lnTo>
                      <a:lnTo>
                        <a:pt x="900" y="319"/>
                      </a:lnTo>
                      <a:lnTo>
                        <a:pt x="918" y="360"/>
                      </a:lnTo>
                      <a:lnTo>
                        <a:pt x="936" y="402"/>
                      </a:lnTo>
                      <a:lnTo>
                        <a:pt x="953" y="447"/>
                      </a:lnTo>
                      <a:lnTo>
                        <a:pt x="969" y="493"/>
                      </a:lnTo>
                      <a:lnTo>
                        <a:pt x="984" y="542"/>
                      </a:lnTo>
                      <a:lnTo>
                        <a:pt x="998" y="591"/>
                      </a:lnTo>
                      <a:lnTo>
                        <a:pt x="1011" y="643"/>
                      </a:lnTo>
                      <a:lnTo>
                        <a:pt x="1023" y="695"/>
                      </a:lnTo>
                      <a:lnTo>
                        <a:pt x="1034" y="751"/>
                      </a:lnTo>
                      <a:lnTo>
                        <a:pt x="1043" y="806"/>
                      </a:lnTo>
                      <a:lnTo>
                        <a:pt x="1052" y="863"/>
                      </a:lnTo>
                      <a:lnTo>
                        <a:pt x="1059" y="921"/>
                      </a:lnTo>
                      <a:lnTo>
                        <a:pt x="1065" y="981"/>
                      </a:lnTo>
                      <a:lnTo>
                        <a:pt x="1070" y="1042"/>
                      </a:lnTo>
                      <a:lnTo>
                        <a:pt x="1073" y="1103"/>
                      </a:lnTo>
                      <a:lnTo>
                        <a:pt x="1076" y="1166"/>
                      </a:lnTo>
                      <a:lnTo>
                        <a:pt x="1076" y="1229"/>
                      </a:lnTo>
                      <a:lnTo>
                        <a:pt x="1078" y="1226"/>
                      </a:lnTo>
                      <a:lnTo>
                        <a:pt x="1078" y="1226"/>
                      </a:lnTo>
                      <a:lnTo>
                        <a:pt x="1078" y="1227"/>
                      </a:lnTo>
                      <a:lnTo>
                        <a:pt x="1078" y="1227"/>
                      </a:lnTo>
                      <a:lnTo>
                        <a:pt x="1078" y="1228"/>
                      </a:lnTo>
                      <a:lnTo>
                        <a:pt x="1078" y="1229"/>
                      </a:lnTo>
                      <a:lnTo>
                        <a:pt x="1078" y="1230"/>
                      </a:lnTo>
                      <a:lnTo>
                        <a:pt x="1078" y="1230"/>
                      </a:lnTo>
                      <a:lnTo>
                        <a:pt x="1078" y="1231"/>
                      </a:lnTo>
                      <a:lnTo>
                        <a:pt x="1077" y="1357"/>
                      </a:lnTo>
                      <a:lnTo>
                        <a:pt x="1075" y="1478"/>
                      </a:lnTo>
                      <a:lnTo>
                        <a:pt x="1070" y="1597"/>
                      </a:lnTo>
                      <a:lnTo>
                        <a:pt x="1064" y="1709"/>
                      </a:lnTo>
                      <a:lnTo>
                        <a:pt x="1057" y="1818"/>
                      </a:lnTo>
                      <a:lnTo>
                        <a:pt x="1047" y="1919"/>
                      </a:lnTo>
                      <a:lnTo>
                        <a:pt x="1037" y="2014"/>
                      </a:lnTo>
                      <a:lnTo>
                        <a:pt x="1025" y="2102"/>
                      </a:lnTo>
                      <a:lnTo>
                        <a:pt x="1019" y="2143"/>
                      </a:lnTo>
                      <a:lnTo>
                        <a:pt x="1012" y="2182"/>
                      </a:lnTo>
                      <a:lnTo>
                        <a:pt x="1006" y="2218"/>
                      </a:lnTo>
                      <a:lnTo>
                        <a:pt x="999" y="2252"/>
                      </a:lnTo>
                      <a:lnTo>
                        <a:pt x="992" y="2285"/>
                      </a:lnTo>
                      <a:lnTo>
                        <a:pt x="984" y="2314"/>
                      </a:lnTo>
                      <a:lnTo>
                        <a:pt x="976" y="2342"/>
                      </a:lnTo>
                      <a:lnTo>
                        <a:pt x="969" y="2367"/>
                      </a:lnTo>
                      <a:lnTo>
                        <a:pt x="960" y="2388"/>
                      </a:lnTo>
                      <a:lnTo>
                        <a:pt x="952" y="2407"/>
                      </a:lnTo>
                      <a:lnTo>
                        <a:pt x="943" y="2425"/>
                      </a:lnTo>
                      <a:lnTo>
                        <a:pt x="935" y="2438"/>
                      </a:lnTo>
                      <a:lnTo>
                        <a:pt x="925" y="2449"/>
                      </a:lnTo>
                      <a:lnTo>
                        <a:pt x="917" y="2458"/>
                      </a:lnTo>
                      <a:lnTo>
                        <a:pt x="907" y="2462"/>
                      </a:lnTo>
                      <a:lnTo>
                        <a:pt x="899" y="2464"/>
                      </a:lnTo>
                      <a:lnTo>
                        <a:pt x="889" y="2462"/>
                      </a:lnTo>
                      <a:lnTo>
                        <a:pt x="879" y="2458"/>
                      </a:lnTo>
                      <a:lnTo>
                        <a:pt x="871" y="2449"/>
                      </a:lnTo>
                      <a:lnTo>
                        <a:pt x="863" y="2438"/>
                      </a:lnTo>
                      <a:lnTo>
                        <a:pt x="853" y="2425"/>
                      </a:lnTo>
                      <a:lnTo>
                        <a:pt x="844" y="2407"/>
                      </a:lnTo>
                      <a:lnTo>
                        <a:pt x="837" y="2388"/>
                      </a:lnTo>
                      <a:lnTo>
                        <a:pt x="829" y="2367"/>
                      </a:lnTo>
                      <a:lnTo>
                        <a:pt x="820" y="2342"/>
                      </a:lnTo>
                      <a:lnTo>
                        <a:pt x="813" y="2314"/>
                      </a:lnTo>
                      <a:lnTo>
                        <a:pt x="805" y="2285"/>
                      </a:lnTo>
                      <a:lnTo>
                        <a:pt x="797" y="2252"/>
                      </a:lnTo>
                      <a:lnTo>
                        <a:pt x="791" y="2218"/>
                      </a:lnTo>
                      <a:lnTo>
                        <a:pt x="784" y="2182"/>
                      </a:lnTo>
                      <a:lnTo>
                        <a:pt x="778" y="2143"/>
                      </a:lnTo>
                      <a:lnTo>
                        <a:pt x="771" y="2102"/>
                      </a:lnTo>
                      <a:lnTo>
                        <a:pt x="760" y="2014"/>
                      </a:lnTo>
                      <a:lnTo>
                        <a:pt x="749" y="1919"/>
                      </a:lnTo>
                      <a:lnTo>
                        <a:pt x="741" y="1818"/>
                      </a:lnTo>
                      <a:lnTo>
                        <a:pt x="732" y="1709"/>
                      </a:lnTo>
                      <a:lnTo>
                        <a:pt x="726" y="1597"/>
                      </a:lnTo>
                      <a:lnTo>
                        <a:pt x="723" y="1478"/>
                      </a:lnTo>
                      <a:lnTo>
                        <a:pt x="719" y="1357"/>
                      </a:lnTo>
                      <a:lnTo>
                        <a:pt x="719" y="1231"/>
                      </a:lnTo>
                      <a:lnTo>
                        <a:pt x="719" y="1229"/>
                      </a:lnTo>
                      <a:lnTo>
                        <a:pt x="719" y="1227"/>
                      </a:lnTo>
                      <a:lnTo>
                        <a:pt x="719" y="1225"/>
                      </a:lnTo>
                      <a:lnTo>
                        <a:pt x="719" y="1224"/>
                      </a:lnTo>
                      <a:lnTo>
                        <a:pt x="719" y="1222"/>
                      </a:lnTo>
                      <a:lnTo>
                        <a:pt x="719" y="1220"/>
                      </a:lnTo>
                      <a:lnTo>
                        <a:pt x="719" y="1218"/>
                      </a:lnTo>
                      <a:lnTo>
                        <a:pt x="719" y="1217"/>
                      </a:lnTo>
                    </a:path>
                  </a:pathLst>
                </a:custGeom>
                <a:noFill/>
                <a:ln w="38100">
                  <a:solidFill>
                    <a:srgbClr val="1F1A17"/>
                  </a:solidFill>
                  <a:prstDash val="solid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3333CC"/>
                    </a:buClr>
                    <a:buSzTx/>
                    <a:buFont typeface="Monotype Sorts" pitchFamily="2" charset="2"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83995" name="Group 33"/>
                <p:cNvGrpSpPr/>
                <p:nvPr/>
              </p:nvGrpSpPr>
              <p:grpSpPr>
                <a:xfrm>
                  <a:off x="3211" y="1708"/>
                  <a:ext cx="1072" cy="411"/>
                  <a:chOff x="3211" y="1708"/>
                  <a:chExt cx="1072" cy="411"/>
                </a:xfrm>
              </p:grpSpPr>
              <p:sp>
                <p:nvSpPr>
                  <p:cNvPr id="22" name="Freeform 34"/>
                  <p:cNvSpPr/>
                  <p:nvPr/>
                </p:nvSpPr>
                <p:spPr bwMode="auto">
                  <a:xfrm>
                    <a:off x="4068" y="1708"/>
                    <a:ext cx="215" cy="206"/>
                  </a:xfrm>
                  <a:custGeom>
                    <a:avLst/>
                    <a:gdLst>
                      <a:gd name="T0" fmla="*/ 0 w 1076"/>
                      <a:gd name="T1" fmla="*/ 1238 h 1238"/>
                      <a:gd name="T2" fmla="*/ 0 w 1076"/>
                      <a:gd name="T3" fmla="*/ 1237 h 1238"/>
                      <a:gd name="T4" fmla="*/ 0 w 1076"/>
                      <a:gd name="T5" fmla="*/ 1235 h 1238"/>
                      <a:gd name="T6" fmla="*/ 0 w 1076"/>
                      <a:gd name="T7" fmla="*/ 1234 h 1238"/>
                      <a:gd name="T8" fmla="*/ 1 w 1076"/>
                      <a:gd name="T9" fmla="*/ 1171 h 1238"/>
                      <a:gd name="T10" fmla="*/ 7 w 1076"/>
                      <a:gd name="T11" fmla="*/ 1046 h 1238"/>
                      <a:gd name="T12" fmla="*/ 17 w 1076"/>
                      <a:gd name="T13" fmla="*/ 926 h 1238"/>
                      <a:gd name="T14" fmla="*/ 34 w 1076"/>
                      <a:gd name="T15" fmla="*/ 810 h 1238"/>
                      <a:gd name="T16" fmla="*/ 53 w 1076"/>
                      <a:gd name="T17" fmla="*/ 699 h 1238"/>
                      <a:gd name="T18" fmla="*/ 78 w 1076"/>
                      <a:gd name="T19" fmla="*/ 595 h 1238"/>
                      <a:gd name="T20" fmla="*/ 107 w 1076"/>
                      <a:gd name="T21" fmla="*/ 496 h 1238"/>
                      <a:gd name="T22" fmla="*/ 141 w 1076"/>
                      <a:gd name="T23" fmla="*/ 405 h 1238"/>
                      <a:gd name="T24" fmla="*/ 177 w 1076"/>
                      <a:gd name="T25" fmla="*/ 321 h 1238"/>
                      <a:gd name="T26" fmla="*/ 217 w 1076"/>
                      <a:gd name="T27" fmla="*/ 246 h 1238"/>
                      <a:gd name="T28" fmla="*/ 260 w 1076"/>
                      <a:gd name="T29" fmla="*/ 179 h 1238"/>
                      <a:gd name="T30" fmla="*/ 306 w 1076"/>
                      <a:gd name="T31" fmla="*/ 122 h 1238"/>
                      <a:gd name="T32" fmla="*/ 354 w 1076"/>
                      <a:gd name="T33" fmla="*/ 76 h 1238"/>
                      <a:gd name="T34" fmla="*/ 404 w 1076"/>
                      <a:gd name="T35" fmla="*/ 39 h 1238"/>
                      <a:gd name="T36" fmla="*/ 457 w 1076"/>
                      <a:gd name="T37" fmla="*/ 15 h 1238"/>
                      <a:gd name="T38" fmla="*/ 511 w 1076"/>
                      <a:gd name="T39" fmla="*/ 2 h 1238"/>
                      <a:gd name="T40" fmla="*/ 566 w 1076"/>
                      <a:gd name="T41" fmla="*/ 2 h 1238"/>
                      <a:gd name="T42" fmla="*/ 621 w 1076"/>
                      <a:gd name="T43" fmla="*/ 15 h 1238"/>
                      <a:gd name="T44" fmla="*/ 672 w 1076"/>
                      <a:gd name="T45" fmla="*/ 39 h 1238"/>
                      <a:gd name="T46" fmla="*/ 723 w 1076"/>
                      <a:gd name="T47" fmla="*/ 75 h 1238"/>
                      <a:gd name="T48" fmla="*/ 771 w 1076"/>
                      <a:gd name="T49" fmla="*/ 121 h 1238"/>
                      <a:gd name="T50" fmla="*/ 817 w 1076"/>
                      <a:gd name="T51" fmla="*/ 178 h 1238"/>
                      <a:gd name="T52" fmla="*/ 860 w 1076"/>
                      <a:gd name="T53" fmla="*/ 245 h 1238"/>
                      <a:gd name="T54" fmla="*/ 900 w 1076"/>
                      <a:gd name="T55" fmla="*/ 319 h 1238"/>
                      <a:gd name="T56" fmla="*/ 936 w 1076"/>
                      <a:gd name="T57" fmla="*/ 402 h 1238"/>
                      <a:gd name="T58" fmla="*/ 969 w 1076"/>
                      <a:gd name="T59" fmla="*/ 493 h 1238"/>
                      <a:gd name="T60" fmla="*/ 999 w 1076"/>
                      <a:gd name="T61" fmla="*/ 591 h 1238"/>
                      <a:gd name="T62" fmla="*/ 1023 w 1076"/>
                      <a:gd name="T63" fmla="*/ 695 h 1238"/>
                      <a:gd name="T64" fmla="*/ 1043 w 1076"/>
                      <a:gd name="T65" fmla="*/ 806 h 1238"/>
                      <a:gd name="T66" fmla="*/ 1059 w 1076"/>
                      <a:gd name="T67" fmla="*/ 921 h 1238"/>
                      <a:gd name="T68" fmla="*/ 1070 w 1076"/>
                      <a:gd name="T69" fmla="*/ 1042 h 1238"/>
                      <a:gd name="T70" fmla="*/ 1076 w 1076"/>
                      <a:gd name="T71" fmla="*/ 1166 h 1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076" h="1238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1" y="1171"/>
                        </a:lnTo>
                        <a:lnTo>
                          <a:pt x="4" y="1107"/>
                        </a:lnTo>
                        <a:lnTo>
                          <a:pt x="7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4" y="810"/>
                        </a:lnTo>
                        <a:lnTo>
                          <a:pt x="43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3" y="545"/>
                        </a:lnTo>
                        <a:lnTo>
                          <a:pt x="107" y="496"/>
                        </a:lnTo>
                        <a:lnTo>
                          <a:pt x="124" y="450"/>
                        </a:lnTo>
                        <a:lnTo>
                          <a:pt x="141" y="405"/>
                        </a:lnTo>
                        <a:lnTo>
                          <a:pt x="158" y="362"/>
                        </a:lnTo>
                        <a:lnTo>
                          <a:pt x="177" y="321"/>
                        </a:lnTo>
                        <a:lnTo>
                          <a:pt x="196" y="282"/>
                        </a:lnTo>
                        <a:lnTo>
                          <a:pt x="217" y="246"/>
                        </a:lnTo>
                        <a:lnTo>
                          <a:pt x="237" y="212"/>
                        </a:lnTo>
                        <a:lnTo>
                          <a:pt x="260" y="179"/>
                        </a:lnTo>
                        <a:lnTo>
                          <a:pt x="282" y="150"/>
                        </a:lnTo>
                        <a:lnTo>
                          <a:pt x="306" y="122"/>
                        </a:lnTo>
                        <a:lnTo>
                          <a:pt x="329" y="97"/>
                        </a:lnTo>
                        <a:lnTo>
                          <a:pt x="354" y="76"/>
                        </a:lnTo>
                        <a:lnTo>
                          <a:pt x="378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9" y="0"/>
                        </a:lnTo>
                        <a:lnTo>
                          <a:pt x="566" y="2"/>
                        </a:lnTo>
                        <a:lnTo>
                          <a:pt x="593" y="6"/>
                        </a:lnTo>
                        <a:lnTo>
                          <a:pt x="621" y="15"/>
                        </a:lnTo>
                        <a:lnTo>
                          <a:pt x="647" y="25"/>
                        </a:lnTo>
                        <a:lnTo>
                          <a:pt x="672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60" y="245"/>
                        </a:lnTo>
                        <a:lnTo>
                          <a:pt x="881" y="280"/>
                        </a:lnTo>
                        <a:lnTo>
                          <a:pt x="900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4" y="542"/>
                        </a:lnTo>
                        <a:lnTo>
                          <a:pt x="999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3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4" y="1103"/>
                        </a:lnTo>
                        <a:lnTo>
                          <a:pt x="1076" y="1166"/>
                        </a:lnTo>
                        <a:lnTo>
                          <a:pt x="1076" y="1229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3" name="Freeform 35"/>
                  <p:cNvSpPr/>
                  <p:nvPr/>
                </p:nvSpPr>
                <p:spPr bwMode="auto">
                  <a:xfrm>
                    <a:off x="3791" y="1708"/>
                    <a:ext cx="216" cy="411"/>
                  </a:xfrm>
                  <a:custGeom>
                    <a:avLst/>
                    <a:gdLst>
                      <a:gd name="T0" fmla="*/ 0 w 1079"/>
                      <a:gd name="T1" fmla="*/ 1237 h 2464"/>
                      <a:gd name="T2" fmla="*/ 0 w 1079"/>
                      <a:gd name="T3" fmla="*/ 1235 h 2464"/>
                      <a:gd name="T4" fmla="*/ 0 w 1079"/>
                      <a:gd name="T5" fmla="*/ 1233 h 2464"/>
                      <a:gd name="T6" fmla="*/ 6 w 1079"/>
                      <a:gd name="T7" fmla="*/ 1046 h 2464"/>
                      <a:gd name="T8" fmla="*/ 24 w 1079"/>
                      <a:gd name="T9" fmla="*/ 867 h 2464"/>
                      <a:gd name="T10" fmla="*/ 53 w 1079"/>
                      <a:gd name="T11" fmla="*/ 699 h 2464"/>
                      <a:gd name="T12" fmla="*/ 93 w 1079"/>
                      <a:gd name="T13" fmla="*/ 545 h 2464"/>
                      <a:gd name="T14" fmla="*/ 140 w 1079"/>
                      <a:gd name="T15" fmla="*/ 405 h 2464"/>
                      <a:gd name="T16" fmla="*/ 197 w 1079"/>
                      <a:gd name="T17" fmla="*/ 282 h 2464"/>
                      <a:gd name="T18" fmla="*/ 259 w 1079"/>
                      <a:gd name="T19" fmla="*/ 179 h 2464"/>
                      <a:gd name="T20" fmla="*/ 329 w 1079"/>
                      <a:gd name="T21" fmla="*/ 97 h 2464"/>
                      <a:gd name="T22" fmla="*/ 404 w 1079"/>
                      <a:gd name="T23" fmla="*/ 39 h 2464"/>
                      <a:gd name="T24" fmla="*/ 483 w 1079"/>
                      <a:gd name="T25" fmla="*/ 6 h 2464"/>
                      <a:gd name="T26" fmla="*/ 567 w 1079"/>
                      <a:gd name="T27" fmla="*/ 2 h 2464"/>
                      <a:gd name="T28" fmla="*/ 647 w 1079"/>
                      <a:gd name="T29" fmla="*/ 25 h 2464"/>
                      <a:gd name="T30" fmla="*/ 723 w 1079"/>
                      <a:gd name="T31" fmla="*/ 75 h 2464"/>
                      <a:gd name="T32" fmla="*/ 794 w 1079"/>
                      <a:gd name="T33" fmla="*/ 148 h 2464"/>
                      <a:gd name="T34" fmla="*/ 861 w 1079"/>
                      <a:gd name="T35" fmla="*/ 245 h 2464"/>
                      <a:gd name="T36" fmla="*/ 918 w 1079"/>
                      <a:gd name="T37" fmla="*/ 360 h 2464"/>
                      <a:gd name="T38" fmla="*/ 969 w 1079"/>
                      <a:gd name="T39" fmla="*/ 493 h 2464"/>
                      <a:gd name="T40" fmla="*/ 1011 w 1079"/>
                      <a:gd name="T41" fmla="*/ 643 h 2464"/>
                      <a:gd name="T42" fmla="*/ 1044 w 1079"/>
                      <a:gd name="T43" fmla="*/ 806 h 2464"/>
                      <a:gd name="T44" fmla="*/ 1065 w 1079"/>
                      <a:gd name="T45" fmla="*/ 981 h 2464"/>
                      <a:gd name="T46" fmla="*/ 1076 w 1079"/>
                      <a:gd name="T47" fmla="*/ 1166 h 2464"/>
                      <a:gd name="T48" fmla="*/ 1079 w 1079"/>
                      <a:gd name="T49" fmla="*/ 1226 h 2464"/>
                      <a:gd name="T50" fmla="*/ 1079 w 1079"/>
                      <a:gd name="T51" fmla="*/ 1228 h 2464"/>
                      <a:gd name="T52" fmla="*/ 1079 w 1079"/>
                      <a:gd name="T53" fmla="*/ 1230 h 2464"/>
                      <a:gd name="T54" fmla="*/ 1075 w 1079"/>
                      <a:gd name="T55" fmla="*/ 1478 h 2464"/>
                      <a:gd name="T56" fmla="*/ 1057 w 1079"/>
                      <a:gd name="T57" fmla="*/ 1818 h 2464"/>
                      <a:gd name="T58" fmla="*/ 1026 w 1079"/>
                      <a:gd name="T59" fmla="*/ 2102 h 2464"/>
                      <a:gd name="T60" fmla="*/ 1006 w 1079"/>
                      <a:gd name="T61" fmla="*/ 2218 h 2464"/>
                      <a:gd name="T62" fmla="*/ 985 w 1079"/>
                      <a:gd name="T63" fmla="*/ 2314 h 2464"/>
                      <a:gd name="T64" fmla="*/ 961 w 1079"/>
                      <a:gd name="T65" fmla="*/ 2388 h 2464"/>
                      <a:gd name="T66" fmla="*/ 935 w 1079"/>
                      <a:gd name="T67" fmla="*/ 2438 h 2464"/>
                      <a:gd name="T68" fmla="*/ 908 w 1079"/>
                      <a:gd name="T69" fmla="*/ 2462 h 2464"/>
                      <a:gd name="T70" fmla="*/ 880 w 1079"/>
                      <a:gd name="T71" fmla="*/ 2458 h 2464"/>
                      <a:gd name="T72" fmla="*/ 853 w 1079"/>
                      <a:gd name="T73" fmla="*/ 2425 h 2464"/>
                      <a:gd name="T74" fmla="*/ 829 w 1079"/>
                      <a:gd name="T75" fmla="*/ 2367 h 2464"/>
                      <a:gd name="T76" fmla="*/ 805 w 1079"/>
                      <a:gd name="T77" fmla="*/ 2285 h 2464"/>
                      <a:gd name="T78" fmla="*/ 785 w 1079"/>
                      <a:gd name="T79" fmla="*/ 2182 h 2464"/>
                      <a:gd name="T80" fmla="*/ 761 w 1079"/>
                      <a:gd name="T81" fmla="*/ 2014 h 2464"/>
                      <a:gd name="T82" fmla="*/ 733 w 1079"/>
                      <a:gd name="T83" fmla="*/ 1709 h 2464"/>
                      <a:gd name="T84" fmla="*/ 720 w 1079"/>
                      <a:gd name="T85" fmla="*/ 1357 h 2464"/>
                      <a:gd name="T86" fmla="*/ 720 w 1079"/>
                      <a:gd name="T87" fmla="*/ 1227 h 2464"/>
                      <a:gd name="T88" fmla="*/ 720 w 1079"/>
                      <a:gd name="T89" fmla="*/ 1222 h 2464"/>
                      <a:gd name="T90" fmla="*/ 720 w 1079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9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1" y="1171"/>
                        </a:lnTo>
                        <a:lnTo>
                          <a:pt x="4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3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9" y="595"/>
                        </a:lnTo>
                        <a:lnTo>
                          <a:pt x="93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7" y="321"/>
                        </a:lnTo>
                        <a:lnTo>
                          <a:pt x="197" y="282"/>
                        </a:lnTo>
                        <a:lnTo>
                          <a:pt x="217" y="246"/>
                        </a:lnTo>
                        <a:lnTo>
                          <a:pt x="238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9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9" y="0"/>
                        </a:lnTo>
                        <a:lnTo>
                          <a:pt x="567" y="2"/>
                        </a:lnTo>
                        <a:lnTo>
                          <a:pt x="593" y="6"/>
                        </a:lnTo>
                        <a:lnTo>
                          <a:pt x="621" y="15"/>
                        </a:lnTo>
                        <a:lnTo>
                          <a:pt x="647" y="25"/>
                        </a:lnTo>
                        <a:lnTo>
                          <a:pt x="673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61" y="245"/>
                        </a:lnTo>
                        <a:lnTo>
                          <a:pt x="880" y="280"/>
                        </a:lnTo>
                        <a:lnTo>
                          <a:pt x="900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5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4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4" y="1103"/>
                        </a:lnTo>
                        <a:lnTo>
                          <a:pt x="1076" y="1166"/>
                        </a:lnTo>
                        <a:lnTo>
                          <a:pt x="1076" y="1229"/>
                        </a:lnTo>
                        <a:lnTo>
                          <a:pt x="1079" y="1226"/>
                        </a:lnTo>
                        <a:lnTo>
                          <a:pt x="1079" y="1226"/>
                        </a:lnTo>
                        <a:lnTo>
                          <a:pt x="1079" y="1227"/>
                        </a:lnTo>
                        <a:lnTo>
                          <a:pt x="1079" y="1227"/>
                        </a:lnTo>
                        <a:lnTo>
                          <a:pt x="1079" y="1228"/>
                        </a:lnTo>
                        <a:lnTo>
                          <a:pt x="1079" y="1229"/>
                        </a:lnTo>
                        <a:lnTo>
                          <a:pt x="1079" y="1230"/>
                        </a:lnTo>
                        <a:lnTo>
                          <a:pt x="1079" y="1230"/>
                        </a:lnTo>
                        <a:lnTo>
                          <a:pt x="1079" y="1231"/>
                        </a:lnTo>
                        <a:lnTo>
                          <a:pt x="1077" y="1357"/>
                        </a:lnTo>
                        <a:lnTo>
                          <a:pt x="1075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7" y="1818"/>
                        </a:lnTo>
                        <a:lnTo>
                          <a:pt x="1047" y="1919"/>
                        </a:lnTo>
                        <a:lnTo>
                          <a:pt x="1038" y="2014"/>
                        </a:lnTo>
                        <a:lnTo>
                          <a:pt x="1026" y="2102"/>
                        </a:lnTo>
                        <a:lnTo>
                          <a:pt x="1020" y="2143"/>
                        </a:lnTo>
                        <a:lnTo>
                          <a:pt x="1012" y="2182"/>
                        </a:lnTo>
                        <a:lnTo>
                          <a:pt x="1006" y="2218"/>
                        </a:lnTo>
                        <a:lnTo>
                          <a:pt x="999" y="2252"/>
                        </a:lnTo>
                        <a:lnTo>
                          <a:pt x="992" y="2285"/>
                        </a:lnTo>
                        <a:lnTo>
                          <a:pt x="985" y="2314"/>
                        </a:lnTo>
                        <a:lnTo>
                          <a:pt x="976" y="2342"/>
                        </a:lnTo>
                        <a:lnTo>
                          <a:pt x="969" y="2367"/>
                        </a:lnTo>
                        <a:lnTo>
                          <a:pt x="961" y="2388"/>
                        </a:lnTo>
                        <a:lnTo>
                          <a:pt x="952" y="2407"/>
                        </a:lnTo>
                        <a:lnTo>
                          <a:pt x="944" y="2425"/>
                        </a:lnTo>
                        <a:lnTo>
                          <a:pt x="935" y="2438"/>
                        </a:lnTo>
                        <a:lnTo>
                          <a:pt x="926" y="2449"/>
                        </a:lnTo>
                        <a:lnTo>
                          <a:pt x="917" y="2458"/>
                        </a:lnTo>
                        <a:lnTo>
                          <a:pt x="908" y="2462"/>
                        </a:lnTo>
                        <a:lnTo>
                          <a:pt x="899" y="2464"/>
                        </a:lnTo>
                        <a:lnTo>
                          <a:pt x="889" y="2462"/>
                        </a:lnTo>
                        <a:lnTo>
                          <a:pt x="880" y="2458"/>
                        </a:lnTo>
                        <a:lnTo>
                          <a:pt x="871" y="2449"/>
                        </a:lnTo>
                        <a:lnTo>
                          <a:pt x="863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6" y="2388"/>
                        </a:lnTo>
                        <a:lnTo>
                          <a:pt x="829" y="2367"/>
                        </a:lnTo>
                        <a:lnTo>
                          <a:pt x="821" y="2342"/>
                        </a:lnTo>
                        <a:lnTo>
                          <a:pt x="814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1" y="2218"/>
                        </a:lnTo>
                        <a:lnTo>
                          <a:pt x="785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61" y="2014"/>
                        </a:lnTo>
                        <a:lnTo>
                          <a:pt x="750" y="1919"/>
                        </a:lnTo>
                        <a:lnTo>
                          <a:pt x="741" y="1818"/>
                        </a:lnTo>
                        <a:lnTo>
                          <a:pt x="733" y="1709"/>
                        </a:lnTo>
                        <a:lnTo>
                          <a:pt x="727" y="1597"/>
                        </a:lnTo>
                        <a:lnTo>
                          <a:pt x="723" y="1478"/>
                        </a:lnTo>
                        <a:lnTo>
                          <a:pt x="720" y="1357"/>
                        </a:lnTo>
                        <a:lnTo>
                          <a:pt x="720" y="1231"/>
                        </a:lnTo>
                        <a:lnTo>
                          <a:pt x="720" y="1229"/>
                        </a:lnTo>
                        <a:lnTo>
                          <a:pt x="720" y="1227"/>
                        </a:lnTo>
                        <a:lnTo>
                          <a:pt x="720" y="1225"/>
                        </a:lnTo>
                        <a:lnTo>
                          <a:pt x="720" y="1224"/>
                        </a:lnTo>
                        <a:lnTo>
                          <a:pt x="720" y="1222"/>
                        </a:lnTo>
                        <a:lnTo>
                          <a:pt x="720" y="1220"/>
                        </a:lnTo>
                        <a:lnTo>
                          <a:pt x="720" y="1218"/>
                        </a:lnTo>
                        <a:lnTo>
                          <a:pt x="720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4" name="Freeform 36"/>
                  <p:cNvSpPr/>
                  <p:nvPr/>
                </p:nvSpPr>
                <p:spPr bwMode="auto">
                  <a:xfrm>
                    <a:off x="3644" y="1708"/>
                    <a:ext cx="215" cy="411"/>
                  </a:xfrm>
                  <a:custGeom>
                    <a:avLst/>
                    <a:gdLst>
                      <a:gd name="T0" fmla="*/ 0 w 1077"/>
                      <a:gd name="T1" fmla="*/ 1237 h 2464"/>
                      <a:gd name="T2" fmla="*/ 0 w 1077"/>
                      <a:gd name="T3" fmla="*/ 1235 h 2464"/>
                      <a:gd name="T4" fmla="*/ 0 w 1077"/>
                      <a:gd name="T5" fmla="*/ 1233 h 2464"/>
                      <a:gd name="T6" fmla="*/ 6 w 1077"/>
                      <a:gd name="T7" fmla="*/ 1046 h 2464"/>
                      <a:gd name="T8" fmla="*/ 24 w 1077"/>
                      <a:gd name="T9" fmla="*/ 867 h 2464"/>
                      <a:gd name="T10" fmla="*/ 53 w 1077"/>
                      <a:gd name="T11" fmla="*/ 699 h 2464"/>
                      <a:gd name="T12" fmla="*/ 91 w 1077"/>
                      <a:gd name="T13" fmla="*/ 545 h 2464"/>
                      <a:gd name="T14" fmla="*/ 140 w 1077"/>
                      <a:gd name="T15" fmla="*/ 405 h 2464"/>
                      <a:gd name="T16" fmla="*/ 196 w 1077"/>
                      <a:gd name="T17" fmla="*/ 282 h 2464"/>
                      <a:gd name="T18" fmla="*/ 259 w 1077"/>
                      <a:gd name="T19" fmla="*/ 179 h 2464"/>
                      <a:gd name="T20" fmla="*/ 329 w 1077"/>
                      <a:gd name="T21" fmla="*/ 97 h 2464"/>
                      <a:gd name="T22" fmla="*/ 404 w 1077"/>
                      <a:gd name="T23" fmla="*/ 39 h 2464"/>
                      <a:gd name="T24" fmla="*/ 483 w 1077"/>
                      <a:gd name="T25" fmla="*/ 6 h 2464"/>
                      <a:gd name="T26" fmla="*/ 565 w 1077"/>
                      <a:gd name="T27" fmla="*/ 2 h 2464"/>
                      <a:gd name="T28" fmla="*/ 646 w 1077"/>
                      <a:gd name="T29" fmla="*/ 25 h 2464"/>
                      <a:gd name="T30" fmla="*/ 723 w 1077"/>
                      <a:gd name="T31" fmla="*/ 75 h 2464"/>
                      <a:gd name="T32" fmla="*/ 794 w 1077"/>
                      <a:gd name="T33" fmla="*/ 148 h 2464"/>
                      <a:gd name="T34" fmla="*/ 859 w 1077"/>
                      <a:gd name="T35" fmla="*/ 245 h 2464"/>
                      <a:gd name="T36" fmla="*/ 918 w 1077"/>
                      <a:gd name="T37" fmla="*/ 360 h 2464"/>
                      <a:gd name="T38" fmla="*/ 969 w 1077"/>
                      <a:gd name="T39" fmla="*/ 493 h 2464"/>
                      <a:gd name="T40" fmla="*/ 1011 w 1077"/>
                      <a:gd name="T41" fmla="*/ 643 h 2464"/>
                      <a:gd name="T42" fmla="*/ 1043 w 1077"/>
                      <a:gd name="T43" fmla="*/ 806 h 2464"/>
                      <a:gd name="T44" fmla="*/ 1065 w 1077"/>
                      <a:gd name="T45" fmla="*/ 981 h 2464"/>
                      <a:gd name="T46" fmla="*/ 1075 w 1077"/>
                      <a:gd name="T47" fmla="*/ 1166 h 2464"/>
                      <a:gd name="T48" fmla="*/ 1077 w 1077"/>
                      <a:gd name="T49" fmla="*/ 1226 h 2464"/>
                      <a:gd name="T50" fmla="*/ 1077 w 1077"/>
                      <a:gd name="T51" fmla="*/ 1228 h 2464"/>
                      <a:gd name="T52" fmla="*/ 1077 w 1077"/>
                      <a:gd name="T53" fmla="*/ 1230 h 2464"/>
                      <a:gd name="T54" fmla="*/ 1073 w 1077"/>
                      <a:gd name="T55" fmla="*/ 1478 h 2464"/>
                      <a:gd name="T56" fmla="*/ 1055 w 1077"/>
                      <a:gd name="T57" fmla="*/ 1818 h 2464"/>
                      <a:gd name="T58" fmla="*/ 1025 w 1077"/>
                      <a:gd name="T59" fmla="*/ 2102 h 2464"/>
                      <a:gd name="T60" fmla="*/ 1005 w 1077"/>
                      <a:gd name="T61" fmla="*/ 2218 h 2464"/>
                      <a:gd name="T62" fmla="*/ 983 w 1077"/>
                      <a:gd name="T63" fmla="*/ 2314 h 2464"/>
                      <a:gd name="T64" fmla="*/ 959 w 1077"/>
                      <a:gd name="T65" fmla="*/ 2388 h 2464"/>
                      <a:gd name="T66" fmla="*/ 934 w 1077"/>
                      <a:gd name="T67" fmla="*/ 2438 h 2464"/>
                      <a:gd name="T68" fmla="*/ 907 w 1077"/>
                      <a:gd name="T69" fmla="*/ 2462 h 2464"/>
                      <a:gd name="T70" fmla="*/ 879 w 1077"/>
                      <a:gd name="T71" fmla="*/ 2458 h 2464"/>
                      <a:gd name="T72" fmla="*/ 853 w 1077"/>
                      <a:gd name="T73" fmla="*/ 2425 h 2464"/>
                      <a:gd name="T74" fmla="*/ 828 w 1077"/>
                      <a:gd name="T75" fmla="*/ 2367 h 2464"/>
                      <a:gd name="T76" fmla="*/ 805 w 1077"/>
                      <a:gd name="T77" fmla="*/ 2285 h 2464"/>
                      <a:gd name="T78" fmla="*/ 784 w 1077"/>
                      <a:gd name="T79" fmla="*/ 2182 h 2464"/>
                      <a:gd name="T80" fmla="*/ 759 w 1077"/>
                      <a:gd name="T81" fmla="*/ 2014 h 2464"/>
                      <a:gd name="T82" fmla="*/ 732 w 1077"/>
                      <a:gd name="T83" fmla="*/ 1709 h 2464"/>
                      <a:gd name="T84" fmla="*/ 719 w 1077"/>
                      <a:gd name="T85" fmla="*/ 1357 h 2464"/>
                      <a:gd name="T86" fmla="*/ 718 w 1077"/>
                      <a:gd name="T87" fmla="*/ 1227 h 2464"/>
                      <a:gd name="T88" fmla="*/ 718 w 1077"/>
                      <a:gd name="T89" fmla="*/ 1222 h 2464"/>
                      <a:gd name="T90" fmla="*/ 718 w 1077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7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1" y="1171"/>
                        </a:lnTo>
                        <a:lnTo>
                          <a:pt x="2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2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1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6" y="282"/>
                        </a:lnTo>
                        <a:lnTo>
                          <a:pt x="217" y="246"/>
                        </a:lnTo>
                        <a:lnTo>
                          <a:pt x="237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8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7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19" y="15"/>
                        </a:lnTo>
                        <a:lnTo>
                          <a:pt x="646" y="25"/>
                        </a:lnTo>
                        <a:lnTo>
                          <a:pt x="672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59" y="245"/>
                        </a:lnTo>
                        <a:lnTo>
                          <a:pt x="879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4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3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3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7" y="1226"/>
                        </a:lnTo>
                        <a:lnTo>
                          <a:pt x="1077" y="1226"/>
                        </a:lnTo>
                        <a:lnTo>
                          <a:pt x="1077" y="1227"/>
                        </a:lnTo>
                        <a:lnTo>
                          <a:pt x="1077" y="1227"/>
                        </a:lnTo>
                        <a:lnTo>
                          <a:pt x="1077" y="1228"/>
                        </a:lnTo>
                        <a:lnTo>
                          <a:pt x="1077" y="1229"/>
                        </a:lnTo>
                        <a:lnTo>
                          <a:pt x="1077" y="1230"/>
                        </a:lnTo>
                        <a:lnTo>
                          <a:pt x="1077" y="1230"/>
                        </a:lnTo>
                        <a:lnTo>
                          <a:pt x="1077" y="1231"/>
                        </a:lnTo>
                        <a:lnTo>
                          <a:pt x="1077" y="1357"/>
                        </a:lnTo>
                        <a:lnTo>
                          <a:pt x="1073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5" y="1818"/>
                        </a:lnTo>
                        <a:lnTo>
                          <a:pt x="1047" y="1919"/>
                        </a:lnTo>
                        <a:lnTo>
                          <a:pt x="1036" y="2014"/>
                        </a:lnTo>
                        <a:lnTo>
                          <a:pt x="1025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9" y="2252"/>
                        </a:lnTo>
                        <a:lnTo>
                          <a:pt x="992" y="2285"/>
                        </a:lnTo>
                        <a:lnTo>
                          <a:pt x="983" y="2314"/>
                        </a:lnTo>
                        <a:lnTo>
                          <a:pt x="976" y="2342"/>
                        </a:lnTo>
                        <a:lnTo>
                          <a:pt x="967" y="2367"/>
                        </a:lnTo>
                        <a:lnTo>
                          <a:pt x="959" y="2388"/>
                        </a:lnTo>
                        <a:lnTo>
                          <a:pt x="952" y="2407"/>
                        </a:lnTo>
                        <a:lnTo>
                          <a:pt x="943" y="2425"/>
                        </a:lnTo>
                        <a:lnTo>
                          <a:pt x="934" y="2438"/>
                        </a:lnTo>
                        <a:lnTo>
                          <a:pt x="925" y="2449"/>
                        </a:lnTo>
                        <a:lnTo>
                          <a:pt x="917" y="2458"/>
                        </a:lnTo>
                        <a:lnTo>
                          <a:pt x="907" y="2462"/>
                        </a:lnTo>
                        <a:lnTo>
                          <a:pt x="898" y="2464"/>
                        </a:lnTo>
                        <a:lnTo>
                          <a:pt x="889" y="2462"/>
                        </a:lnTo>
                        <a:lnTo>
                          <a:pt x="879" y="2458"/>
                        </a:lnTo>
                        <a:lnTo>
                          <a:pt x="871" y="2449"/>
                        </a:lnTo>
                        <a:lnTo>
                          <a:pt x="861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6" y="2388"/>
                        </a:lnTo>
                        <a:lnTo>
                          <a:pt x="828" y="2367"/>
                        </a:lnTo>
                        <a:lnTo>
                          <a:pt x="820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0" y="2218"/>
                        </a:lnTo>
                        <a:lnTo>
                          <a:pt x="784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49" y="1919"/>
                        </a:lnTo>
                        <a:lnTo>
                          <a:pt x="740" y="1818"/>
                        </a:lnTo>
                        <a:lnTo>
                          <a:pt x="732" y="1709"/>
                        </a:lnTo>
                        <a:lnTo>
                          <a:pt x="726" y="1597"/>
                        </a:lnTo>
                        <a:lnTo>
                          <a:pt x="722" y="1478"/>
                        </a:lnTo>
                        <a:lnTo>
                          <a:pt x="719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" name="Freeform 37"/>
                  <p:cNvSpPr/>
                  <p:nvPr/>
                </p:nvSpPr>
                <p:spPr bwMode="auto">
                  <a:xfrm>
                    <a:off x="3500" y="1708"/>
                    <a:ext cx="215" cy="411"/>
                  </a:xfrm>
                  <a:custGeom>
                    <a:avLst/>
                    <a:gdLst>
                      <a:gd name="T0" fmla="*/ 0 w 1078"/>
                      <a:gd name="T1" fmla="*/ 1237 h 2464"/>
                      <a:gd name="T2" fmla="*/ 0 w 1078"/>
                      <a:gd name="T3" fmla="*/ 1235 h 2464"/>
                      <a:gd name="T4" fmla="*/ 0 w 1078"/>
                      <a:gd name="T5" fmla="*/ 1233 h 2464"/>
                      <a:gd name="T6" fmla="*/ 6 w 1078"/>
                      <a:gd name="T7" fmla="*/ 1046 h 2464"/>
                      <a:gd name="T8" fmla="*/ 24 w 1078"/>
                      <a:gd name="T9" fmla="*/ 867 h 2464"/>
                      <a:gd name="T10" fmla="*/ 53 w 1078"/>
                      <a:gd name="T11" fmla="*/ 699 h 2464"/>
                      <a:gd name="T12" fmla="*/ 92 w 1078"/>
                      <a:gd name="T13" fmla="*/ 545 h 2464"/>
                      <a:gd name="T14" fmla="*/ 140 w 1078"/>
                      <a:gd name="T15" fmla="*/ 405 h 2464"/>
                      <a:gd name="T16" fmla="*/ 197 w 1078"/>
                      <a:gd name="T17" fmla="*/ 282 h 2464"/>
                      <a:gd name="T18" fmla="*/ 259 w 1078"/>
                      <a:gd name="T19" fmla="*/ 179 h 2464"/>
                      <a:gd name="T20" fmla="*/ 329 w 1078"/>
                      <a:gd name="T21" fmla="*/ 97 h 2464"/>
                      <a:gd name="T22" fmla="*/ 404 w 1078"/>
                      <a:gd name="T23" fmla="*/ 39 h 2464"/>
                      <a:gd name="T24" fmla="*/ 483 w 1078"/>
                      <a:gd name="T25" fmla="*/ 6 h 2464"/>
                      <a:gd name="T26" fmla="*/ 565 w 1078"/>
                      <a:gd name="T27" fmla="*/ 2 h 2464"/>
                      <a:gd name="T28" fmla="*/ 646 w 1078"/>
                      <a:gd name="T29" fmla="*/ 25 h 2464"/>
                      <a:gd name="T30" fmla="*/ 723 w 1078"/>
                      <a:gd name="T31" fmla="*/ 75 h 2464"/>
                      <a:gd name="T32" fmla="*/ 794 w 1078"/>
                      <a:gd name="T33" fmla="*/ 148 h 2464"/>
                      <a:gd name="T34" fmla="*/ 859 w 1078"/>
                      <a:gd name="T35" fmla="*/ 245 h 2464"/>
                      <a:gd name="T36" fmla="*/ 918 w 1078"/>
                      <a:gd name="T37" fmla="*/ 360 h 2464"/>
                      <a:gd name="T38" fmla="*/ 969 w 1078"/>
                      <a:gd name="T39" fmla="*/ 493 h 2464"/>
                      <a:gd name="T40" fmla="*/ 1011 w 1078"/>
                      <a:gd name="T41" fmla="*/ 643 h 2464"/>
                      <a:gd name="T42" fmla="*/ 1044 w 1078"/>
                      <a:gd name="T43" fmla="*/ 806 h 2464"/>
                      <a:gd name="T44" fmla="*/ 1065 w 1078"/>
                      <a:gd name="T45" fmla="*/ 981 h 2464"/>
                      <a:gd name="T46" fmla="*/ 1075 w 1078"/>
                      <a:gd name="T47" fmla="*/ 1166 h 2464"/>
                      <a:gd name="T48" fmla="*/ 1078 w 1078"/>
                      <a:gd name="T49" fmla="*/ 1226 h 2464"/>
                      <a:gd name="T50" fmla="*/ 1078 w 1078"/>
                      <a:gd name="T51" fmla="*/ 1228 h 2464"/>
                      <a:gd name="T52" fmla="*/ 1078 w 1078"/>
                      <a:gd name="T53" fmla="*/ 1230 h 2464"/>
                      <a:gd name="T54" fmla="*/ 1074 w 1078"/>
                      <a:gd name="T55" fmla="*/ 1478 h 2464"/>
                      <a:gd name="T56" fmla="*/ 1056 w 1078"/>
                      <a:gd name="T57" fmla="*/ 1818 h 2464"/>
                      <a:gd name="T58" fmla="*/ 1026 w 1078"/>
                      <a:gd name="T59" fmla="*/ 2102 h 2464"/>
                      <a:gd name="T60" fmla="*/ 1005 w 1078"/>
                      <a:gd name="T61" fmla="*/ 2218 h 2464"/>
                      <a:gd name="T62" fmla="*/ 984 w 1078"/>
                      <a:gd name="T63" fmla="*/ 2314 h 2464"/>
                      <a:gd name="T64" fmla="*/ 959 w 1078"/>
                      <a:gd name="T65" fmla="*/ 2388 h 2464"/>
                      <a:gd name="T66" fmla="*/ 934 w 1078"/>
                      <a:gd name="T67" fmla="*/ 2438 h 2464"/>
                      <a:gd name="T68" fmla="*/ 908 w 1078"/>
                      <a:gd name="T69" fmla="*/ 2462 h 2464"/>
                      <a:gd name="T70" fmla="*/ 880 w 1078"/>
                      <a:gd name="T71" fmla="*/ 2458 h 2464"/>
                      <a:gd name="T72" fmla="*/ 853 w 1078"/>
                      <a:gd name="T73" fmla="*/ 2425 h 2464"/>
                      <a:gd name="T74" fmla="*/ 828 w 1078"/>
                      <a:gd name="T75" fmla="*/ 2367 h 2464"/>
                      <a:gd name="T76" fmla="*/ 805 w 1078"/>
                      <a:gd name="T77" fmla="*/ 2285 h 2464"/>
                      <a:gd name="T78" fmla="*/ 785 w 1078"/>
                      <a:gd name="T79" fmla="*/ 2182 h 2464"/>
                      <a:gd name="T80" fmla="*/ 759 w 1078"/>
                      <a:gd name="T81" fmla="*/ 2014 h 2464"/>
                      <a:gd name="T82" fmla="*/ 733 w 1078"/>
                      <a:gd name="T83" fmla="*/ 1709 h 2464"/>
                      <a:gd name="T84" fmla="*/ 720 w 1078"/>
                      <a:gd name="T85" fmla="*/ 1357 h 2464"/>
                      <a:gd name="T86" fmla="*/ 718 w 1078"/>
                      <a:gd name="T87" fmla="*/ 1227 h 2464"/>
                      <a:gd name="T88" fmla="*/ 718 w 1078"/>
                      <a:gd name="T89" fmla="*/ 1222 h 2464"/>
                      <a:gd name="T90" fmla="*/ 718 w 1078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8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0" y="1171"/>
                        </a:lnTo>
                        <a:lnTo>
                          <a:pt x="3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3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9" y="595"/>
                        </a:lnTo>
                        <a:lnTo>
                          <a:pt x="92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7" y="282"/>
                        </a:lnTo>
                        <a:lnTo>
                          <a:pt x="217" y="246"/>
                        </a:lnTo>
                        <a:lnTo>
                          <a:pt x="238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9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7" y="15"/>
                        </a:lnTo>
                        <a:lnTo>
                          <a:pt x="483" y="6"/>
                        </a:lnTo>
                        <a:lnTo>
                          <a:pt x="511" y="2"/>
                        </a:lnTo>
                        <a:lnTo>
                          <a:pt x="538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20" y="15"/>
                        </a:lnTo>
                        <a:lnTo>
                          <a:pt x="646" y="25"/>
                        </a:lnTo>
                        <a:lnTo>
                          <a:pt x="673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59" y="245"/>
                        </a:lnTo>
                        <a:lnTo>
                          <a:pt x="880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7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4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4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4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8" y="1226"/>
                        </a:lnTo>
                        <a:lnTo>
                          <a:pt x="1078" y="1226"/>
                        </a:lnTo>
                        <a:lnTo>
                          <a:pt x="1078" y="1227"/>
                        </a:lnTo>
                        <a:lnTo>
                          <a:pt x="1078" y="1227"/>
                        </a:lnTo>
                        <a:lnTo>
                          <a:pt x="1078" y="1228"/>
                        </a:lnTo>
                        <a:lnTo>
                          <a:pt x="1078" y="1229"/>
                        </a:lnTo>
                        <a:lnTo>
                          <a:pt x="1078" y="1230"/>
                        </a:lnTo>
                        <a:lnTo>
                          <a:pt x="1078" y="1230"/>
                        </a:lnTo>
                        <a:lnTo>
                          <a:pt x="1078" y="1231"/>
                        </a:lnTo>
                        <a:lnTo>
                          <a:pt x="1078" y="1357"/>
                        </a:lnTo>
                        <a:lnTo>
                          <a:pt x="1074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6" y="1818"/>
                        </a:lnTo>
                        <a:lnTo>
                          <a:pt x="1047" y="1919"/>
                        </a:lnTo>
                        <a:lnTo>
                          <a:pt x="1037" y="2014"/>
                        </a:lnTo>
                        <a:lnTo>
                          <a:pt x="1026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9" y="2252"/>
                        </a:lnTo>
                        <a:lnTo>
                          <a:pt x="992" y="2285"/>
                        </a:lnTo>
                        <a:lnTo>
                          <a:pt x="984" y="2314"/>
                        </a:lnTo>
                        <a:lnTo>
                          <a:pt x="976" y="2342"/>
                        </a:lnTo>
                        <a:lnTo>
                          <a:pt x="968" y="2367"/>
                        </a:lnTo>
                        <a:lnTo>
                          <a:pt x="959" y="2388"/>
                        </a:lnTo>
                        <a:lnTo>
                          <a:pt x="952" y="2407"/>
                        </a:lnTo>
                        <a:lnTo>
                          <a:pt x="943" y="2425"/>
                        </a:lnTo>
                        <a:lnTo>
                          <a:pt x="934" y="2438"/>
                        </a:lnTo>
                        <a:lnTo>
                          <a:pt x="926" y="2449"/>
                        </a:lnTo>
                        <a:lnTo>
                          <a:pt x="916" y="2458"/>
                        </a:lnTo>
                        <a:lnTo>
                          <a:pt x="908" y="2462"/>
                        </a:lnTo>
                        <a:lnTo>
                          <a:pt x="898" y="2464"/>
                        </a:lnTo>
                        <a:lnTo>
                          <a:pt x="890" y="2462"/>
                        </a:lnTo>
                        <a:lnTo>
                          <a:pt x="880" y="2458"/>
                        </a:lnTo>
                        <a:lnTo>
                          <a:pt x="871" y="2449"/>
                        </a:lnTo>
                        <a:lnTo>
                          <a:pt x="862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7" y="2388"/>
                        </a:lnTo>
                        <a:lnTo>
                          <a:pt x="828" y="2367"/>
                        </a:lnTo>
                        <a:lnTo>
                          <a:pt x="821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1" y="2218"/>
                        </a:lnTo>
                        <a:lnTo>
                          <a:pt x="785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50" y="1919"/>
                        </a:lnTo>
                        <a:lnTo>
                          <a:pt x="740" y="1818"/>
                        </a:lnTo>
                        <a:lnTo>
                          <a:pt x="733" y="1709"/>
                        </a:lnTo>
                        <a:lnTo>
                          <a:pt x="727" y="1597"/>
                        </a:lnTo>
                        <a:lnTo>
                          <a:pt x="722" y="1478"/>
                        </a:lnTo>
                        <a:lnTo>
                          <a:pt x="720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" name="Freeform 38"/>
                  <p:cNvSpPr/>
                  <p:nvPr/>
                </p:nvSpPr>
                <p:spPr bwMode="auto">
                  <a:xfrm>
                    <a:off x="3356" y="1708"/>
                    <a:ext cx="215" cy="411"/>
                  </a:xfrm>
                  <a:custGeom>
                    <a:avLst/>
                    <a:gdLst>
                      <a:gd name="T0" fmla="*/ 0 w 1077"/>
                      <a:gd name="T1" fmla="*/ 1237 h 2464"/>
                      <a:gd name="T2" fmla="*/ 0 w 1077"/>
                      <a:gd name="T3" fmla="*/ 1235 h 2464"/>
                      <a:gd name="T4" fmla="*/ 0 w 1077"/>
                      <a:gd name="T5" fmla="*/ 1233 h 2464"/>
                      <a:gd name="T6" fmla="*/ 6 w 1077"/>
                      <a:gd name="T7" fmla="*/ 1046 h 2464"/>
                      <a:gd name="T8" fmla="*/ 24 w 1077"/>
                      <a:gd name="T9" fmla="*/ 867 h 2464"/>
                      <a:gd name="T10" fmla="*/ 53 w 1077"/>
                      <a:gd name="T11" fmla="*/ 699 h 2464"/>
                      <a:gd name="T12" fmla="*/ 91 w 1077"/>
                      <a:gd name="T13" fmla="*/ 545 h 2464"/>
                      <a:gd name="T14" fmla="*/ 139 w 1077"/>
                      <a:gd name="T15" fmla="*/ 405 h 2464"/>
                      <a:gd name="T16" fmla="*/ 196 w 1077"/>
                      <a:gd name="T17" fmla="*/ 282 h 2464"/>
                      <a:gd name="T18" fmla="*/ 259 w 1077"/>
                      <a:gd name="T19" fmla="*/ 179 h 2464"/>
                      <a:gd name="T20" fmla="*/ 329 w 1077"/>
                      <a:gd name="T21" fmla="*/ 97 h 2464"/>
                      <a:gd name="T22" fmla="*/ 403 w 1077"/>
                      <a:gd name="T23" fmla="*/ 39 h 2464"/>
                      <a:gd name="T24" fmla="*/ 483 w 1077"/>
                      <a:gd name="T25" fmla="*/ 6 h 2464"/>
                      <a:gd name="T26" fmla="*/ 565 w 1077"/>
                      <a:gd name="T27" fmla="*/ 2 h 2464"/>
                      <a:gd name="T28" fmla="*/ 646 w 1077"/>
                      <a:gd name="T29" fmla="*/ 25 h 2464"/>
                      <a:gd name="T30" fmla="*/ 723 w 1077"/>
                      <a:gd name="T31" fmla="*/ 75 h 2464"/>
                      <a:gd name="T32" fmla="*/ 794 w 1077"/>
                      <a:gd name="T33" fmla="*/ 148 h 2464"/>
                      <a:gd name="T34" fmla="*/ 859 w 1077"/>
                      <a:gd name="T35" fmla="*/ 245 h 2464"/>
                      <a:gd name="T36" fmla="*/ 918 w 1077"/>
                      <a:gd name="T37" fmla="*/ 360 h 2464"/>
                      <a:gd name="T38" fmla="*/ 968 w 1077"/>
                      <a:gd name="T39" fmla="*/ 493 h 2464"/>
                      <a:gd name="T40" fmla="*/ 1011 w 1077"/>
                      <a:gd name="T41" fmla="*/ 643 h 2464"/>
                      <a:gd name="T42" fmla="*/ 1043 w 1077"/>
                      <a:gd name="T43" fmla="*/ 806 h 2464"/>
                      <a:gd name="T44" fmla="*/ 1065 w 1077"/>
                      <a:gd name="T45" fmla="*/ 981 h 2464"/>
                      <a:gd name="T46" fmla="*/ 1075 w 1077"/>
                      <a:gd name="T47" fmla="*/ 1166 h 2464"/>
                      <a:gd name="T48" fmla="*/ 1077 w 1077"/>
                      <a:gd name="T49" fmla="*/ 1226 h 2464"/>
                      <a:gd name="T50" fmla="*/ 1077 w 1077"/>
                      <a:gd name="T51" fmla="*/ 1228 h 2464"/>
                      <a:gd name="T52" fmla="*/ 1077 w 1077"/>
                      <a:gd name="T53" fmla="*/ 1230 h 2464"/>
                      <a:gd name="T54" fmla="*/ 1073 w 1077"/>
                      <a:gd name="T55" fmla="*/ 1478 h 2464"/>
                      <a:gd name="T56" fmla="*/ 1055 w 1077"/>
                      <a:gd name="T57" fmla="*/ 1818 h 2464"/>
                      <a:gd name="T58" fmla="*/ 1025 w 1077"/>
                      <a:gd name="T59" fmla="*/ 2102 h 2464"/>
                      <a:gd name="T60" fmla="*/ 1005 w 1077"/>
                      <a:gd name="T61" fmla="*/ 2218 h 2464"/>
                      <a:gd name="T62" fmla="*/ 983 w 1077"/>
                      <a:gd name="T63" fmla="*/ 2314 h 2464"/>
                      <a:gd name="T64" fmla="*/ 959 w 1077"/>
                      <a:gd name="T65" fmla="*/ 2388 h 2464"/>
                      <a:gd name="T66" fmla="*/ 934 w 1077"/>
                      <a:gd name="T67" fmla="*/ 2438 h 2464"/>
                      <a:gd name="T68" fmla="*/ 907 w 1077"/>
                      <a:gd name="T69" fmla="*/ 2462 h 2464"/>
                      <a:gd name="T70" fmla="*/ 879 w 1077"/>
                      <a:gd name="T71" fmla="*/ 2458 h 2464"/>
                      <a:gd name="T72" fmla="*/ 853 w 1077"/>
                      <a:gd name="T73" fmla="*/ 2425 h 2464"/>
                      <a:gd name="T74" fmla="*/ 827 w 1077"/>
                      <a:gd name="T75" fmla="*/ 2367 h 2464"/>
                      <a:gd name="T76" fmla="*/ 805 w 1077"/>
                      <a:gd name="T77" fmla="*/ 2285 h 2464"/>
                      <a:gd name="T78" fmla="*/ 784 w 1077"/>
                      <a:gd name="T79" fmla="*/ 2182 h 2464"/>
                      <a:gd name="T80" fmla="*/ 759 w 1077"/>
                      <a:gd name="T81" fmla="*/ 2014 h 2464"/>
                      <a:gd name="T82" fmla="*/ 732 w 1077"/>
                      <a:gd name="T83" fmla="*/ 1709 h 2464"/>
                      <a:gd name="T84" fmla="*/ 719 w 1077"/>
                      <a:gd name="T85" fmla="*/ 1357 h 2464"/>
                      <a:gd name="T86" fmla="*/ 718 w 1077"/>
                      <a:gd name="T87" fmla="*/ 1227 h 2464"/>
                      <a:gd name="T88" fmla="*/ 718 w 1077"/>
                      <a:gd name="T89" fmla="*/ 1222 h 2464"/>
                      <a:gd name="T90" fmla="*/ 718 w 1077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7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0" y="1171"/>
                        </a:lnTo>
                        <a:lnTo>
                          <a:pt x="2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2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1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39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6" y="282"/>
                        </a:lnTo>
                        <a:lnTo>
                          <a:pt x="215" y="246"/>
                        </a:lnTo>
                        <a:lnTo>
                          <a:pt x="237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8" y="57"/>
                        </a:lnTo>
                        <a:lnTo>
                          <a:pt x="403" y="39"/>
                        </a:lnTo>
                        <a:lnTo>
                          <a:pt x="430" y="26"/>
                        </a:lnTo>
                        <a:lnTo>
                          <a:pt x="455" y="15"/>
                        </a:lnTo>
                        <a:lnTo>
                          <a:pt x="483" y="6"/>
                        </a:lnTo>
                        <a:lnTo>
                          <a:pt x="509" y="2"/>
                        </a:lnTo>
                        <a:lnTo>
                          <a:pt x="537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19" y="15"/>
                        </a:lnTo>
                        <a:lnTo>
                          <a:pt x="646" y="25"/>
                        </a:lnTo>
                        <a:lnTo>
                          <a:pt x="672" y="39"/>
                        </a:lnTo>
                        <a:lnTo>
                          <a:pt x="697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8" y="210"/>
                        </a:lnTo>
                        <a:lnTo>
                          <a:pt x="859" y="245"/>
                        </a:lnTo>
                        <a:lnTo>
                          <a:pt x="879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8" y="493"/>
                        </a:lnTo>
                        <a:lnTo>
                          <a:pt x="983" y="542"/>
                        </a:lnTo>
                        <a:lnTo>
                          <a:pt x="997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3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3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7" y="1226"/>
                        </a:lnTo>
                        <a:lnTo>
                          <a:pt x="1077" y="1226"/>
                        </a:lnTo>
                        <a:lnTo>
                          <a:pt x="1077" y="1227"/>
                        </a:lnTo>
                        <a:lnTo>
                          <a:pt x="1077" y="1227"/>
                        </a:lnTo>
                        <a:lnTo>
                          <a:pt x="1077" y="1228"/>
                        </a:lnTo>
                        <a:lnTo>
                          <a:pt x="1077" y="1229"/>
                        </a:lnTo>
                        <a:lnTo>
                          <a:pt x="1077" y="1230"/>
                        </a:lnTo>
                        <a:lnTo>
                          <a:pt x="1077" y="1230"/>
                        </a:lnTo>
                        <a:lnTo>
                          <a:pt x="1077" y="1231"/>
                        </a:lnTo>
                        <a:lnTo>
                          <a:pt x="1077" y="1357"/>
                        </a:lnTo>
                        <a:lnTo>
                          <a:pt x="1073" y="1478"/>
                        </a:lnTo>
                        <a:lnTo>
                          <a:pt x="1070" y="1597"/>
                        </a:lnTo>
                        <a:lnTo>
                          <a:pt x="1064" y="1709"/>
                        </a:lnTo>
                        <a:lnTo>
                          <a:pt x="1055" y="1818"/>
                        </a:lnTo>
                        <a:lnTo>
                          <a:pt x="1047" y="1919"/>
                        </a:lnTo>
                        <a:lnTo>
                          <a:pt x="1036" y="2014"/>
                        </a:lnTo>
                        <a:lnTo>
                          <a:pt x="1025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9" y="2252"/>
                        </a:lnTo>
                        <a:lnTo>
                          <a:pt x="990" y="2285"/>
                        </a:lnTo>
                        <a:lnTo>
                          <a:pt x="983" y="2314"/>
                        </a:lnTo>
                        <a:lnTo>
                          <a:pt x="976" y="2342"/>
                        </a:lnTo>
                        <a:lnTo>
                          <a:pt x="967" y="2367"/>
                        </a:lnTo>
                        <a:lnTo>
                          <a:pt x="959" y="2388"/>
                        </a:lnTo>
                        <a:lnTo>
                          <a:pt x="950" y="2407"/>
                        </a:lnTo>
                        <a:lnTo>
                          <a:pt x="942" y="2425"/>
                        </a:lnTo>
                        <a:lnTo>
                          <a:pt x="934" y="2438"/>
                        </a:lnTo>
                        <a:lnTo>
                          <a:pt x="925" y="2449"/>
                        </a:lnTo>
                        <a:lnTo>
                          <a:pt x="915" y="2458"/>
                        </a:lnTo>
                        <a:lnTo>
                          <a:pt x="907" y="2462"/>
                        </a:lnTo>
                        <a:lnTo>
                          <a:pt x="897" y="2464"/>
                        </a:lnTo>
                        <a:lnTo>
                          <a:pt x="889" y="2462"/>
                        </a:lnTo>
                        <a:lnTo>
                          <a:pt x="879" y="2458"/>
                        </a:lnTo>
                        <a:lnTo>
                          <a:pt x="871" y="2449"/>
                        </a:lnTo>
                        <a:lnTo>
                          <a:pt x="861" y="2438"/>
                        </a:lnTo>
                        <a:lnTo>
                          <a:pt x="853" y="2425"/>
                        </a:lnTo>
                        <a:lnTo>
                          <a:pt x="844" y="2407"/>
                        </a:lnTo>
                        <a:lnTo>
                          <a:pt x="836" y="2388"/>
                        </a:lnTo>
                        <a:lnTo>
                          <a:pt x="827" y="2367"/>
                        </a:lnTo>
                        <a:lnTo>
                          <a:pt x="820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7" y="2252"/>
                        </a:lnTo>
                        <a:lnTo>
                          <a:pt x="790" y="2218"/>
                        </a:lnTo>
                        <a:lnTo>
                          <a:pt x="784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49" y="1919"/>
                        </a:lnTo>
                        <a:lnTo>
                          <a:pt x="740" y="1818"/>
                        </a:lnTo>
                        <a:lnTo>
                          <a:pt x="732" y="1709"/>
                        </a:lnTo>
                        <a:lnTo>
                          <a:pt x="726" y="1597"/>
                        </a:lnTo>
                        <a:lnTo>
                          <a:pt x="721" y="1478"/>
                        </a:lnTo>
                        <a:lnTo>
                          <a:pt x="719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" name="Freeform 39"/>
                  <p:cNvSpPr/>
                  <p:nvPr/>
                </p:nvSpPr>
                <p:spPr bwMode="auto">
                  <a:xfrm>
                    <a:off x="3211" y="1708"/>
                    <a:ext cx="216" cy="411"/>
                  </a:xfrm>
                  <a:custGeom>
                    <a:avLst/>
                    <a:gdLst>
                      <a:gd name="T0" fmla="*/ 0 w 1077"/>
                      <a:gd name="T1" fmla="*/ 1237 h 2464"/>
                      <a:gd name="T2" fmla="*/ 0 w 1077"/>
                      <a:gd name="T3" fmla="*/ 1235 h 2464"/>
                      <a:gd name="T4" fmla="*/ 0 w 1077"/>
                      <a:gd name="T5" fmla="*/ 1233 h 2464"/>
                      <a:gd name="T6" fmla="*/ 6 w 1077"/>
                      <a:gd name="T7" fmla="*/ 1046 h 2464"/>
                      <a:gd name="T8" fmla="*/ 24 w 1077"/>
                      <a:gd name="T9" fmla="*/ 867 h 2464"/>
                      <a:gd name="T10" fmla="*/ 53 w 1077"/>
                      <a:gd name="T11" fmla="*/ 699 h 2464"/>
                      <a:gd name="T12" fmla="*/ 92 w 1077"/>
                      <a:gd name="T13" fmla="*/ 545 h 2464"/>
                      <a:gd name="T14" fmla="*/ 140 w 1077"/>
                      <a:gd name="T15" fmla="*/ 405 h 2464"/>
                      <a:gd name="T16" fmla="*/ 196 w 1077"/>
                      <a:gd name="T17" fmla="*/ 282 h 2464"/>
                      <a:gd name="T18" fmla="*/ 259 w 1077"/>
                      <a:gd name="T19" fmla="*/ 179 h 2464"/>
                      <a:gd name="T20" fmla="*/ 329 w 1077"/>
                      <a:gd name="T21" fmla="*/ 97 h 2464"/>
                      <a:gd name="T22" fmla="*/ 404 w 1077"/>
                      <a:gd name="T23" fmla="*/ 39 h 2464"/>
                      <a:gd name="T24" fmla="*/ 483 w 1077"/>
                      <a:gd name="T25" fmla="*/ 6 h 2464"/>
                      <a:gd name="T26" fmla="*/ 565 w 1077"/>
                      <a:gd name="T27" fmla="*/ 2 h 2464"/>
                      <a:gd name="T28" fmla="*/ 646 w 1077"/>
                      <a:gd name="T29" fmla="*/ 25 h 2464"/>
                      <a:gd name="T30" fmla="*/ 723 w 1077"/>
                      <a:gd name="T31" fmla="*/ 75 h 2464"/>
                      <a:gd name="T32" fmla="*/ 794 w 1077"/>
                      <a:gd name="T33" fmla="*/ 148 h 2464"/>
                      <a:gd name="T34" fmla="*/ 859 w 1077"/>
                      <a:gd name="T35" fmla="*/ 245 h 2464"/>
                      <a:gd name="T36" fmla="*/ 918 w 1077"/>
                      <a:gd name="T37" fmla="*/ 360 h 2464"/>
                      <a:gd name="T38" fmla="*/ 969 w 1077"/>
                      <a:gd name="T39" fmla="*/ 493 h 2464"/>
                      <a:gd name="T40" fmla="*/ 1011 w 1077"/>
                      <a:gd name="T41" fmla="*/ 643 h 2464"/>
                      <a:gd name="T42" fmla="*/ 1044 w 1077"/>
                      <a:gd name="T43" fmla="*/ 806 h 2464"/>
                      <a:gd name="T44" fmla="*/ 1065 w 1077"/>
                      <a:gd name="T45" fmla="*/ 981 h 2464"/>
                      <a:gd name="T46" fmla="*/ 1075 w 1077"/>
                      <a:gd name="T47" fmla="*/ 1166 h 2464"/>
                      <a:gd name="T48" fmla="*/ 1077 w 1077"/>
                      <a:gd name="T49" fmla="*/ 1226 h 2464"/>
                      <a:gd name="T50" fmla="*/ 1077 w 1077"/>
                      <a:gd name="T51" fmla="*/ 1228 h 2464"/>
                      <a:gd name="T52" fmla="*/ 1077 w 1077"/>
                      <a:gd name="T53" fmla="*/ 1230 h 2464"/>
                      <a:gd name="T54" fmla="*/ 1074 w 1077"/>
                      <a:gd name="T55" fmla="*/ 1478 h 2464"/>
                      <a:gd name="T56" fmla="*/ 1056 w 1077"/>
                      <a:gd name="T57" fmla="*/ 1818 h 2464"/>
                      <a:gd name="T58" fmla="*/ 1026 w 1077"/>
                      <a:gd name="T59" fmla="*/ 2102 h 2464"/>
                      <a:gd name="T60" fmla="*/ 1005 w 1077"/>
                      <a:gd name="T61" fmla="*/ 2218 h 2464"/>
                      <a:gd name="T62" fmla="*/ 983 w 1077"/>
                      <a:gd name="T63" fmla="*/ 2314 h 2464"/>
                      <a:gd name="T64" fmla="*/ 959 w 1077"/>
                      <a:gd name="T65" fmla="*/ 2388 h 2464"/>
                      <a:gd name="T66" fmla="*/ 934 w 1077"/>
                      <a:gd name="T67" fmla="*/ 2438 h 2464"/>
                      <a:gd name="T68" fmla="*/ 907 w 1077"/>
                      <a:gd name="T69" fmla="*/ 2462 h 2464"/>
                      <a:gd name="T70" fmla="*/ 880 w 1077"/>
                      <a:gd name="T71" fmla="*/ 2458 h 2464"/>
                      <a:gd name="T72" fmla="*/ 853 w 1077"/>
                      <a:gd name="T73" fmla="*/ 2425 h 2464"/>
                      <a:gd name="T74" fmla="*/ 828 w 1077"/>
                      <a:gd name="T75" fmla="*/ 2367 h 2464"/>
                      <a:gd name="T76" fmla="*/ 805 w 1077"/>
                      <a:gd name="T77" fmla="*/ 2285 h 2464"/>
                      <a:gd name="T78" fmla="*/ 783 w 1077"/>
                      <a:gd name="T79" fmla="*/ 2182 h 2464"/>
                      <a:gd name="T80" fmla="*/ 759 w 1077"/>
                      <a:gd name="T81" fmla="*/ 2014 h 2464"/>
                      <a:gd name="T82" fmla="*/ 733 w 1077"/>
                      <a:gd name="T83" fmla="*/ 1709 h 2464"/>
                      <a:gd name="T84" fmla="*/ 719 w 1077"/>
                      <a:gd name="T85" fmla="*/ 1357 h 2464"/>
                      <a:gd name="T86" fmla="*/ 718 w 1077"/>
                      <a:gd name="T87" fmla="*/ 1227 h 2464"/>
                      <a:gd name="T88" fmla="*/ 718 w 1077"/>
                      <a:gd name="T89" fmla="*/ 1222 h 2464"/>
                      <a:gd name="T90" fmla="*/ 718 w 1077"/>
                      <a:gd name="T91" fmla="*/ 1217 h 24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077" h="2464">
                        <a:moveTo>
                          <a:pt x="0" y="1238"/>
                        </a:moveTo>
                        <a:lnTo>
                          <a:pt x="0" y="1238"/>
                        </a:lnTo>
                        <a:lnTo>
                          <a:pt x="0" y="1237"/>
                        </a:lnTo>
                        <a:lnTo>
                          <a:pt x="0" y="1237"/>
                        </a:lnTo>
                        <a:lnTo>
                          <a:pt x="0" y="1236"/>
                        </a:lnTo>
                        <a:lnTo>
                          <a:pt x="0" y="1235"/>
                        </a:lnTo>
                        <a:lnTo>
                          <a:pt x="0" y="1234"/>
                        </a:lnTo>
                        <a:lnTo>
                          <a:pt x="0" y="1234"/>
                        </a:lnTo>
                        <a:lnTo>
                          <a:pt x="0" y="1233"/>
                        </a:lnTo>
                        <a:lnTo>
                          <a:pt x="0" y="1171"/>
                        </a:lnTo>
                        <a:lnTo>
                          <a:pt x="2" y="1107"/>
                        </a:lnTo>
                        <a:lnTo>
                          <a:pt x="6" y="1046"/>
                        </a:lnTo>
                        <a:lnTo>
                          <a:pt x="11" y="986"/>
                        </a:lnTo>
                        <a:lnTo>
                          <a:pt x="17" y="926"/>
                        </a:lnTo>
                        <a:lnTo>
                          <a:pt x="24" y="867"/>
                        </a:lnTo>
                        <a:lnTo>
                          <a:pt x="33" y="810"/>
                        </a:lnTo>
                        <a:lnTo>
                          <a:pt x="42" y="755"/>
                        </a:lnTo>
                        <a:lnTo>
                          <a:pt x="53" y="699"/>
                        </a:lnTo>
                        <a:lnTo>
                          <a:pt x="65" y="646"/>
                        </a:lnTo>
                        <a:lnTo>
                          <a:pt x="78" y="595"/>
                        </a:lnTo>
                        <a:lnTo>
                          <a:pt x="92" y="545"/>
                        </a:lnTo>
                        <a:lnTo>
                          <a:pt x="107" y="496"/>
                        </a:lnTo>
                        <a:lnTo>
                          <a:pt x="123" y="450"/>
                        </a:lnTo>
                        <a:lnTo>
                          <a:pt x="140" y="405"/>
                        </a:lnTo>
                        <a:lnTo>
                          <a:pt x="158" y="362"/>
                        </a:lnTo>
                        <a:lnTo>
                          <a:pt x="176" y="321"/>
                        </a:lnTo>
                        <a:lnTo>
                          <a:pt x="196" y="282"/>
                        </a:lnTo>
                        <a:lnTo>
                          <a:pt x="216" y="246"/>
                        </a:lnTo>
                        <a:lnTo>
                          <a:pt x="237" y="212"/>
                        </a:lnTo>
                        <a:lnTo>
                          <a:pt x="259" y="179"/>
                        </a:lnTo>
                        <a:lnTo>
                          <a:pt x="282" y="150"/>
                        </a:lnTo>
                        <a:lnTo>
                          <a:pt x="305" y="122"/>
                        </a:lnTo>
                        <a:lnTo>
                          <a:pt x="329" y="97"/>
                        </a:lnTo>
                        <a:lnTo>
                          <a:pt x="353" y="76"/>
                        </a:lnTo>
                        <a:lnTo>
                          <a:pt x="378" y="57"/>
                        </a:lnTo>
                        <a:lnTo>
                          <a:pt x="404" y="39"/>
                        </a:lnTo>
                        <a:lnTo>
                          <a:pt x="430" y="26"/>
                        </a:lnTo>
                        <a:lnTo>
                          <a:pt x="456" y="15"/>
                        </a:lnTo>
                        <a:lnTo>
                          <a:pt x="483" y="6"/>
                        </a:lnTo>
                        <a:lnTo>
                          <a:pt x="510" y="2"/>
                        </a:lnTo>
                        <a:lnTo>
                          <a:pt x="537" y="0"/>
                        </a:lnTo>
                        <a:lnTo>
                          <a:pt x="565" y="2"/>
                        </a:lnTo>
                        <a:lnTo>
                          <a:pt x="593" y="6"/>
                        </a:lnTo>
                        <a:lnTo>
                          <a:pt x="619" y="15"/>
                        </a:lnTo>
                        <a:lnTo>
                          <a:pt x="646" y="25"/>
                        </a:lnTo>
                        <a:lnTo>
                          <a:pt x="672" y="39"/>
                        </a:lnTo>
                        <a:lnTo>
                          <a:pt x="698" y="55"/>
                        </a:lnTo>
                        <a:lnTo>
                          <a:pt x="723" y="75"/>
                        </a:lnTo>
                        <a:lnTo>
                          <a:pt x="747" y="96"/>
                        </a:lnTo>
                        <a:lnTo>
                          <a:pt x="771" y="121"/>
                        </a:lnTo>
                        <a:lnTo>
                          <a:pt x="794" y="148"/>
                        </a:lnTo>
                        <a:lnTo>
                          <a:pt x="817" y="178"/>
                        </a:lnTo>
                        <a:lnTo>
                          <a:pt x="839" y="210"/>
                        </a:lnTo>
                        <a:lnTo>
                          <a:pt x="859" y="245"/>
                        </a:lnTo>
                        <a:lnTo>
                          <a:pt x="880" y="280"/>
                        </a:lnTo>
                        <a:lnTo>
                          <a:pt x="899" y="319"/>
                        </a:lnTo>
                        <a:lnTo>
                          <a:pt x="918" y="360"/>
                        </a:lnTo>
                        <a:lnTo>
                          <a:pt x="936" y="402"/>
                        </a:lnTo>
                        <a:lnTo>
                          <a:pt x="953" y="447"/>
                        </a:lnTo>
                        <a:lnTo>
                          <a:pt x="969" y="493"/>
                        </a:lnTo>
                        <a:lnTo>
                          <a:pt x="983" y="542"/>
                        </a:lnTo>
                        <a:lnTo>
                          <a:pt x="998" y="591"/>
                        </a:lnTo>
                        <a:lnTo>
                          <a:pt x="1011" y="643"/>
                        </a:lnTo>
                        <a:lnTo>
                          <a:pt x="1023" y="695"/>
                        </a:lnTo>
                        <a:lnTo>
                          <a:pt x="1034" y="751"/>
                        </a:lnTo>
                        <a:lnTo>
                          <a:pt x="1044" y="806"/>
                        </a:lnTo>
                        <a:lnTo>
                          <a:pt x="1052" y="863"/>
                        </a:lnTo>
                        <a:lnTo>
                          <a:pt x="1059" y="921"/>
                        </a:lnTo>
                        <a:lnTo>
                          <a:pt x="1065" y="981"/>
                        </a:lnTo>
                        <a:lnTo>
                          <a:pt x="1070" y="1042"/>
                        </a:lnTo>
                        <a:lnTo>
                          <a:pt x="1073" y="1103"/>
                        </a:lnTo>
                        <a:lnTo>
                          <a:pt x="1075" y="1166"/>
                        </a:lnTo>
                        <a:lnTo>
                          <a:pt x="1076" y="1229"/>
                        </a:lnTo>
                        <a:lnTo>
                          <a:pt x="1077" y="1226"/>
                        </a:lnTo>
                        <a:lnTo>
                          <a:pt x="1077" y="1226"/>
                        </a:lnTo>
                        <a:lnTo>
                          <a:pt x="1077" y="1227"/>
                        </a:lnTo>
                        <a:lnTo>
                          <a:pt x="1077" y="1227"/>
                        </a:lnTo>
                        <a:lnTo>
                          <a:pt x="1077" y="1228"/>
                        </a:lnTo>
                        <a:lnTo>
                          <a:pt x="1077" y="1229"/>
                        </a:lnTo>
                        <a:lnTo>
                          <a:pt x="1077" y="1230"/>
                        </a:lnTo>
                        <a:lnTo>
                          <a:pt x="1077" y="1230"/>
                        </a:lnTo>
                        <a:lnTo>
                          <a:pt x="1077" y="1231"/>
                        </a:lnTo>
                        <a:lnTo>
                          <a:pt x="1076" y="1357"/>
                        </a:lnTo>
                        <a:lnTo>
                          <a:pt x="1074" y="1478"/>
                        </a:lnTo>
                        <a:lnTo>
                          <a:pt x="1070" y="1597"/>
                        </a:lnTo>
                        <a:lnTo>
                          <a:pt x="1063" y="1709"/>
                        </a:lnTo>
                        <a:lnTo>
                          <a:pt x="1056" y="1818"/>
                        </a:lnTo>
                        <a:lnTo>
                          <a:pt x="1047" y="1919"/>
                        </a:lnTo>
                        <a:lnTo>
                          <a:pt x="1036" y="2014"/>
                        </a:lnTo>
                        <a:lnTo>
                          <a:pt x="1026" y="2102"/>
                        </a:lnTo>
                        <a:lnTo>
                          <a:pt x="1018" y="2143"/>
                        </a:lnTo>
                        <a:lnTo>
                          <a:pt x="1012" y="2182"/>
                        </a:lnTo>
                        <a:lnTo>
                          <a:pt x="1005" y="2218"/>
                        </a:lnTo>
                        <a:lnTo>
                          <a:pt x="998" y="2252"/>
                        </a:lnTo>
                        <a:lnTo>
                          <a:pt x="991" y="2285"/>
                        </a:lnTo>
                        <a:lnTo>
                          <a:pt x="983" y="2314"/>
                        </a:lnTo>
                        <a:lnTo>
                          <a:pt x="976" y="2342"/>
                        </a:lnTo>
                        <a:lnTo>
                          <a:pt x="968" y="2367"/>
                        </a:lnTo>
                        <a:lnTo>
                          <a:pt x="959" y="2388"/>
                        </a:lnTo>
                        <a:lnTo>
                          <a:pt x="951" y="2407"/>
                        </a:lnTo>
                        <a:lnTo>
                          <a:pt x="942" y="2425"/>
                        </a:lnTo>
                        <a:lnTo>
                          <a:pt x="934" y="2438"/>
                        </a:lnTo>
                        <a:lnTo>
                          <a:pt x="926" y="2449"/>
                        </a:lnTo>
                        <a:lnTo>
                          <a:pt x="916" y="2458"/>
                        </a:lnTo>
                        <a:lnTo>
                          <a:pt x="907" y="2462"/>
                        </a:lnTo>
                        <a:lnTo>
                          <a:pt x="898" y="2464"/>
                        </a:lnTo>
                        <a:lnTo>
                          <a:pt x="889" y="2462"/>
                        </a:lnTo>
                        <a:lnTo>
                          <a:pt x="880" y="2458"/>
                        </a:lnTo>
                        <a:lnTo>
                          <a:pt x="870" y="2449"/>
                        </a:lnTo>
                        <a:lnTo>
                          <a:pt x="862" y="2438"/>
                        </a:lnTo>
                        <a:lnTo>
                          <a:pt x="853" y="2425"/>
                        </a:lnTo>
                        <a:lnTo>
                          <a:pt x="845" y="2407"/>
                        </a:lnTo>
                        <a:lnTo>
                          <a:pt x="836" y="2388"/>
                        </a:lnTo>
                        <a:lnTo>
                          <a:pt x="828" y="2367"/>
                        </a:lnTo>
                        <a:lnTo>
                          <a:pt x="821" y="2342"/>
                        </a:lnTo>
                        <a:lnTo>
                          <a:pt x="812" y="2314"/>
                        </a:lnTo>
                        <a:lnTo>
                          <a:pt x="805" y="2285"/>
                        </a:lnTo>
                        <a:lnTo>
                          <a:pt x="798" y="2252"/>
                        </a:lnTo>
                        <a:lnTo>
                          <a:pt x="791" y="2218"/>
                        </a:lnTo>
                        <a:lnTo>
                          <a:pt x="783" y="2182"/>
                        </a:lnTo>
                        <a:lnTo>
                          <a:pt x="777" y="2143"/>
                        </a:lnTo>
                        <a:lnTo>
                          <a:pt x="771" y="2102"/>
                        </a:lnTo>
                        <a:lnTo>
                          <a:pt x="759" y="2014"/>
                        </a:lnTo>
                        <a:lnTo>
                          <a:pt x="750" y="1919"/>
                        </a:lnTo>
                        <a:lnTo>
                          <a:pt x="740" y="1818"/>
                        </a:lnTo>
                        <a:lnTo>
                          <a:pt x="733" y="1709"/>
                        </a:lnTo>
                        <a:lnTo>
                          <a:pt x="727" y="1597"/>
                        </a:lnTo>
                        <a:lnTo>
                          <a:pt x="722" y="1478"/>
                        </a:lnTo>
                        <a:lnTo>
                          <a:pt x="719" y="1357"/>
                        </a:lnTo>
                        <a:lnTo>
                          <a:pt x="718" y="1231"/>
                        </a:lnTo>
                        <a:lnTo>
                          <a:pt x="718" y="1229"/>
                        </a:lnTo>
                        <a:lnTo>
                          <a:pt x="718" y="1227"/>
                        </a:lnTo>
                        <a:lnTo>
                          <a:pt x="718" y="1225"/>
                        </a:lnTo>
                        <a:lnTo>
                          <a:pt x="718" y="1224"/>
                        </a:lnTo>
                        <a:lnTo>
                          <a:pt x="718" y="1222"/>
                        </a:lnTo>
                        <a:lnTo>
                          <a:pt x="718" y="1220"/>
                        </a:lnTo>
                        <a:lnTo>
                          <a:pt x="718" y="1218"/>
                        </a:lnTo>
                        <a:lnTo>
                          <a:pt x="718" y="1217"/>
                        </a:lnTo>
                      </a:path>
                    </a:pathLst>
                  </a:custGeom>
                  <a:noFill/>
                  <a:ln w="38100">
                    <a:solidFill>
                      <a:srgbClr val="1F1A17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Tx/>
                      <a:buFont typeface="Monotype Sorts" pitchFamily="2" charset="2"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19" name="Line 40"/>
              <p:cNvSpPr>
                <a:spLocks noChangeShapeType="1"/>
              </p:cNvSpPr>
              <p:nvPr/>
            </p:nvSpPr>
            <p:spPr bwMode="auto">
              <a:xfrm>
                <a:off x="4344" y="2056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38" name="Object 46"/>
          <p:cNvGraphicFramePr/>
          <p:nvPr/>
        </p:nvGraphicFramePr>
        <p:xfrm>
          <a:off x="6228556" y="1052513"/>
          <a:ext cx="2244090" cy="144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5" name="" r:id="rId1" imgW="749300" imgH="431800" progId="Equation.3">
                  <p:embed/>
                </p:oleObj>
              </mc:Choice>
              <mc:Fallback>
                <p:oleObj name="" r:id="rId1" imgW="749300" imgH="431800" progId="Equation.3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28556" y="1052513"/>
                        <a:ext cx="2244090" cy="1449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013" name="Group 12"/>
          <p:cNvGrpSpPr/>
          <p:nvPr/>
        </p:nvGrpSpPr>
        <p:grpSpPr>
          <a:xfrm>
            <a:off x="755015" y="260350"/>
            <a:ext cx="3676650" cy="394970"/>
            <a:chOff x="867" y="862"/>
            <a:chExt cx="4457" cy="255"/>
          </a:xfrm>
        </p:grpSpPr>
        <p:sp>
          <p:nvSpPr>
            <p:cNvPr id="6350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弹簧的串并联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63503" name="WordArt 14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弹簧的串并联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aphicFrame>
        <p:nvGraphicFramePr>
          <p:cNvPr id="16" name="Object 30"/>
          <p:cNvGraphicFramePr>
            <a:graphicFrameLocks noChangeAspect="1"/>
          </p:cNvGraphicFramePr>
          <p:nvPr/>
        </p:nvGraphicFramePr>
        <p:xfrm>
          <a:off x="6156325" y="4837113"/>
          <a:ext cx="22685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" name="" r:id="rId3" imgW="609600" imgH="190500" progId="Equation.3">
                  <p:embed/>
                </p:oleObj>
              </mc:Choice>
              <mc:Fallback>
                <p:oleObj name="" r:id="rId3" imgW="609600" imgH="190500" progId="Equation.3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6325" y="4837113"/>
                        <a:ext cx="2268538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2198370" y="3376295"/>
            <a:ext cx="4744720" cy="958850"/>
            <a:chOff x="3462" y="5317"/>
            <a:chExt cx="7472" cy="1510"/>
          </a:xfrm>
        </p:grpSpPr>
        <p:sp>
          <p:nvSpPr>
            <p:cNvPr id="29" name="Rectangle 12"/>
            <p:cNvSpPr>
              <a:spLocks noChangeArrowheads="1"/>
            </p:cNvSpPr>
            <p:nvPr/>
          </p:nvSpPr>
          <p:spPr bwMode="auto">
            <a:xfrm>
              <a:off x="5727" y="5940"/>
              <a:ext cx="623" cy="734"/>
            </a:xfrm>
            <a:prstGeom prst="rect">
              <a:avLst/>
            </a:prstGeom>
            <a:solidFill>
              <a:srgbClr val="993366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3462" y="5885"/>
              <a:ext cx="0" cy="86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15"/>
            <p:cNvSpPr>
              <a:spLocks noChangeShapeType="1"/>
            </p:cNvSpPr>
            <p:nvPr/>
          </p:nvSpPr>
          <p:spPr bwMode="auto">
            <a:xfrm>
              <a:off x="3462" y="6767"/>
              <a:ext cx="7473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Rectangle 17"/>
            <p:cNvSpPr>
              <a:spLocks noChangeArrowheads="1"/>
            </p:cNvSpPr>
            <p:nvPr/>
          </p:nvSpPr>
          <p:spPr bwMode="auto">
            <a:xfrm>
              <a:off x="4288" y="5343"/>
              <a:ext cx="780" cy="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1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0" lang="en-US" altLang="zh-CN" sz="2600" b="1" i="0" u="none" strike="noStrike" kern="0" cap="none" spc="0" normalizeH="0" baseline="-2500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600" b="1" i="0" u="none" strike="noStrike" kern="0" cap="none" spc="0" normalizeH="0" baseline="-2500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Rectangle 18"/>
            <p:cNvSpPr>
              <a:spLocks noChangeArrowheads="1"/>
            </p:cNvSpPr>
            <p:nvPr/>
          </p:nvSpPr>
          <p:spPr bwMode="auto">
            <a:xfrm>
              <a:off x="7317" y="5317"/>
              <a:ext cx="720" cy="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1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0" lang="en-US" altLang="zh-CN" sz="2600" b="1" i="0" u="none" strike="noStrike" kern="0" cap="none" spc="0" normalizeH="0" baseline="-2500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2600" b="1" i="0" u="none" strike="noStrike" kern="0" cap="none" spc="0" normalizeH="0" baseline="-2500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3522" y="6080"/>
              <a:ext cx="2268" cy="452"/>
              <a:chOff x="3522" y="6080"/>
              <a:chExt cx="2268" cy="452"/>
            </a:xfrm>
          </p:grpSpPr>
          <p:sp>
            <p:nvSpPr>
              <p:cNvPr id="55" name="Freeform 22"/>
              <p:cNvSpPr/>
              <p:nvPr/>
            </p:nvSpPr>
            <p:spPr bwMode="auto">
              <a:xfrm>
                <a:off x="4902" y="6080"/>
                <a:ext cx="409" cy="453"/>
              </a:xfrm>
              <a:custGeom>
                <a:avLst/>
                <a:gdLst>
                  <a:gd name="T0" fmla="*/ 0 w 1078"/>
                  <a:gd name="T1" fmla="*/ 1237 h 2464"/>
                  <a:gd name="T2" fmla="*/ 0 w 1078"/>
                  <a:gd name="T3" fmla="*/ 1235 h 2464"/>
                  <a:gd name="T4" fmla="*/ 0 w 1078"/>
                  <a:gd name="T5" fmla="*/ 1233 h 2464"/>
                  <a:gd name="T6" fmla="*/ 6 w 1078"/>
                  <a:gd name="T7" fmla="*/ 1046 h 2464"/>
                  <a:gd name="T8" fmla="*/ 24 w 1078"/>
                  <a:gd name="T9" fmla="*/ 867 h 2464"/>
                  <a:gd name="T10" fmla="*/ 53 w 1078"/>
                  <a:gd name="T11" fmla="*/ 699 h 2464"/>
                  <a:gd name="T12" fmla="*/ 93 w 1078"/>
                  <a:gd name="T13" fmla="*/ 545 h 2464"/>
                  <a:gd name="T14" fmla="*/ 141 w 1078"/>
                  <a:gd name="T15" fmla="*/ 405 h 2464"/>
                  <a:gd name="T16" fmla="*/ 196 w 1078"/>
                  <a:gd name="T17" fmla="*/ 282 h 2464"/>
                  <a:gd name="T18" fmla="*/ 260 w 1078"/>
                  <a:gd name="T19" fmla="*/ 179 h 2464"/>
                  <a:gd name="T20" fmla="*/ 329 w 1078"/>
                  <a:gd name="T21" fmla="*/ 97 h 2464"/>
                  <a:gd name="T22" fmla="*/ 403 w 1078"/>
                  <a:gd name="T23" fmla="*/ 39 h 2464"/>
                  <a:gd name="T24" fmla="*/ 483 w 1078"/>
                  <a:gd name="T25" fmla="*/ 6 h 2464"/>
                  <a:gd name="T26" fmla="*/ 566 w 1078"/>
                  <a:gd name="T27" fmla="*/ 2 h 2464"/>
                  <a:gd name="T28" fmla="*/ 647 w 1078"/>
                  <a:gd name="T29" fmla="*/ 25 h 2464"/>
                  <a:gd name="T30" fmla="*/ 723 w 1078"/>
                  <a:gd name="T31" fmla="*/ 75 h 2464"/>
                  <a:gd name="T32" fmla="*/ 794 w 1078"/>
                  <a:gd name="T33" fmla="*/ 148 h 2464"/>
                  <a:gd name="T34" fmla="*/ 860 w 1078"/>
                  <a:gd name="T35" fmla="*/ 245 h 2464"/>
                  <a:gd name="T36" fmla="*/ 918 w 1078"/>
                  <a:gd name="T37" fmla="*/ 360 h 2464"/>
                  <a:gd name="T38" fmla="*/ 969 w 1078"/>
                  <a:gd name="T39" fmla="*/ 493 h 2464"/>
                  <a:gd name="T40" fmla="*/ 1011 w 1078"/>
                  <a:gd name="T41" fmla="*/ 643 h 2464"/>
                  <a:gd name="T42" fmla="*/ 1043 w 1078"/>
                  <a:gd name="T43" fmla="*/ 806 h 2464"/>
                  <a:gd name="T44" fmla="*/ 1065 w 1078"/>
                  <a:gd name="T45" fmla="*/ 981 h 2464"/>
                  <a:gd name="T46" fmla="*/ 1076 w 1078"/>
                  <a:gd name="T47" fmla="*/ 1166 h 2464"/>
                  <a:gd name="T48" fmla="*/ 1078 w 1078"/>
                  <a:gd name="T49" fmla="*/ 1226 h 2464"/>
                  <a:gd name="T50" fmla="*/ 1078 w 1078"/>
                  <a:gd name="T51" fmla="*/ 1228 h 2464"/>
                  <a:gd name="T52" fmla="*/ 1078 w 1078"/>
                  <a:gd name="T53" fmla="*/ 1230 h 2464"/>
                  <a:gd name="T54" fmla="*/ 1075 w 1078"/>
                  <a:gd name="T55" fmla="*/ 1478 h 2464"/>
                  <a:gd name="T56" fmla="*/ 1057 w 1078"/>
                  <a:gd name="T57" fmla="*/ 1818 h 2464"/>
                  <a:gd name="T58" fmla="*/ 1025 w 1078"/>
                  <a:gd name="T59" fmla="*/ 2102 h 2464"/>
                  <a:gd name="T60" fmla="*/ 1006 w 1078"/>
                  <a:gd name="T61" fmla="*/ 2218 h 2464"/>
                  <a:gd name="T62" fmla="*/ 984 w 1078"/>
                  <a:gd name="T63" fmla="*/ 2314 h 2464"/>
                  <a:gd name="T64" fmla="*/ 960 w 1078"/>
                  <a:gd name="T65" fmla="*/ 2388 h 2464"/>
                  <a:gd name="T66" fmla="*/ 935 w 1078"/>
                  <a:gd name="T67" fmla="*/ 2438 h 2464"/>
                  <a:gd name="T68" fmla="*/ 907 w 1078"/>
                  <a:gd name="T69" fmla="*/ 2462 h 2464"/>
                  <a:gd name="T70" fmla="*/ 879 w 1078"/>
                  <a:gd name="T71" fmla="*/ 2458 h 2464"/>
                  <a:gd name="T72" fmla="*/ 853 w 1078"/>
                  <a:gd name="T73" fmla="*/ 2425 h 2464"/>
                  <a:gd name="T74" fmla="*/ 829 w 1078"/>
                  <a:gd name="T75" fmla="*/ 2367 h 2464"/>
                  <a:gd name="T76" fmla="*/ 805 w 1078"/>
                  <a:gd name="T77" fmla="*/ 2285 h 2464"/>
                  <a:gd name="T78" fmla="*/ 784 w 1078"/>
                  <a:gd name="T79" fmla="*/ 2182 h 2464"/>
                  <a:gd name="T80" fmla="*/ 760 w 1078"/>
                  <a:gd name="T81" fmla="*/ 2014 h 2464"/>
                  <a:gd name="T82" fmla="*/ 732 w 1078"/>
                  <a:gd name="T83" fmla="*/ 1709 h 2464"/>
                  <a:gd name="T84" fmla="*/ 719 w 1078"/>
                  <a:gd name="T85" fmla="*/ 1357 h 2464"/>
                  <a:gd name="T86" fmla="*/ 719 w 1078"/>
                  <a:gd name="T87" fmla="*/ 1227 h 2464"/>
                  <a:gd name="T88" fmla="*/ 719 w 1078"/>
                  <a:gd name="T89" fmla="*/ 1222 h 2464"/>
                  <a:gd name="T90" fmla="*/ 719 w 1078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8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3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2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3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1" y="405"/>
                    </a:lnTo>
                    <a:lnTo>
                      <a:pt x="158" y="362"/>
                    </a:lnTo>
                    <a:lnTo>
                      <a:pt x="177" y="321"/>
                    </a:lnTo>
                    <a:lnTo>
                      <a:pt x="196" y="282"/>
                    </a:lnTo>
                    <a:lnTo>
                      <a:pt x="217" y="246"/>
                    </a:lnTo>
                    <a:lnTo>
                      <a:pt x="237" y="212"/>
                    </a:lnTo>
                    <a:lnTo>
                      <a:pt x="260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3" y="39"/>
                    </a:lnTo>
                    <a:lnTo>
                      <a:pt x="430" y="26"/>
                    </a:lnTo>
                    <a:lnTo>
                      <a:pt x="456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8" y="0"/>
                    </a:lnTo>
                    <a:lnTo>
                      <a:pt x="566" y="2"/>
                    </a:lnTo>
                    <a:lnTo>
                      <a:pt x="593" y="6"/>
                    </a:lnTo>
                    <a:lnTo>
                      <a:pt x="620" y="15"/>
                    </a:lnTo>
                    <a:lnTo>
                      <a:pt x="647" y="25"/>
                    </a:lnTo>
                    <a:lnTo>
                      <a:pt x="672" y="39"/>
                    </a:lnTo>
                    <a:lnTo>
                      <a:pt x="697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8" y="210"/>
                    </a:lnTo>
                    <a:lnTo>
                      <a:pt x="860" y="245"/>
                    </a:lnTo>
                    <a:lnTo>
                      <a:pt x="881" y="280"/>
                    </a:lnTo>
                    <a:lnTo>
                      <a:pt x="900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6" y="1166"/>
                    </a:lnTo>
                    <a:lnTo>
                      <a:pt x="1076" y="1229"/>
                    </a:lnTo>
                    <a:lnTo>
                      <a:pt x="1078" y="1226"/>
                    </a:lnTo>
                    <a:lnTo>
                      <a:pt x="1078" y="1226"/>
                    </a:lnTo>
                    <a:lnTo>
                      <a:pt x="1078" y="1227"/>
                    </a:lnTo>
                    <a:lnTo>
                      <a:pt x="1078" y="1227"/>
                    </a:lnTo>
                    <a:lnTo>
                      <a:pt x="1078" y="1228"/>
                    </a:lnTo>
                    <a:lnTo>
                      <a:pt x="1078" y="1229"/>
                    </a:lnTo>
                    <a:lnTo>
                      <a:pt x="1078" y="1230"/>
                    </a:lnTo>
                    <a:lnTo>
                      <a:pt x="1078" y="1230"/>
                    </a:lnTo>
                    <a:lnTo>
                      <a:pt x="1078" y="1231"/>
                    </a:lnTo>
                    <a:lnTo>
                      <a:pt x="1077" y="1357"/>
                    </a:lnTo>
                    <a:lnTo>
                      <a:pt x="1075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7" y="1818"/>
                    </a:lnTo>
                    <a:lnTo>
                      <a:pt x="1047" y="1919"/>
                    </a:lnTo>
                    <a:lnTo>
                      <a:pt x="1037" y="2014"/>
                    </a:lnTo>
                    <a:lnTo>
                      <a:pt x="1025" y="2102"/>
                    </a:lnTo>
                    <a:lnTo>
                      <a:pt x="1019" y="2143"/>
                    </a:lnTo>
                    <a:lnTo>
                      <a:pt x="1012" y="2182"/>
                    </a:lnTo>
                    <a:lnTo>
                      <a:pt x="1006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4" y="2314"/>
                    </a:lnTo>
                    <a:lnTo>
                      <a:pt x="976" y="2342"/>
                    </a:lnTo>
                    <a:lnTo>
                      <a:pt x="969" y="2367"/>
                    </a:lnTo>
                    <a:lnTo>
                      <a:pt x="960" y="2388"/>
                    </a:lnTo>
                    <a:lnTo>
                      <a:pt x="952" y="2407"/>
                    </a:lnTo>
                    <a:lnTo>
                      <a:pt x="943" y="2425"/>
                    </a:lnTo>
                    <a:lnTo>
                      <a:pt x="935" y="2438"/>
                    </a:lnTo>
                    <a:lnTo>
                      <a:pt x="925" y="2449"/>
                    </a:lnTo>
                    <a:lnTo>
                      <a:pt x="917" y="2458"/>
                    </a:lnTo>
                    <a:lnTo>
                      <a:pt x="907" y="2462"/>
                    </a:lnTo>
                    <a:lnTo>
                      <a:pt x="899" y="2464"/>
                    </a:lnTo>
                    <a:lnTo>
                      <a:pt x="889" y="2462"/>
                    </a:lnTo>
                    <a:lnTo>
                      <a:pt x="879" y="2458"/>
                    </a:lnTo>
                    <a:lnTo>
                      <a:pt x="871" y="2449"/>
                    </a:lnTo>
                    <a:lnTo>
                      <a:pt x="863" y="2438"/>
                    </a:lnTo>
                    <a:lnTo>
                      <a:pt x="853" y="2425"/>
                    </a:lnTo>
                    <a:lnTo>
                      <a:pt x="844" y="2407"/>
                    </a:lnTo>
                    <a:lnTo>
                      <a:pt x="837" y="2388"/>
                    </a:lnTo>
                    <a:lnTo>
                      <a:pt x="829" y="2367"/>
                    </a:lnTo>
                    <a:lnTo>
                      <a:pt x="820" y="2342"/>
                    </a:lnTo>
                    <a:lnTo>
                      <a:pt x="813" y="2314"/>
                    </a:lnTo>
                    <a:lnTo>
                      <a:pt x="805" y="2285"/>
                    </a:lnTo>
                    <a:lnTo>
                      <a:pt x="797" y="2252"/>
                    </a:lnTo>
                    <a:lnTo>
                      <a:pt x="791" y="2218"/>
                    </a:lnTo>
                    <a:lnTo>
                      <a:pt x="784" y="2182"/>
                    </a:lnTo>
                    <a:lnTo>
                      <a:pt x="778" y="2143"/>
                    </a:lnTo>
                    <a:lnTo>
                      <a:pt x="771" y="2102"/>
                    </a:lnTo>
                    <a:lnTo>
                      <a:pt x="760" y="2014"/>
                    </a:lnTo>
                    <a:lnTo>
                      <a:pt x="749" y="1919"/>
                    </a:lnTo>
                    <a:lnTo>
                      <a:pt x="741" y="1818"/>
                    </a:lnTo>
                    <a:lnTo>
                      <a:pt x="732" y="1709"/>
                    </a:lnTo>
                    <a:lnTo>
                      <a:pt x="726" y="1597"/>
                    </a:lnTo>
                    <a:lnTo>
                      <a:pt x="723" y="1478"/>
                    </a:lnTo>
                    <a:lnTo>
                      <a:pt x="719" y="1357"/>
                    </a:lnTo>
                    <a:lnTo>
                      <a:pt x="719" y="1231"/>
                    </a:lnTo>
                    <a:lnTo>
                      <a:pt x="719" y="1229"/>
                    </a:lnTo>
                    <a:lnTo>
                      <a:pt x="719" y="1227"/>
                    </a:lnTo>
                    <a:lnTo>
                      <a:pt x="719" y="1225"/>
                    </a:lnTo>
                    <a:lnTo>
                      <a:pt x="719" y="1224"/>
                    </a:lnTo>
                    <a:lnTo>
                      <a:pt x="719" y="1222"/>
                    </a:lnTo>
                    <a:lnTo>
                      <a:pt x="719" y="1220"/>
                    </a:lnTo>
                    <a:lnTo>
                      <a:pt x="719" y="1218"/>
                    </a:lnTo>
                    <a:lnTo>
                      <a:pt x="719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Freeform 24"/>
              <p:cNvSpPr/>
              <p:nvPr/>
            </p:nvSpPr>
            <p:spPr bwMode="auto">
              <a:xfrm>
                <a:off x="5153" y="6080"/>
                <a:ext cx="409" cy="228"/>
              </a:xfrm>
              <a:custGeom>
                <a:avLst/>
                <a:gdLst>
                  <a:gd name="T0" fmla="*/ 0 w 1076"/>
                  <a:gd name="T1" fmla="*/ 1238 h 1238"/>
                  <a:gd name="T2" fmla="*/ 0 w 1076"/>
                  <a:gd name="T3" fmla="*/ 1237 h 1238"/>
                  <a:gd name="T4" fmla="*/ 0 w 1076"/>
                  <a:gd name="T5" fmla="*/ 1235 h 1238"/>
                  <a:gd name="T6" fmla="*/ 0 w 1076"/>
                  <a:gd name="T7" fmla="*/ 1234 h 1238"/>
                  <a:gd name="T8" fmla="*/ 1 w 1076"/>
                  <a:gd name="T9" fmla="*/ 1171 h 1238"/>
                  <a:gd name="T10" fmla="*/ 7 w 1076"/>
                  <a:gd name="T11" fmla="*/ 1046 h 1238"/>
                  <a:gd name="T12" fmla="*/ 17 w 1076"/>
                  <a:gd name="T13" fmla="*/ 926 h 1238"/>
                  <a:gd name="T14" fmla="*/ 34 w 1076"/>
                  <a:gd name="T15" fmla="*/ 810 h 1238"/>
                  <a:gd name="T16" fmla="*/ 53 w 1076"/>
                  <a:gd name="T17" fmla="*/ 699 h 1238"/>
                  <a:gd name="T18" fmla="*/ 78 w 1076"/>
                  <a:gd name="T19" fmla="*/ 595 h 1238"/>
                  <a:gd name="T20" fmla="*/ 107 w 1076"/>
                  <a:gd name="T21" fmla="*/ 496 h 1238"/>
                  <a:gd name="T22" fmla="*/ 141 w 1076"/>
                  <a:gd name="T23" fmla="*/ 405 h 1238"/>
                  <a:gd name="T24" fmla="*/ 177 w 1076"/>
                  <a:gd name="T25" fmla="*/ 321 h 1238"/>
                  <a:gd name="T26" fmla="*/ 217 w 1076"/>
                  <a:gd name="T27" fmla="*/ 246 h 1238"/>
                  <a:gd name="T28" fmla="*/ 260 w 1076"/>
                  <a:gd name="T29" fmla="*/ 179 h 1238"/>
                  <a:gd name="T30" fmla="*/ 306 w 1076"/>
                  <a:gd name="T31" fmla="*/ 122 h 1238"/>
                  <a:gd name="T32" fmla="*/ 354 w 1076"/>
                  <a:gd name="T33" fmla="*/ 76 h 1238"/>
                  <a:gd name="T34" fmla="*/ 404 w 1076"/>
                  <a:gd name="T35" fmla="*/ 39 h 1238"/>
                  <a:gd name="T36" fmla="*/ 457 w 1076"/>
                  <a:gd name="T37" fmla="*/ 15 h 1238"/>
                  <a:gd name="T38" fmla="*/ 511 w 1076"/>
                  <a:gd name="T39" fmla="*/ 2 h 1238"/>
                  <a:gd name="T40" fmla="*/ 566 w 1076"/>
                  <a:gd name="T41" fmla="*/ 2 h 1238"/>
                  <a:gd name="T42" fmla="*/ 621 w 1076"/>
                  <a:gd name="T43" fmla="*/ 15 h 1238"/>
                  <a:gd name="T44" fmla="*/ 672 w 1076"/>
                  <a:gd name="T45" fmla="*/ 39 h 1238"/>
                  <a:gd name="T46" fmla="*/ 723 w 1076"/>
                  <a:gd name="T47" fmla="*/ 75 h 1238"/>
                  <a:gd name="T48" fmla="*/ 771 w 1076"/>
                  <a:gd name="T49" fmla="*/ 121 h 1238"/>
                  <a:gd name="T50" fmla="*/ 817 w 1076"/>
                  <a:gd name="T51" fmla="*/ 178 h 1238"/>
                  <a:gd name="T52" fmla="*/ 860 w 1076"/>
                  <a:gd name="T53" fmla="*/ 245 h 1238"/>
                  <a:gd name="T54" fmla="*/ 900 w 1076"/>
                  <a:gd name="T55" fmla="*/ 319 h 1238"/>
                  <a:gd name="T56" fmla="*/ 936 w 1076"/>
                  <a:gd name="T57" fmla="*/ 402 h 1238"/>
                  <a:gd name="T58" fmla="*/ 969 w 1076"/>
                  <a:gd name="T59" fmla="*/ 493 h 1238"/>
                  <a:gd name="T60" fmla="*/ 999 w 1076"/>
                  <a:gd name="T61" fmla="*/ 591 h 1238"/>
                  <a:gd name="T62" fmla="*/ 1023 w 1076"/>
                  <a:gd name="T63" fmla="*/ 695 h 1238"/>
                  <a:gd name="T64" fmla="*/ 1043 w 1076"/>
                  <a:gd name="T65" fmla="*/ 806 h 1238"/>
                  <a:gd name="T66" fmla="*/ 1059 w 1076"/>
                  <a:gd name="T67" fmla="*/ 921 h 1238"/>
                  <a:gd name="T68" fmla="*/ 1070 w 1076"/>
                  <a:gd name="T69" fmla="*/ 1042 h 1238"/>
                  <a:gd name="T70" fmla="*/ 1076 w 1076"/>
                  <a:gd name="T71" fmla="*/ 1166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76" h="1238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4" y="1107"/>
                    </a:lnTo>
                    <a:lnTo>
                      <a:pt x="7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4" y="810"/>
                    </a:lnTo>
                    <a:lnTo>
                      <a:pt x="43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3" y="545"/>
                    </a:lnTo>
                    <a:lnTo>
                      <a:pt x="107" y="496"/>
                    </a:lnTo>
                    <a:lnTo>
                      <a:pt x="124" y="450"/>
                    </a:lnTo>
                    <a:lnTo>
                      <a:pt x="141" y="405"/>
                    </a:lnTo>
                    <a:lnTo>
                      <a:pt x="158" y="362"/>
                    </a:lnTo>
                    <a:lnTo>
                      <a:pt x="177" y="321"/>
                    </a:lnTo>
                    <a:lnTo>
                      <a:pt x="196" y="282"/>
                    </a:lnTo>
                    <a:lnTo>
                      <a:pt x="217" y="246"/>
                    </a:lnTo>
                    <a:lnTo>
                      <a:pt x="237" y="212"/>
                    </a:lnTo>
                    <a:lnTo>
                      <a:pt x="260" y="179"/>
                    </a:lnTo>
                    <a:lnTo>
                      <a:pt x="282" y="150"/>
                    </a:lnTo>
                    <a:lnTo>
                      <a:pt x="306" y="122"/>
                    </a:lnTo>
                    <a:lnTo>
                      <a:pt x="329" y="97"/>
                    </a:lnTo>
                    <a:lnTo>
                      <a:pt x="354" y="76"/>
                    </a:lnTo>
                    <a:lnTo>
                      <a:pt x="378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9" y="0"/>
                    </a:lnTo>
                    <a:lnTo>
                      <a:pt x="566" y="2"/>
                    </a:lnTo>
                    <a:lnTo>
                      <a:pt x="593" y="6"/>
                    </a:lnTo>
                    <a:lnTo>
                      <a:pt x="621" y="15"/>
                    </a:lnTo>
                    <a:lnTo>
                      <a:pt x="647" y="25"/>
                    </a:lnTo>
                    <a:lnTo>
                      <a:pt x="672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60" y="245"/>
                    </a:lnTo>
                    <a:lnTo>
                      <a:pt x="881" y="280"/>
                    </a:lnTo>
                    <a:lnTo>
                      <a:pt x="900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9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4" y="1103"/>
                    </a:lnTo>
                    <a:lnTo>
                      <a:pt x="1076" y="1166"/>
                    </a:lnTo>
                    <a:lnTo>
                      <a:pt x="1076" y="1229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Freeform 25"/>
              <p:cNvSpPr/>
              <p:nvPr/>
            </p:nvSpPr>
            <p:spPr bwMode="auto">
              <a:xfrm>
                <a:off x="4624" y="6080"/>
                <a:ext cx="413" cy="453"/>
              </a:xfrm>
              <a:custGeom>
                <a:avLst/>
                <a:gdLst>
                  <a:gd name="T0" fmla="*/ 0 w 1079"/>
                  <a:gd name="T1" fmla="*/ 1237 h 2464"/>
                  <a:gd name="T2" fmla="*/ 0 w 1079"/>
                  <a:gd name="T3" fmla="*/ 1235 h 2464"/>
                  <a:gd name="T4" fmla="*/ 0 w 1079"/>
                  <a:gd name="T5" fmla="*/ 1233 h 2464"/>
                  <a:gd name="T6" fmla="*/ 6 w 1079"/>
                  <a:gd name="T7" fmla="*/ 1046 h 2464"/>
                  <a:gd name="T8" fmla="*/ 24 w 1079"/>
                  <a:gd name="T9" fmla="*/ 867 h 2464"/>
                  <a:gd name="T10" fmla="*/ 53 w 1079"/>
                  <a:gd name="T11" fmla="*/ 699 h 2464"/>
                  <a:gd name="T12" fmla="*/ 93 w 1079"/>
                  <a:gd name="T13" fmla="*/ 545 h 2464"/>
                  <a:gd name="T14" fmla="*/ 140 w 1079"/>
                  <a:gd name="T15" fmla="*/ 405 h 2464"/>
                  <a:gd name="T16" fmla="*/ 197 w 1079"/>
                  <a:gd name="T17" fmla="*/ 282 h 2464"/>
                  <a:gd name="T18" fmla="*/ 259 w 1079"/>
                  <a:gd name="T19" fmla="*/ 179 h 2464"/>
                  <a:gd name="T20" fmla="*/ 329 w 1079"/>
                  <a:gd name="T21" fmla="*/ 97 h 2464"/>
                  <a:gd name="T22" fmla="*/ 404 w 1079"/>
                  <a:gd name="T23" fmla="*/ 39 h 2464"/>
                  <a:gd name="T24" fmla="*/ 483 w 1079"/>
                  <a:gd name="T25" fmla="*/ 6 h 2464"/>
                  <a:gd name="T26" fmla="*/ 567 w 1079"/>
                  <a:gd name="T27" fmla="*/ 2 h 2464"/>
                  <a:gd name="T28" fmla="*/ 647 w 1079"/>
                  <a:gd name="T29" fmla="*/ 25 h 2464"/>
                  <a:gd name="T30" fmla="*/ 723 w 1079"/>
                  <a:gd name="T31" fmla="*/ 75 h 2464"/>
                  <a:gd name="T32" fmla="*/ 794 w 1079"/>
                  <a:gd name="T33" fmla="*/ 148 h 2464"/>
                  <a:gd name="T34" fmla="*/ 861 w 1079"/>
                  <a:gd name="T35" fmla="*/ 245 h 2464"/>
                  <a:gd name="T36" fmla="*/ 918 w 1079"/>
                  <a:gd name="T37" fmla="*/ 360 h 2464"/>
                  <a:gd name="T38" fmla="*/ 969 w 1079"/>
                  <a:gd name="T39" fmla="*/ 493 h 2464"/>
                  <a:gd name="T40" fmla="*/ 1011 w 1079"/>
                  <a:gd name="T41" fmla="*/ 643 h 2464"/>
                  <a:gd name="T42" fmla="*/ 1044 w 1079"/>
                  <a:gd name="T43" fmla="*/ 806 h 2464"/>
                  <a:gd name="T44" fmla="*/ 1065 w 1079"/>
                  <a:gd name="T45" fmla="*/ 981 h 2464"/>
                  <a:gd name="T46" fmla="*/ 1076 w 1079"/>
                  <a:gd name="T47" fmla="*/ 1166 h 2464"/>
                  <a:gd name="T48" fmla="*/ 1079 w 1079"/>
                  <a:gd name="T49" fmla="*/ 1226 h 2464"/>
                  <a:gd name="T50" fmla="*/ 1079 w 1079"/>
                  <a:gd name="T51" fmla="*/ 1228 h 2464"/>
                  <a:gd name="T52" fmla="*/ 1079 w 1079"/>
                  <a:gd name="T53" fmla="*/ 1230 h 2464"/>
                  <a:gd name="T54" fmla="*/ 1075 w 1079"/>
                  <a:gd name="T55" fmla="*/ 1478 h 2464"/>
                  <a:gd name="T56" fmla="*/ 1057 w 1079"/>
                  <a:gd name="T57" fmla="*/ 1818 h 2464"/>
                  <a:gd name="T58" fmla="*/ 1026 w 1079"/>
                  <a:gd name="T59" fmla="*/ 2102 h 2464"/>
                  <a:gd name="T60" fmla="*/ 1006 w 1079"/>
                  <a:gd name="T61" fmla="*/ 2218 h 2464"/>
                  <a:gd name="T62" fmla="*/ 985 w 1079"/>
                  <a:gd name="T63" fmla="*/ 2314 h 2464"/>
                  <a:gd name="T64" fmla="*/ 961 w 1079"/>
                  <a:gd name="T65" fmla="*/ 2388 h 2464"/>
                  <a:gd name="T66" fmla="*/ 935 w 1079"/>
                  <a:gd name="T67" fmla="*/ 2438 h 2464"/>
                  <a:gd name="T68" fmla="*/ 908 w 1079"/>
                  <a:gd name="T69" fmla="*/ 2462 h 2464"/>
                  <a:gd name="T70" fmla="*/ 880 w 1079"/>
                  <a:gd name="T71" fmla="*/ 2458 h 2464"/>
                  <a:gd name="T72" fmla="*/ 853 w 1079"/>
                  <a:gd name="T73" fmla="*/ 2425 h 2464"/>
                  <a:gd name="T74" fmla="*/ 829 w 1079"/>
                  <a:gd name="T75" fmla="*/ 2367 h 2464"/>
                  <a:gd name="T76" fmla="*/ 805 w 1079"/>
                  <a:gd name="T77" fmla="*/ 2285 h 2464"/>
                  <a:gd name="T78" fmla="*/ 785 w 1079"/>
                  <a:gd name="T79" fmla="*/ 2182 h 2464"/>
                  <a:gd name="T80" fmla="*/ 761 w 1079"/>
                  <a:gd name="T81" fmla="*/ 2014 h 2464"/>
                  <a:gd name="T82" fmla="*/ 733 w 1079"/>
                  <a:gd name="T83" fmla="*/ 1709 h 2464"/>
                  <a:gd name="T84" fmla="*/ 720 w 1079"/>
                  <a:gd name="T85" fmla="*/ 1357 h 2464"/>
                  <a:gd name="T86" fmla="*/ 720 w 1079"/>
                  <a:gd name="T87" fmla="*/ 1227 h 2464"/>
                  <a:gd name="T88" fmla="*/ 720 w 1079"/>
                  <a:gd name="T89" fmla="*/ 1222 h 2464"/>
                  <a:gd name="T90" fmla="*/ 720 w 1079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9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4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3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9" y="595"/>
                    </a:lnTo>
                    <a:lnTo>
                      <a:pt x="93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7" y="321"/>
                    </a:lnTo>
                    <a:lnTo>
                      <a:pt x="197" y="282"/>
                    </a:lnTo>
                    <a:lnTo>
                      <a:pt x="217" y="246"/>
                    </a:lnTo>
                    <a:lnTo>
                      <a:pt x="238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9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9" y="0"/>
                    </a:lnTo>
                    <a:lnTo>
                      <a:pt x="567" y="2"/>
                    </a:lnTo>
                    <a:lnTo>
                      <a:pt x="593" y="6"/>
                    </a:lnTo>
                    <a:lnTo>
                      <a:pt x="621" y="15"/>
                    </a:lnTo>
                    <a:lnTo>
                      <a:pt x="647" y="25"/>
                    </a:lnTo>
                    <a:lnTo>
                      <a:pt x="673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61" y="245"/>
                    </a:lnTo>
                    <a:lnTo>
                      <a:pt x="880" y="280"/>
                    </a:lnTo>
                    <a:lnTo>
                      <a:pt x="900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5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4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4" y="1103"/>
                    </a:lnTo>
                    <a:lnTo>
                      <a:pt x="1076" y="1166"/>
                    </a:lnTo>
                    <a:lnTo>
                      <a:pt x="1076" y="1229"/>
                    </a:lnTo>
                    <a:lnTo>
                      <a:pt x="1079" y="1226"/>
                    </a:lnTo>
                    <a:lnTo>
                      <a:pt x="1079" y="1226"/>
                    </a:lnTo>
                    <a:lnTo>
                      <a:pt x="1079" y="1227"/>
                    </a:lnTo>
                    <a:lnTo>
                      <a:pt x="1079" y="1227"/>
                    </a:lnTo>
                    <a:lnTo>
                      <a:pt x="1079" y="1228"/>
                    </a:lnTo>
                    <a:lnTo>
                      <a:pt x="1079" y="1229"/>
                    </a:lnTo>
                    <a:lnTo>
                      <a:pt x="1079" y="1230"/>
                    </a:lnTo>
                    <a:lnTo>
                      <a:pt x="1079" y="1230"/>
                    </a:lnTo>
                    <a:lnTo>
                      <a:pt x="1079" y="1231"/>
                    </a:lnTo>
                    <a:lnTo>
                      <a:pt x="1077" y="1357"/>
                    </a:lnTo>
                    <a:lnTo>
                      <a:pt x="1075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7" y="1818"/>
                    </a:lnTo>
                    <a:lnTo>
                      <a:pt x="1047" y="1919"/>
                    </a:lnTo>
                    <a:lnTo>
                      <a:pt x="1038" y="2014"/>
                    </a:lnTo>
                    <a:lnTo>
                      <a:pt x="1026" y="2102"/>
                    </a:lnTo>
                    <a:lnTo>
                      <a:pt x="1020" y="2143"/>
                    </a:lnTo>
                    <a:lnTo>
                      <a:pt x="1012" y="2182"/>
                    </a:lnTo>
                    <a:lnTo>
                      <a:pt x="1006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5" y="2314"/>
                    </a:lnTo>
                    <a:lnTo>
                      <a:pt x="976" y="2342"/>
                    </a:lnTo>
                    <a:lnTo>
                      <a:pt x="969" y="2367"/>
                    </a:lnTo>
                    <a:lnTo>
                      <a:pt x="961" y="2388"/>
                    </a:lnTo>
                    <a:lnTo>
                      <a:pt x="952" y="2407"/>
                    </a:lnTo>
                    <a:lnTo>
                      <a:pt x="944" y="2425"/>
                    </a:lnTo>
                    <a:lnTo>
                      <a:pt x="935" y="2438"/>
                    </a:lnTo>
                    <a:lnTo>
                      <a:pt x="926" y="2449"/>
                    </a:lnTo>
                    <a:lnTo>
                      <a:pt x="917" y="2458"/>
                    </a:lnTo>
                    <a:lnTo>
                      <a:pt x="908" y="2462"/>
                    </a:lnTo>
                    <a:lnTo>
                      <a:pt x="899" y="2464"/>
                    </a:lnTo>
                    <a:lnTo>
                      <a:pt x="889" y="2462"/>
                    </a:lnTo>
                    <a:lnTo>
                      <a:pt x="880" y="2458"/>
                    </a:lnTo>
                    <a:lnTo>
                      <a:pt x="871" y="2449"/>
                    </a:lnTo>
                    <a:lnTo>
                      <a:pt x="863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6" y="2388"/>
                    </a:lnTo>
                    <a:lnTo>
                      <a:pt x="829" y="2367"/>
                    </a:lnTo>
                    <a:lnTo>
                      <a:pt x="821" y="2342"/>
                    </a:lnTo>
                    <a:lnTo>
                      <a:pt x="814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1" y="2218"/>
                    </a:lnTo>
                    <a:lnTo>
                      <a:pt x="785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61" y="2014"/>
                    </a:lnTo>
                    <a:lnTo>
                      <a:pt x="750" y="1919"/>
                    </a:lnTo>
                    <a:lnTo>
                      <a:pt x="741" y="1818"/>
                    </a:lnTo>
                    <a:lnTo>
                      <a:pt x="733" y="1709"/>
                    </a:lnTo>
                    <a:lnTo>
                      <a:pt x="727" y="1597"/>
                    </a:lnTo>
                    <a:lnTo>
                      <a:pt x="723" y="1478"/>
                    </a:lnTo>
                    <a:lnTo>
                      <a:pt x="720" y="1357"/>
                    </a:lnTo>
                    <a:lnTo>
                      <a:pt x="720" y="1231"/>
                    </a:lnTo>
                    <a:lnTo>
                      <a:pt x="720" y="1229"/>
                    </a:lnTo>
                    <a:lnTo>
                      <a:pt x="720" y="1227"/>
                    </a:lnTo>
                    <a:lnTo>
                      <a:pt x="720" y="1225"/>
                    </a:lnTo>
                    <a:lnTo>
                      <a:pt x="720" y="1224"/>
                    </a:lnTo>
                    <a:lnTo>
                      <a:pt x="720" y="1222"/>
                    </a:lnTo>
                    <a:lnTo>
                      <a:pt x="720" y="1220"/>
                    </a:lnTo>
                    <a:lnTo>
                      <a:pt x="720" y="1218"/>
                    </a:lnTo>
                    <a:lnTo>
                      <a:pt x="720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Freeform 26"/>
              <p:cNvSpPr/>
              <p:nvPr/>
            </p:nvSpPr>
            <p:spPr bwMode="auto">
              <a:xfrm>
                <a:off x="4348" y="6080"/>
                <a:ext cx="407" cy="453"/>
              </a:xfrm>
              <a:custGeom>
                <a:avLst/>
                <a:gdLst>
                  <a:gd name="T0" fmla="*/ 0 w 1077"/>
                  <a:gd name="T1" fmla="*/ 1237 h 2464"/>
                  <a:gd name="T2" fmla="*/ 0 w 1077"/>
                  <a:gd name="T3" fmla="*/ 1235 h 2464"/>
                  <a:gd name="T4" fmla="*/ 0 w 1077"/>
                  <a:gd name="T5" fmla="*/ 1233 h 2464"/>
                  <a:gd name="T6" fmla="*/ 6 w 1077"/>
                  <a:gd name="T7" fmla="*/ 1046 h 2464"/>
                  <a:gd name="T8" fmla="*/ 24 w 1077"/>
                  <a:gd name="T9" fmla="*/ 867 h 2464"/>
                  <a:gd name="T10" fmla="*/ 53 w 1077"/>
                  <a:gd name="T11" fmla="*/ 699 h 2464"/>
                  <a:gd name="T12" fmla="*/ 91 w 1077"/>
                  <a:gd name="T13" fmla="*/ 545 h 2464"/>
                  <a:gd name="T14" fmla="*/ 140 w 1077"/>
                  <a:gd name="T15" fmla="*/ 405 h 2464"/>
                  <a:gd name="T16" fmla="*/ 196 w 1077"/>
                  <a:gd name="T17" fmla="*/ 282 h 2464"/>
                  <a:gd name="T18" fmla="*/ 259 w 1077"/>
                  <a:gd name="T19" fmla="*/ 179 h 2464"/>
                  <a:gd name="T20" fmla="*/ 329 w 1077"/>
                  <a:gd name="T21" fmla="*/ 97 h 2464"/>
                  <a:gd name="T22" fmla="*/ 404 w 1077"/>
                  <a:gd name="T23" fmla="*/ 39 h 2464"/>
                  <a:gd name="T24" fmla="*/ 483 w 1077"/>
                  <a:gd name="T25" fmla="*/ 6 h 2464"/>
                  <a:gd name="T26" fmla="*/ 565 w 1077"/>
                  <a:gd name="T27" fmla="*/ 2 h 2464"/>
                  <a:gd name="T28" fmla="*/ 646 w 1077"/>
                  <a:gd name="T29" fmla="*/ 25 h 2464"/>
                  <a:gd name="T30" fmla="*/ 723 w 1077"/>
                  <a:gd name="T31" fmla="*/ 75 h 2464"/>
                  <a:gd name="T32" fmla="*/ 794 w 1077"/>
                  <a:gd name="T33" fmla="*/ 148 h 2464"/>
                  <a:gd name="T34" fmla="*/ 859 w 1077"/>
                  <a:gd name="T35" fmla="*/ 245 h 2464"/>
                  <a:gd name="T36" fmla="*/ 918 w 1077"/>
                  <a:gd name="T37" fmla="*/ 360 h 2464"/>
                  <a:gd name="T38" fmla="*/ 969 w 1077"/>
                  <a:gd name="T39" fmla="*/ 493 h 2464"/>
                  <a:gd name="T40" fmla="*/ 1011 w 1077"/>
                  <a:gd name="T41" fmla="*/ 643 h 2464"/>
                  <a:gd name="T42" fmla="*/ 1043 w 1077"/>
                  <a:gd name="T43" fmla="*/ 806 h 2464"/>
                  <a:gd name="T44" fmla="*/ 1065 w 1077"/>
                  <a:gd name="T45" fmla="*/ 981 h 2464"/>
                  <a:gd name="T46" fmla="*/ 1075 w 1077"/>
                  <a:gd name="T47" fmla="*/ 1166 h 2464"/>
                  <a:gd name="T48" fmla="*/ 1077 w 1077"/>
                  <a:gd name="T49" fmla="*/ 1226 h 2464"/>
                  <a:gd name="T50" fmla="*/ 1077 w 1077"/>
                  <a:gd name="T51" fmla="*/ 1228 h 2464"/>
                  <a:gd name="T52" fmla="*/ 1077 w 1077"/>
                  <a:gd name="T53" fmla="*/ 1230 h 2464"/>
                  <a:gd name="T54" fmla="*/ 1073 w 1077"/>
                  <a:gd name="T55" fmla="*/ 1478 h 2464"/>
                  <a:gd name="T56" fmla="*/ 1055 w 1077"/>
                  <a:gd name="T57" fmla="*/ 1818 h 2464"/>
                  <a:gd name="T58" fmla="*/ 1025 w 1077"/>
                  <a:gd name="T59" fmla="*/ 2102 h 2464"/>
                  <a:gd name="T60" fmla="*/ 1005 w 1077"/>
                  <a:gd name="T61" fmla="*/ 2218 h 2464"/>
                  <a:gd name="T62" fmla="*/ 983 w 1077"/>
                  <a:gd name="T63" fmla="*/ 2314 h 2464"/>
                  <a:gd name="T64" fmla="*/ 959 w 1077"/>
                  <a:gd name="T65" fmla="*/ 2388 h 2464"/>
                  <a:gd name="T66" fmla="*/ 934 w 1077"/>
                  <a:gd name="T67" fmla="*/ 2438 h 2464"/>
                  <a:gd name="T68" fmla="*/ 907 w 1077"/>
                  <a:gd name="T69" fmla="*/ 2462 h 2464"/>
                  <a:gd name="T70" fmla="*/ 879 w 1077"/>
                  <a:gd name="T71" fmla="*/ 2458 h 2464"/>
                  <a:gd name="T72" fmla="*/ 853 w 1077"/>
                  <a:gd name="T73" fmla="*/ 2425 h 2464"/>
                  <a:gd name="T74" fmla="*/ 828 w 1077"/>
                  <a:gd name="T75" fmla="*/ 2367 h 2464"/>
                  <a:gd name="T76" fmla="*/ 805 w 1077"/>
                  <a:gd name="T77" fmla="*/ 2285 h 2464"/>
                  <a:gd name="T78" fmla="*/ 784 w 1077"/>
                  <a:gd name="T79" fmla="*/ 2182 h 2464"/>
                  <a:gd name="T80" fmla="*/ 759 w 1077"/>
                  <a:gd name="T81" fmla="*/ 2014 h 2464"/>
                  <a:gd name="T82" fmla="*/ 732 w 1077"/>
                  <a:gd name="T83" fmla="*/ 1709 h 2464"/>
                  <a:gd name="T84" fmla="*/ 719 w 1077"/>
                  <a:gd name="T85" fmla="*/ 1357 h 2464"/>
                  <a:gd name="T86" fmla="*/ 718 w 1077"/>
                  <a:gd name="T87" fmla="*/ 1227 h 2464"/>
                  <a:gd name="T88" fmla="*/ 718 w 1077"/>
                  <a:gd name="T89" fmla="*/ 1222 h 2464"/>
                  <a:gd name="T90" fmla="*/ 718 w 1077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7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2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2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1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6" y="282"/>
                    </a:lnTo>
                    <a:lnTo>
                      <a:pt x="217" y="246"/>
                    </a:lnTo>
                    <a:lnTo>
                      <a:pt x="237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7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19" y="15"/>
                    </a:lnTo>
                    <a:lnTo>
                      <a:pt x="646" y="25"/>
                    </a:lnTo>
                    <a:lnTo>
                      <a:pt x="672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59" y="245"/>
                    </a:lnTo>
                    <a:lnTo>
                      <a:pt x="879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7" y="1226"/>
                    </a:lnTo>
                    <a:lnTo>
                      <a:pt x="1077" y="1226"/>
                    </a:lnTo>
                    <a:lnTo>
                      <a:pt x="1077" y="1227"/>
                    </a:lnTo>
                    <a:lnTo>
                      <a:pt x="1077" y="1227"/>
                    </a:lnTo>
                    <a:lnTo>
                      <a:pt x="1077" y="1228"/>
                    </a:lnTo>
                    <a:lnTo>
                      <a:pt x="1077" y="1229"/>
                    </a:lnTo>
                    <a:lnTo>
                      <a:pt x="1077" y="1230"/>
                    </a:lnTo>
                    <a:lnTo>
                      <a:pt x="1077" y="1230"/>
                    </a:lnTo>
                    <a:lnTo>
                      <a:pt x="1077" y="1231"/>
                    </a:lnTo>
                    <a:lnTo>
                      <a:pt x="1077" y="1357"/>
                    </a:lnTo>
                    <a:lnTo>
                      <a:pt x="1073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5" y="1818"/>
                    </a:lnTo>
                    <a:lnTo>
                      <a:pt x="1047" y="1919"/>
                    </a:lnTo>
                    <a:lnTo>
                      <a:pt x="1036" y="2014"/>
                    </a:lnTo>
                    <a:lnTo>
                      <a:pt x="1025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3" y="2314"/>
                    </a:lnTo>
                    <a:lnTo>
                      <a:pt x="976" y="2342"/>
                    </a:lnTo>
                    <a:lnTo>
                      <a:pt x="967" y="2367"/>
                    </a:lnTo>
                    <a:lnTo>
                      <a:pt x="959" y="2388"/>
                    </a:lnTo>
                    <a:lnTo>
                      <a:pt x="952" y="2407"/>
                    </a:lnTo>
                    <a:lnTo>
                      <a:pt x="943" y="2425"/>
                    </a:lnTo>
                    <a:lnTo>
                      <a:pt x="934" y="2438"/>
                    </a:lnTo>
                    <a:lnTo>
                      <a:pt x="925" y="2449"/>
                    </a:lnTo>
                    <a:lnTo>
                      <a:pt x="917" y="2458"/>
                    </a:lnTo>
                    <a:lnTo>
                      <a:pt x="907" y="2462"/>
                    </a:lnTo>
                    <a:lnTo>
                      <a:pt x="898" y="2464"/>
                    </a:lnTo>
                    <a:lnTo>
                      <a:pt x="889" y="2462"/>
                    </a:lnTo>
                    <a:lnTo>
                      <a:pt x="879" y="2458"/>
                    </a:lnTo>
                    <a:lnTo>
                      <a:pt x="871" y="2449"/>
                    </a:lnTo>
                    <a:lnTo>
                      <a:pt x="861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6" y="2388"/>
                    </a:lnTo>
                    <a:lnTo>
                      <a:pt x="828" y="2367"/>
                    </a:lnTo>
                    <a:lnTo>
                      <a:pt x="820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0" y="2218"/>
                    </a:lnTo>
                    <a:lnTo>
                      <a:pt x="784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49" y="1919"/>
                    </a:lnTo>
                    <a:lnTo>
                      <a:pt x="740" y="1818"/>
                    </a:lnTo>
                    <a:lnTo>
                      <a:pt x="732" y="1709"/>
                    </a:lnTo>
                    <a:lnTo>
                      <a:pt x="726" y="1597"/>
                    </a:lnTo>
                    <a:lnTo>
                      <a:pt x="722" y="1478"/>
                    </a:lnTo>
                    <a:lnTo>
                      <a:pt x="719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Freeform 27"/>
              <p:cNvSpPr/>
              <p:nvPr/>
            </p:nvSpPr>
            <p:spPr bwMode="auto">
              <a:xfrm>
                <a:off x="4072" y="6080"/>
                <a:ext cx="409" cy="453"/>
              </a:xfrm>
              <a:custGeom>
                <a:avLst/>
                <a:gdLst>
                  <a:gd name="T0" fmla="*/ 0 w 1078"/>
                  <a:gd name="T1" fmla="*/ 1237 h 2464"/>
                  <a:gd name="T2" fmla="*/ 0 w 1078"/>
                  <a:gd name="T3" fmla="*/ 1235 h 2464"/>
                  <a:gd name="T4" fmla="*/ 0 w 1078"/>
                  <a:gd name="T5" fmla="*/ 1233 h 2464"/>
                  <a:gd name="T6" fmla="*/ 6 w 1078"/>
                  <a:gd name="T7" fmla="*/ 1046 h 2464"/>
                  <a:gd name="T8" fmla="*/ 24 w 1078"/>
                  <a:gd name="T9" fmla="*/ 867 h 2464"/>
                  <a:gd name="T10" fmla="*/ 53 w 1078"/>
                  <a:gd name="T11" fmla="*/ 699 h 2464"/>
                  <a:gd name="T12" fmla="*/ 92 w 1078"/>
                  <a:gd name="T13" fmla="*/ 545 h 2464"/>
                  <a:gd name="T14" fmla="*/ 140 w 1078"/>
                  <a:gd name="T15" fmla="*/ 405 h 2464"/>
                  <a:gd name="T16" fmla="*/ 197 w 1078"/>
                  <a:gd name="T17" fmla="*/ 282 h 2464"/>
                  <a:gd name="T18" fmla="*/ 259 w 1078"/>
                  <a:gd name="T19" fmla="*/ 179 h 2464"/>
                  <a:gd name="T20" fmla="*/ 329 w 1078"/>
                  <a:gd name="T21" fmla="*/ 97 h 2464"/>
                  <a:gd name="T22" fmla="*/ 404 w 1078"/>
                  <a:gd name="T23" fmla="*/ 39 h 2464"/>
                  <a:gd name="T24" fmla="*/ 483 w 1078"/>
                  <a:gd name="T25" fmla="*/ 6 h 2464"/>
                  <a:gd name="T26" fmla="*/ 565 w 1078"/>
                  <a:gd name="T27" fmla="*/ 2 h 2464"/>
                  <a:gd name="T28" fmla="*/ 646 w 1078"/>
                  <a:gd name="T29" fmla="*/ 25 h 2464"/>
                  <a:gd name="T30" fmla="*/ 723 w 1078"/>
                  <a:gd name="T31" fmla="*/ 75 h 2464"/>
                  <a:gd name="T32" fmla="*/ 794 w 1078"/>
                  <a:gd name="T33" fmla="*/ 148 h 2464"/>
                  <a:gd name="T34" fmla="*/ 859 w 1078"/>
                  <a:gd name="T35" fmla="*/ 245 h 2464"/>
                  <a:gd name="T36" fmla="*/ 918 w 1078"/>
                  <a:gd name="T37" fmla="*/ 360 h 2464"/>
                  <a:gd name="T38" fmla="*/ 969 w 1078"/>
                  <a:gd name="T39" fmla="*/ 493 h 2464"/>
                  <a:gd name="T40" fmla="*/ 1011 w 1078"/>
                  <a:gd name="T41" fmla="*/ 643 h 2464"/>
                  <a:gd name="T42" fmla="*/ 1044 w 1078"/>
                  <a:gd name="T43" fmla="*/ 806 h 2464"/>
                  <a:gd name="T44" fmla="*/ 1065 w 1078"/>
                  <a:gd name="T45" fmla="*/ 981 h 2464"/>
                  <a:gd name="T46" fmla="*/ 1075 w 1078"/>
                  <a:gd name="T47" fmla="*/ 1166 h 2464"/>
                  <a:gd name="T48" fmla="*/ 1078 w 1078"/>
                  <a:gd name="T49" fmla="*/ 1226 h 2464"/>
                  <a:gd name="T50" fmla="*/ 1078 w 1078"/>
                  <a:gd name="T51" fmla="*/ 1228 h 2464"/>
                  <a:gd name="T52" fmla="*/ 1078 w 1078"/>
                  <a:gd name="T53" fmla="*/ 1230 h 2464"/>
                  <a:gd name="T54" fmla="*/ 1074 w 1078"/>
                  <a:gd name="T55" fmla="*/ 1478 h 2464"/>
                  <a:gd name="T56" fmla="*/ 1056 w 1078"/>
                  <a:gd name="T57" fmla="*/ 1818 h 2464"/>
                  <a:gd name="T58" fmla="*/ 1026 w 1078"/>
                  <a:gd name="T59" fmla="*/ 2102 h 2464"/>
                  <a:gd name="T60" fmla="*/ 1005 w 1078"/>
                  <a:gd name="T61" fmla="*/ 2218 h 2464"/>
                  <a:gd name="T62" fmla="*/ 984 w 1078"/>
                  <a:gd name="T63" fmla="*/ 2314 h 2464"/>
                  <a:gd name="T64" fmla="*/ 959 w 1078"/>
                  <a:gd name="T65" fmla="*/ 2388 h 2464"/>
                  <a:gd name="T66" fmla="*/ 934 w 1078"/>
                  <a:gd name="T67" fmla="*/ 2438 h 2464"/>
                  <a:gd name="T68" fmla="*/ 908 w 1078"/>
                  <a:gd name="T69" fmla="*/ 2462 h 2464"/>
                  <a:gd name="T70" fmla="*/ 880 w 1078"/>
                  <a:gd name="T71" fmla="*/ 2458 h 2464"/>
                  <a:gd name="T72" fmla="*/ 853 w 1078"/>
                  <a:gd name="T73" fmla="*/ 2425 h 2464"/>
                  <a:gd name="T74" fmla="*/ 828 w 1078"/>
                  <a:gd name="T75" fmla="*/ 2367 h 2464"/>
                  <a:gd name="T76" fmla="*/ 805 w 1078"/>
                  <a:gd name="T77" fmla="*/ 2285 h 2464"/>
                  <a:gd name="T78" fmla="*/ 785 w 1078"/>
                  <a:gd name="T79" fmla="*/ 2182 h 2464"/>
                  <a:gd name="T80" fmla="*/ 759 w 1078"/>
                  <a:gd name="T81" fmla="*/ 2014 h 2464"/>
                  <a:gd name="T82" fmla="*/ 733 w 1078"/>
                  <a:gd name="T83" fmla="*/ 1709 h 2464"/>
                  <a:gd name="T84" fmla="*/ 720 w 1078"/>
                  <a:gd name="T85" fmla="*/ 1357 h 2464"/>
                  <a:gd name="T86" fmla="*/ 718 w 1078"/>
                  <a:gd name="T87" fmla="*/ 1227 h 2464"/>
                  <a:gd name="T88" fmla="*/ 718 w 1078"/>
                  <a:gd name="T89" fmla="*/ 1222 h 2464"/>
                  <a:gd name="T90" fmla="*/ 718 w 1078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8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0" y="1171"/>
                    </a:lnTo>
                    <a:lnTo>
                      <a:pt x="3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3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9" y="595"/>
                    </a:lnTo>
                    <a:lnTo>
                      <a:pt x="92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7" y="282"/>
                    </a:lnTo>
                    <a:lnTo>
                      <a:pt x="217" y="246"/>
                    </a:lnTo>
                    <a:lnTo>
                      <a:pt x="238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9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8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20" y="15"/>
                    </a:lnTo>
                    <a:lnTo>
                      <a:pt x="646" y="25"/>
                    </a:lnTo>
                    <a:lnTo>
                      <a:pt x="673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59" y="245"/>
                    </a:lnTo>
                    <a:lnTo>
                      <a:pt x="880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7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4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4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8" y="1226"/>
                    </a:lnTo>
                    <a:lnTo>
                      <a:pt x="1078" y="1226"/>
                    </a:lnTo>
                    <a:lnTo>
                      <a:pt x="1078" y="1227"/>
                    </a:lnTo>
                    <a:lnTo>
                      <a:pt x="1078" y="1227"/>
                    </a:lnTo>
                    <a:lnTo>
                      <a:pt x="1078" y="1228"/>
                    </a:lnTo>
                    <a:lnTo>
                      <a:pt x="1078" y="1229"/>
                    </a:lnTo>
                    <a:lnTo>
                      <a:pt x="1078" y="1230"/>
                    </a:lnTo>
                    <a:lnTo>
                      <a:pt x="1078" y="1230"/>
                    </a:lnTo>
                    <a:lnTo>
                      <a:pt x="1078" y="1231"/>
                    </a:lnTo>
                    <a:lnTo>
                      <a:pt x="1078" y="1357"/>
                    </a:lnTo>
                    <a:lnTo>
                      <a:pt x="1074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6" y="1818"/>
                    </a:lnTo>
                    <a:lnTo>
                      <a:pt x="1047" y="1919"/>
                    </a:lnTo>
                    <a:lnTo>
                      <a:pt x="1037" y="2014"/>
                    </a:lnTo>
                    <a:lnTo>
                      <a:pt x="1026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4" y="2314"/>
                    </a:lnTo>
                    <a:lnTo>
                      <a:pt x="976" y="2342"/>
                    </a:lnTo>
                    <a:lnTo>
                      <a:pt x="968" y="2367"/>
                    </a:lnTo>
                    <a:lnTo>
                      <a:pt x="959" y="2388"/>
                    </a:lnTo>
                    <a:lnTo>
                      <a:pt x="952" y="2407"/>
                    </a:lnTo>
                    <a:lnTo>
                      <a:pt x="943" y="2425"/>
                    </a:lnTo>
                    <a:lnTo>
                      <a:pt x="934" y="2438"/>
                    </a:lnTo>
                    <a:lnTo>
                      <a:pt x="926" y="2449"/>
                    </a:lnTo>
                    <a:lnTo>
                      <a:pt x="916" y="2458"/>
                    </a:lnTo>
                    <a:lnTo>
                      <a:pt x="908" y="2462"/>
                    </a:lnTo>
                    <a:lnTo>
                      <a:pt x="898" y="2464"/>
                    </a:lnTo>
                    <a:lnTo>
                      <a:pt x="890" y="2462"/>
                    </a:lnTo>
                    <a:lnTo>
                      <a:pt x="880" y="2458"/>
                    </a:lnTo>
                    <a:lnTo>
                      <a:pt x="871" y="2449"/>
                    </a:lnTo>
                    <a:lnTo>
                      <a:pt x="862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7" y="2388"/>
                    </a:lnTo>
                    <a:lnTo>
                      <a:pt x="828" y="2367"/>
                    </a:lnTo>
                    <a:lnTo>
                      <a:pt x="821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1" y="2218"/>
                    </a:lnTo>
                    <a:lnTo>
                      <a:pt x="785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50" y="1919"/>
                    </a:lnTo>
                    <a:lnTo>
                      <a:pt x="740" y="1818"/>
                    </a:lnTo>
                    <a:lnTo>
                      <a:pt x="733" y="1709"/>
                    </a:lnTo>
                    <a:lnTo>
                      <a:pt x="727" y="1597"/>
                    </a:lnTo>
                    <a:lnTo>
                      <a:pt x="722" y="1478"/>
                    </a:lnTo>
                    <a:lnTo>
                      <a:pt x="720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28"/>
              <p:cNvSpPr/>
              <p:nvPr/>
            </p:nvSpPr>
            <p:spPr bwMode="auto">
              <a:xfrm>
                <a:off x="3798" y="6080"/>
                <a:ext cx="409" cy="453"/>
              </a:xfrm>
              <a:custGeom>
                <a:avLst/>
                <a:gdLst>
                  <a:gd name="T0" fmla="*/ 0 w 1077"/>
                  <a:gd name="T1" fmla="*/ 1237 h 2464"/>
                  <a:gd name="T2" fmla="*/ 0 w 1077"/>
                  <a:gd name="T3" fmla="*/ 1235 h 2464"/>
                  <a:gd name="T4" fmla="*/ 0 w 1077"/>
                  <a:gd name="T5" fmla="*/ 1233 h 2464"/>
                  <a:gd name="T6" fmla="*/ 6 w 1077"/>
                  <a:gd name="T7" fmla="*/ 1046 h 2464"/>
                  <a:gd name="T8" fmla="*/ 24 w 1077"/>
                  <a:gd name="T9" fmla="*/ 867 h 2464"/>
                  <a:gd name="T10" fmla="*/ 53 w 1077"/>
                  <a:gd name="T11" fmla="*/ 699 h 2464"/>
                  <a:gd name="T12" fmla="*/ 91 w 1077"/>
                  <a:gd name="T13" fmla="*/ 545 h 2464"/>
                  <a:gd name="T14" fmla="*/ 139 w 1077"/>
                  <a:gd name="T15" fmla="*/ 405 h 2464"/>
                  <a:gd name="T16" fmla="*/ 196 w 1077"/>
                  <a:gd name="T17" fmla="*/ 282 h 2464"/>
                  <a:gd name="T18" fmla="*/ 259 w 1077"/>
                  <a:gd name="T19" fmla="*/ 179 h 2464"/>
                  <a:gd name="T20" fmla="*/ 329 w 1077"/>
                  <a:gd name="T21" fmla="*/ 97 h 2464"/>
                  <a:gd name="T22" fmla="*/ 403 w 1077"/>
                  <a:gd name="T23" fmla="*/ 39 h 2464"/>
                  <a:gd name="T24" fmla="*/ 483 w 1077"/>
                  <a:gd name="T25" fmla="*/ 6 h 2464"/>
                  <a:gd name="T26" fmla="*/ 565 w 1077"/>
                  <a:gd name="T27" fmla="*/ 2 h 2464"/>
                  <a:gd name="T28" fmla="*/ 646 w 1077"/>
                  <a:gd name="T29" fmla="*/ 25 h 2464"/>
                  <a:gd name="T30" fmla="*/ 723 w 1077"/>
                  <a:gd name="T31" fmla="*/ 75 h 2464"/>
                  <a:gd name="T32" fmla="*/ 794 w 1077"/>
                  <a:gd name="T33" fmla="*/ 148 h 2464"/>
                  <a:gd name="T34" fmla="*/ 859 w 1077"/>
                  <a:gd name="T35" fmla="*/ 245 h 2464"/>
                  <a:gd name="T36" fmla="*/ 918 w 1077"/>
                  <a:gd name="T37" fmla="*/ 360 h 2464"/>
                  <a:gd name="T38" fmla="*/ 968 w 1077"/>
                  <a:gd name="T39" fmla="*/ 493 h 2464"/>
                  <a:gd name="T40" fmla="*/ 1011 w 1077"/>
                  <a:gd name="T41" fmla="*/ 643 h 2464"/>
                  <a:gd name="T42" fmla="*/ 1043 w 1077"/>
                  <a:gd name="T43" fmla="*/ 806 h 2464"/>
                  <a:gd name="T44" fmla="*/ 1065 w 1077"/>
                  <a:gd name="T45" fmla="*/ 981 h 2464"/>
                  <a:gd name="T46" fmla="*/ 1075 w 1077"/>
                  <a:gd name="T47" fmla="*/ 1166 h 2464"/>
                  <a:gd name="T48" fmla="*/ 1077 w 1077"/>
                  <a:gd name="T49" fmla="*/ 1226 h 2464"/>
                  <a:gd name="T50" fmla="*/ 1077 w 1077"/>
                  <a:gd name="T51" fmla="*/ 1228 h 2464"/>
                  <a:gd name="T52" fmla="*/ 1077 w 1077"/>
                  <a:gd name="T53" fmla="*/ 1230 h 2464"/>
                  <a:gd name="T54" fmla="*/ 1073 w 1077"/>
                  <a:gd name="T55" fmla="*/ 1478 h 2464"/>
                  <a:gd name="T56" fmla="*/ 1055 w 1077"/>
                  <a:gd name="T57" fmla="*/ 1818 h 2464"/>
                  <a:gd name="T58" fmla="*/ 1025 w 1077"/>
                  <a:gd name="T59" fmla="*/ 2102 h 2464"/>
                  <a:gd name="T60" fmla="*/ 1005 w 1077"/>
                  <a:gd name="T61" fmla="*/ 2218 h 2464"/>
                  <a:gd name="T62" fmla="*/ 983 w 1077"/>
                  <a:gd name="T63" fmla="*/ 2314 h 2464"/>
                  <a:gd name="T64" fmla="*/ 959 w 1077"/>
                  <a:gd name="T65" fmla="*/ 2388 h 2464"/>
                  <a:gd name="T66" fmla="*/ 934 w 1077"/>
                  <a:gd name="T67" fmla="*/ 2438 h 2464"/>
                  <a:gd name="T68" fmla="*/ 907 w 1077"/>
                  <a:gd name="T69" fmla="*/ 2462 h 2464"/>
                  <a:gd name="T70" fmla="*/ 879 w 1077"/>
                  <a:gd name="T71" fmla="*/ 2458 h 2464"/>
                  <a:gd name="T72" fmla="*/ 853 w 1077"/>
                  <a:gd name="T73" fmla="*/ 2425 h 2464"/>
                  <a:gd name="T74" fmla="*/ 827 w 1077"/>
                  <a:gd name="T75" fmla="*/ 2367 h 2464"/>
                  <a:gd name="T76" fmla="*/ 805 w 1077"/>
                  <a:gd name="T77" fmla="*/ 2285 h 2464"/>
                  <a:gd name="T78" fmla="*/ 784 w 1077"/>
                  <a:gd name="T79" fmla="*/ 2182 h 2464"/>
                  <a:gd name="T80" fmla="*/ 759 w 1077"/>
                  <a:gd name="T81" fmla="*/ 2014 h 2464"/>
                  <a:gd name="T82" fmla="*/ 732 w 1077"/>
                  <a:gd name="T83" fmla="*/ 1709 h 2464"/>
                  <a:gd name="T84" fmla="*/ 719 w 1077"/>
                  <a:gd name="T85" fmla="*/ 1357 h 2464"/>
                  <a:gd name="T86" fmla="*/ 718 w 1077"/>
                  <a:gd name="T87" fmla="*/ 1227 h 2464"/>
                  <a:gd name="T88" fmla="*/ 718 w 1077"/>
                  <a:gd name="T89" fmla="*/ 1222 h 2464"/>
                  <a:gd name="T90" fmla="*/ 718 w 1077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7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0" y="1171"/>
                    </a:lnTo>
                    <a:lnTo>
                      <a:pt x="2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2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1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39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6" y="282"/>
                    </a:lnTo>
                    <a:lnTo>
                      <a:pt x="215" y="246"/>
                    </a:lnTo>
                    <a:lnTo>
                      <a:pt x="237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3" y="39"/>
                    </a:lnTo>
                    <a:lnTo>
                      <a:pt x="430" y="26"/>
                    </a:lnTo>
                    <a:lnTo>
                      <a:pt x="455" y="15"/>
                    </a:lnTo>
                    <a:lnTo>
                      <a:pt x="483" y="6"/>
                    </a:lnTo>
                    <a:lnTo>
                      <a:pt x="509" y="2"/>
                    </a:lnTo>
                    <a:lnTo>
                      <a:pt x="537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19" y="15"/>
                    </a:lnTo>
                    <a:lnTo>
                      <a:pt x="646" y="25"/>
                    </a:lnTo>
                    <a:lnTo>
                      <a:pt x="672" y="39"/>
                    </a:lnTo>
                    <a:lnTo>
                      <a:pt x="697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8" y="210"/>
                    </a:lnTo>
                    <a:lnTo>
                      <a:pt x="859" y="245"/>
                    </a:lnTo>
                    <a:lnTo>
                      <a:pt x="879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8" y="493"/>
                    </a:lnTo>
                    <a:lnTo>
                      <a:pt x="983" y="542"/>
                    </a:lnTo>
                    <a:lnTo>
                      <a:pt x="997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7" y="1226"/>
                    </a:lnTo>
                    <a:lnTo>
                      <a:pt x="1077" y="1226"/>
                    </a:lnTo>
                    <a:lnTo>
                      <a:pt x="1077" y="1227"/>
                    </a:lnTo>
                    <a:lnTo>
                      <a:pt x="1077" y="1227"/>
                    </a:lnTo>
                    <a:lnTo>
                      <a:pt x="1077" y="1228"/>
                    </a:lnTo>
                    <a:lnTo>
                      <a:pt x="1077" y="1229"/>
                    </a:lnTo>
                    <a:lnTo>
                      <a:pt x="1077" y="1230"/>
                    </a:lnTo>
                    <a:lnTo>
                      <a:pt x="1077" y="1230"/>
                    </a:lnTo>
                    <a:lnTo>
                      <a:pt x="1077" y="1231"/>
                    </a:lnTo>
                    <a:lnTo>
                      <a:pt x="1077" y="1357"/>
                    </a:lnTo>
                    <a:lnTo>
                      <a:pt x="1073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5" y="1818"/>
                    </a:lnTo>
                    <a:lnTo>
                      <a:pt x="1047" y="1919"/>
                    </a:lnTo>
                    <a:lnTo>
                      <a:pt x="1036" y="2014"/>
                    </a:lnTo>
                    <a:lnTo>
                      <a:pt x="1025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9" y="2252"/>
                    </a:lnTo>
                    <a:lnTo>
                      <a:pt x="990" y="2285"/>
                    </a:lnTo>
                    <a:lnTo>
                      <a:pt x="983" y="2314"/>
                    </a:lnTo>
                    <a:lnTo>
                      <a:pt x="976" y="2342"/>
                    </a:lnTo>
                    <a:lnTo>
                      <a:pt x="967" y="2367"/>
                    </a:lnTo>
                    <a:lnTo>
                      <a:pt x="959" y="2388"/>
                    </a:lnTo>
                    <a:lnTo>
                      <a:pt x="950" y="2407"/>
                    </a:lnTo>
                    <a:lnTo>
                      <a:pt x="942" y="2425"/>
                    </a:lnTo>
                    <a:lnTo>
                      <a:pt x="934" y="2438"/>
                    </a:lnTo>
                    <a:lnTo>
                      <a:pt x="925" y="2449"/>
                    </a:lnTo>
                    <a:lnTo>
                      <a:pt x="915" y="2458"/>
                    </a:lnTo>
                    <a:lnTo>
                      <a:pt x="907" y="2462"/>
                    </a:lnTo>
                    <a:lnTo>
                      <a:pt x="897" y="2464"/>
                    </a:lnTo>
                    <a:lnTo>
                      <a:pt x="889" y="2462"/>
                    </a:lnTo>
                    <a:lnTo>
                      <a:pt x="879" y="2458"/>
                    </a:lnTo>
                    <a:lnTo>
                      <a:pt x="871" y="2449"/>
                    </a:lnTo>
                    <a:lnTo>
                      <a:pt x="861" y="2438"/>
                    </a:lnTo>
                    <a:lnTo>
                      <a:pt x="853" y="2425"/>
                    </a:lnTo>
                    <a:lnTo>
                      <a:pt x="844" y="2407"/>
                    </a:lnTo>
                    <a:lnTo>
                      <a:pt x="836" y="2388"/>
                    </a:lnTo>
                    <a:lnTo>
                      <a:pt x="827" y="2367"/>
                    </a:lnTo>
                    <a:lnTo>
                      <a:pt x="820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7" y="2252"/>
                    </a:lnTo>
                    <a:lnTo>
                      <a:pt x="790" y="2218"/>
                    </a:lnTo>
                    <a:lnTo>
                      <a:pt x="784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49" y="1919"/>
                    </a:lnTo>
                    <a:lnTo>
                      <a:pt x="740" y="1818"/>
                    </a:lnTo>
                    <a:lnTo>
                      <a:pt x="732" y="1709"/>
                    </a:lnTo>
                    <a:lnTo>
                      <a:pt x="726" y="1597"/>
                    </a:lnTo>
                    <a:lnTo>
                      <a:pt x="721" y="1478"/>
                    </a:lnTo>
                    <a:lnTo>
                      <a:pt x="719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Freeform 29"/>
              <p:cNvSpPr/>
              <p:nvPr/>
            </p:nvSpPr>
            <p:spPr bwMode="auto">
              <a:xfrm>
                <a:off x="3522" y="6080"/>
                <a:ext cx="409" cy="453"/>
              </a:xfrm>
              <a:custGeom>
                <a:avLst/>
                <a:gdLst>
                  <a:gd name="T0" fmla="*/ 0 w 1077"/>
                  <a:gd name="T1" fmla="*/ 1237 h 2464"/>
                  <a:gd name="T2" fmla="*/ 0 w 1077"/>
                  <a:gd name="T3" fmla="*/ 1235 h 2464"/>
                  <a:gd name="T4" fmla="*/ 0 w 1077"/>
                  <a:gd name="T5" fmla="*/ 1233 h 2464"/>
                  <a:gd name="T6" fmla="*/ 6 w 1077"/>
                  <a:gd name="T7" fmla="*/ 1046 h 2464"/>
                  <a:gd name="T8" fmla="*/ 24 w 1077"/>
                  <a:gd name="T9" fmla="*/ 867 h 2464"/>
                  <a:gd name="T10" fmla="*/ 53 w 1077"/>
                  <a:gd name="T11" fmla="*/ 699 h 2464"/>
                  <a:gd name="T12" fmla="*/ 92 w 1077"/>
                  <a:gd name="T13" fmla="*/ 545 h 2464"/>
                  <a:gd name="T14" fmla="*/ 140 w 1077"/>
                  <a:gd name="T15" fmla="*/ 405 h 2464"/>
                  <a:gd name="T16" fmla="*/ 196 w 1077"/>
                  <a:gd name="T17" fmla="*/ 282 h 2464"/>
                  <a:gd name="T18" fmla="*/ 259 w 1077"/>
                  <a:gd name="T19" fmla="*/ 179 h 2464"/>
                  <a:gd name="T20" fmla="*/ 329 w 1077"/>
                  <a:gd name="T21" fmla="*/ 97 h 2464"/>
                  <a:gd name="T22" fmla="*/ 404 w 1077"/>
                  <a:gd name="T23" fmla="*/ 39 h 2464"/>
                  <a:gd name="T24" fmla="*/ 483 w 1077"/>
                  <a:gd name="T25" fmla="*/ 6 h 2464"/>
                  <a:gd name="T26" fmla="*/ 565 w 1077"/>
                  <a:gd name="T27" fmla="*/ 2 h 2464"/>
                  <a:gd name="T28" fmla="*/ 646 w 1077"/>
                  <a:gd name="T29" fmla="*/ 25 h 2464"/>
                  <a:gd name="T30" fmla="*/ 723 w 1077"/>
                  <a:gd name="T31" fmla="*/ 75 h 2464"/>
                  <a:gd name="T32" fmla="*/ 794 w 1077"/>
                  <a:gd name="T33" fmla="*/ 148 h 2464"/>
                  <a:gd name="T34" fmla="*/ 859 w 1077"/>
                  <a:gd name="T35" fmla="*/ 245 h 2464"/>
                  <a:gd name="T36" fmla="*/ 918 w 1077"/>
                  <a:gd name="T37" fmla="*/ 360 h 2464"/>
                  <a:gd name="T38" fmla="*/ 969 w 1077"/>
                  <a:gd name="T39" fmla="*/ 493 h 2464"/>
                  <a:gd name="T40" fmla="*/ 1011 w 1077"/>
                  <a:gd name="T41" fmla="*/ 643 h 2464"/>
                  <a:gd name="T42" fmla="*/ 1044 w 1077"/>
                  <a:gd name="T43" fmla="*/ 806 h 2464"/>
                  <a:gd name="T44" fmla="*/ 1065 w 1077"/>
                  <a:gd name="T45" fmla="*/ 981 h 2464"/>
                  <a:gd name="T46" fmla="*/ 1075 w 1077"/>
                  <a:gd name="T47" fmla="*/ 1166 h 2464"/>
                  <a:gd name="T48" fmla="*/ 1077 w 1077"/>
                  <a:gd name="T49" fmla="*/ 1226 h 2464"/>
                  <a:gd name="T50" fmla="*/ 1077 w 1077"/>
                  <a:gd name="T51" fmla="*/ 1228 h 2464"/>
                  <a:gd name="T52" fmla="*/ 1077 w 1077"/>
                  <a:gd name="T53" fmla="*/ 1230 h 2464"/>
                  <a:gd name="T54" fmla="*/ 1074 w 1077"/>
                  <a:gd name="T55" fmla="*/ 1478 h 2464"/>
                  <a:gd name="T56" fmla="*/ 1056 w 1077"/>
                  <a:gd name="T57" fmla="*/ 1818 h 2464"/>
                  <a:gd name="T58" fmla="*/ 1026 w 1077"/>
                  <a:gd name="T59" fmla="*/ 2102 h 2464"/>
                  <a:gd name="T60" fmla="*/ 1005 w 1077"/>
                  <a:gd name="T61" fmla="*/ 2218 h 2464"/>
                  <a:gd name="T62" fmla="*/ 983 w 1077"/>
                  <a:gd name="T63" fmla="*/ 2314 h 2464"/>
                  <a:gd name="T64" fmla="*/ 959 w 1077"/>
                  <a:gd name="T65" fmla="*/ 2388 h 2464"/>
                  <a:gd name="T66" fmla="*/ 934 w 1077"/>
                  <a:gd name="T67" fmla="*/ 2438 h 2464"/>
                  <a:gd name="T68" fmla="*/ 907 w 1077"/>
                  <a:gd name="T69" fmla="*/ 2462 h 2464"/>
                  <a:gd name="T70" fmla="*/ 880 w 1077"/>
                  <a:gd name="T71" fmla="*/ 2458 h 2464"/>
                  <a:gd name="T72" fmla="*/ 853 w 1077"/>
                  <a:gd name="T73" fmla="*/ 2425 h 2464"/>
                  <a:gd name="T74" fmla="*/ 828 w 1077"/>
                  <a:gd name="T75" fmla="*/ 2367 h 2464"/>
                  <a:gd name="T76" fmla="*/ 805 w 1077"/>
                  <a:gd name="T77" fmla="*/ 2285 h 2464"/>
                  <a:gd name="T78" fmla="*/ 783 w 1077"/>
                  <a:gd name="T79" fmla="*/ 2182 h 2464"/>
                  <a:gd name="T80" fmla="*/ 759 w 1077"/>
                  <a:gd name="T81" fmla="*/ 2014 h 2464"/>
                  <a:gd name="T82" fmla="*/ 733 w 1077"/>
                  <a:gd name="T83" fmla="*/ 1709 h 2464"/>
                  <a:gd name="T84" fmla="*/ 719 w 1077"/>
                  <a:gd name="T85" fmla="*/ 1357 h 2464"/>
                  <a:gd name="T86" fmla="*/ 718 w 1077"/>
                  <a:gd name="T87" fmla="*/ 1227 h 2464"/>
                  <a:gd name="T88" fmla="*/ 718 w 1077"/>
                  <a:gd name="T89" fmla="*/ 1222 h 2464"/>
                  <a:gd name="T90" fmla="*/ 718 w 1077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7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0" y="1171"/>
                    </a:lnTo>
                    <a:lnTo>
                      <a:pt x="2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3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2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6" y="282"/>
                    </a:lnTo>
                    <a:lnTo>
                      <a:pt x="216" y="246"/>
                    </a:lnTo>
                    <a:lnTo>
                      <a:pt x="237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6" y="15"/>
                    </a:lnTo>
                    <a:lnTo>
                      <a:pt x="483" y="6"/>
                    </a:lnTo>
                    <a:lnTo>
                      <a:pt x="510" y="2"/>
                    </a:lnTo>
                    <a:lnTo>
                      <a:pt x="537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19" y="15"/>
                    </a:lnTo>
                    <a:lnTo>
                      <a:pt x="646" y="25"/>
                    </a:lnTo>
                    <a:lnTo>
                      <a:pt x="672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59" y="245"/>
                    </a:lnTo>
                    <a:lnTo>
                      <a:pt x="880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3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4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7" y="1226"/>
                    </a:lnTo>
                    <a:lnTo>
                      <a:pt x="1077" y="1226"/>
                    </a:lnTo>
                    <a:lnTo>
                      <a:pt x="1077" y="1227"/>
                    </a:lnTo>
                    <a:lnTo>
                      <a:pt x="1077" y="1227"/>
                    </a:lnTo>
                    <a:lnTo>
                      <a:pt x="1077" y="1228"/>
                    </a:lnTo>
                    <a:lnTo>
                      <a:pt x="1077" y="1229"/>
                    </a:lnTo>
                    <a:lnTo>
                      <a:pt x="1077" y="1230"/>
                    </a:lnTo>
                    <a:lnTo>
                      <a:pt x="1077" y="1230"/>
                    </a:lnTo>
                    <a:lnTo>
                      <a:pt x="1077" y="1231"/>
                    </a:lnTo>
                    <a:lnTo>
                      <a:pt x="1076" y="1357"/>
                    </a:lnTo>
                    <a:lnTo>
                      <a:pt x="1074" y="1478"/>
                    </a:lnTo>
                    <a:lnTo>
                      <a:pt x="1070" y="1597"/>
                    </a:lnTo>
                    <a:lnTo>
                      <a:pt x="1063" y="1709"/>
                    </a:lnTo>
                    <a:lnTo>
                      <a:pt x="1056" y="1818"/>
                    </a:lnTo>
                    <a:lnTo>
                      <a:pt x="1047" y="1919"/>
                    </a:lnTo>
                    <a:lnTo>
                      <a:pt x="1036" y="2014"/>
                    </a:lnTo>
                    <a:lnTo>
                      <a:pt x="1026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8" y="2252"/>
                    </a:lnTo>
                    <a:lnTo>
                      <a:pt x="991" y="2285"/>
                    </a:lnTo>
                    <a:lnTo>
                      <a:pt x="983" y="2314"/>
                    </a:lnTo>
                    <a:lnTo>
                      <a:pt x="976" y="2342"/>
                    </a:lnTo>
                    <a:lnTo>
                      <a:pt x="968" y="2367"/>
                    </a:lnTo>
                    <a:lnTo>
                      <a:pt x="959" y="2388"/>
                    </a:lnTo>
                    <a:lnTo>
                      <a:pt x="951" y="2407"/>
                    </a:lnTo>
                    <a:lnTo>
                      <a:pt x="942" y="2425"/>
                    </a:lnTo>
                    <a:lnTo>
                      <a:pt x="934" y="2438"/>
                    </a:lnTo>
                    <a:lnTo>
                      <a:pt x="926" y="2449"/>
                    </a:lnTo>
                    <a:lnTo>
                      <a:pt x="916" y="2458"/>
                    </a:lnTo>
                    <a:lnTo>
                      <a:pt x="907" y="2462"/>
                    </a:lnTo>
                    <a:lnTo>
                      <a:pt x="898" y="2464"/>
                    </a:lnTo>
                    <a:lnTo>
                      <a:pt x="889" y="2462"/>
                    </a:lnTo>
                    <a:lnTo>
                      <a:pt x="880" y="2458"/>
                    </a:lnTo>
                    <a:lnTo>
                      <a:pt x="870" y="2449"/>
                    </a:lnTo>
                    <a:lnTo>
                      <a:pt x="862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6" y="2388"/>
                    </a:lnTo>
                    <a:lnTo>
                      <a:pt x="828" y="2367"/>
                    </a:lnTo>
                    <a:lnTo>
                      <a:pt x="821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1" y="2218"/>
                    </a:lnTo>
                    <a:lnTo>
                      <a:pt x="783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50" y="1919"/>
                    </a:lnTo>
                    <a:lnTo>
                      <a:pt x="740" y="1818"/>
                    </a:lnTo>
                    <a:lnTo>
                      <a:pt x="733" y="1709"/>
                    </a:lnTo>
                    <a:lnTo>
                      <a:pt x="727" y="1597"/>
                    </a:lnTo>
                    <a:lnTo>
                      <a:pt x="722" y="1478"/>
                    </a:lnTo>
                    <a:lnTo>
                      <a:pt x="719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Line 30"/>
              <p:cNvSpPr>
                <a:spLocks noChangeShapeType="1"/>
              </p:cNvSpPr>
              <p:nvPr/>
            </p:nvSpPr>
            <p:spPr bwMode="auto">
              <a:xfrm>
                <a:off x="5562" y="6307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6420" y="6087"/>
              <a:ext cx="2655" cy="568"/>
              <a:chOff x="6905" y="6080"/>
              <a:chExt cx="2655" cy="568"/>
            </a:xfrm>
          </p:grpSpPr>
          <p:sp>
            <p:nvSpPr>
              <p:cNvPr id="65" name="Freeform 32"/>
              <p:cNvSpPr/>
              <p:nvPr/>
            </p:nvSpPr>
            <p:spPr bwMode="auto">
              <a:xfrm>
                <a:off x="8591" y="6080"/>
                <a:ext cx="502" cy="568"/>
              </a:xfrm>
              <a:custGeom>
                <a:avLst/>
                <a:gdLst>
                  <a:gd name="T0" fmla="*/ 0 w 1078"/>
                  <a:gd name="T1" fmla="*/ 1237 h 2464"/>
                  <a:gd name="T2" fmla="*/ 0 w 1078"/>
                  <a:gd name="T3" fmla="*/ 1235 h 2464"/>
                  <a:gd name="T4" fmla="*/ 0 w 1078"/>
                  <a:gd name="T5" fmla="*/ 1233 h 2464"/>
                  <a:gd name="T6" fmla="*/ 6 w 1078"/>
                  <a:gd name="T7" fmla="*/ 1046 h 2464"/>
                  <a:gd name="T8" fmla="*/ 24 w 1078"/>
                  <a:gd name="T9" fmla="*/ 867 h 2464"/>
                  <a:gd name="T10" fmla="*/ 53 w 1078"/>
                  <a:gd name="T11" fmla="*/ 699 h 2464"/>
                  <a:gd name="T12" fmla="*/ 93 w 1078"/>
                  <a:gd name="T13" fmla="*/ 545 h 2464"/>
                  <a:gd name="T14" fmla="*/ 141 w 1078"/>
                  <a:gd name="T15" fmla="*/ 405 h 2464"/>
                  <a:gd name="T16" fmla="*/ 196 w 1078"/>
                  <a:gd name="T17" fmla="*/ 282 h 2464"/>
                  <a:gd name="T18" fmla="*/ 260 w 1078"/>
                  <a:gd name="T19" fmla="*/ 179 h 2464"/>
                  <a:gd name="T20" fmla="*/ 329 w 1078"/>
                  <a:gd name="T21" fmla="*/ 97 h 2464"/>
                  <a:gd name="T22" fmla="*/ 403 w 1078"/>
                  <a:gd name="T23" fmla="*/ 39 h 2464"/>
                  <a:gd name="T24" fmla="*/ 483 w 1078"/>
                  <a:gd name="T25" fmla="*/ 6 h 2464"/>
                  <a:gd name="T26" fmla="*/ 566 w 1078"/>
                  <a:gd name="T27" fmla="*/ 2 h 2464"/>
                  <a:gd name="T28" fmla="*/ 647 w 1078"/>
                  <a:gd name="T29" fmla="*/ 25 h 2464"/>
                  <a:gd name="T30" fmla="*/ 723 w 1078"/>
                  <a:gd name="T31" fmla="*/ 75 h 2464"/>
                  <a:gd name="T32" fmla="*/ 794 w 1078"/>
                  <a:gd name="T33" fmla="*/ 148 h 2464"/>
                  <a:gd name="T34" fmla="*/ 860 w 1078"/>
                  <a:gd name="T35" fmla="*/ 245 h 2464"/>
                  <a:gd name="T36" fmla="*/ 918 w 1078"/>
                  <a:gd name="T37" fmla="*/ 360 h 2464"/>
                  <a:gd name="T38" fmla="*/ 969 w 1078"/>
                  <a:gd name="T39" fmla="*/ 493 h 2464"/>
                  <a:gd name="T40" fmla="*/ 1011 w 1078"/>
                  <a:gd name="T41" fmla="*/ 643 h 2464"/>
                  <a:gd name="T42" fmla="*/ 1043 w 1078"/>
                  <a:gd name="T43" fmla="*/ 806 h 2464"/>
                  <a:gd name="T44" fmla="*/ 1065 w 1078"/>
                  <a:gd name="T45" fmla="*/ 981 h 2464"/>
                  <a:gd name="T46" fmla="*/ 1076 w 1078"/>
                  <a:gd name="T47" fmla="*/ 1166 h 2464"/>
                  <a:gd name="T48" fmla="*/ 1078 w 1078"/>
                  <a:gd name="T49" fmla="*/ 1226 h 2464"/>
                  <a:gd name="T50" fmla="*/ 1078 w 1078"/>
                  <a:gd name="T51" fmla="*/ 1228 h 2464"/>
                  <a:gd name="T52" fmla="*/ 1078 w 1078"/>
                  <a:gd name="T53" fmla="*/ 1230 h 2464"/>
                  <a:gd name="T54" fmla="*/ 1075 w 1078"/>
                  <a:gd name="T55" fmla="*/ 1478 h 2464"/>
                  <a:gd name="T56" fmla="*/ 1057 w 1078"/>
                  <a:gd name="T57" fmla="*/ 1818 h 2464"/>
                  <a:gd name="T58" fmla="*/ 1025 w 1078"/>
                  <a:gd name="T59" fmla="*/ 2102 h 2464"/>
                  <a:gd name="T60" fmla="*/ 1006 w 1078"/>
                  <a:gd name="T61" fmla="*/ 2218 h 2464"/>
                  <a:gd name="T62" fmla="*/ 984 w 1078"/>
                  <a:gd name="T63" fmla="*/ 2314 h 2464"/>
                  <a:gd name="T64" fmla="*/ 960 w 1078"/>
                  <a:gd name="T65" fmla="*/ 2388 h 2464"/>
                  <a:gd name="T66" fmla="*/ 935 w 1078"/>
                  <a:gd name="T67" fmla="*/ 2438 h 2464"/>
                  <a:gd name="T68" fmla="*/ 907 w 1078"/>
                  <a:gd name="T69" fmla="*/ 2462 h 2464"/>
                  <a:gd name="T70" fmla="*/ 879 w 1078"/>
                  <a:gd name="T71" fmla="*/ 2458 h 2464"/>
                  <a:gd name="T72" fmla="*/ 853 w 1078"/>
                  <a:gd name="T73" fmla="*/ 2425 h 2464"/>
                  <a:gd name="T74" fmla="*/ 829 w 1078"/>
                  <a:gd name="T75" fmla="*/ 2367 h 2464"/>
                  <a:gd name="T76" fmla="*/ 805 w 1078"/>
                  <a:gd name="T77" fmla="*/ 2285 h 2464"/>
                  <a:gd name="T78" fmla="*/ 784 w 1078"/>
                  <a:gd name="T79" fmla="*/ 2182 h 2464"/>
                  <a:gd name="T80" fmla="*/ 760 w 1078"/>
                  <a:gd name="T81" fmla="*/ 2014 h 2464"/>
                  <a:gd name="T82" fmla="*/ 732 w 1078"/>
                  <a:gd name="T83" fmla="*/ 1709 h 2464"/>
                  <a:gd name="T84" fmla="*/ 719 w 1078"/>
                  <a:gd name="T85" fmla="*/ 1357 h 2464"/>
                  <a:gd name="T86" fmla="*/ 719 w 1078"/>
                  <a:gd name="T87" fmla="*/ 1227 h 2464"/>
                  <a:gd name="T88" fmla="*/ 719 w 1078"/>
                  <a:gd name="T89" fmla="*/ 1222 h 2464"/>
                  <a:gd name="T90" fmla="*/ 719 w 1078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8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3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2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3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1" y="405"/>
                    </a:lnTo>
                    <a:lnTo>
                      <a:pt x="158" y="362"/>
                    </a:lnTo>
                    <a:lnTo>
                      <a:pt x="177" y="321"/>
                    </a:lnTo>
                    <a:lnTo>
                      <a:pt x="196" y="282"/>
                    </a:lnTo>
                    <a:lnTo>
                      <a:pt x="217" y="246"/>
                    </a:lnTo>
                    <a:lnTo>
                      <a:pt x="237" y="212"/>
                    </a:lnTo>
                    <a:lnTo>
                      <a:pt x="260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3" y="39"/>
                    </a:lnTo>
                    <a:lnTo>
                      <a:pt x="430" y="26"/>
                    </a:lnTo>
                    <a:lnTo>
                      <a:pt x="456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8" y="0"/>
                    </a:lnTo>
                    <a:lnTo>
                      <a:pt x="566" y="2"/>
                    </a:lnTo>
                    <a:lnTo>
                      <a:pt x="593" y="6"/>
                    </a:lnTo>
                    <a:lnTo>
                      <a:pt x="620" y="15"/>
                    </a:lnTo>
                    <a:lnTo>
                      <a:pt x="647" y="25"/>
                    </a:lnTo>
                    <a:lnTo>
                      <a:pt x="672" y="39"/>
                    </a:lnTo>
                    <a:lnTo>
                      <a:pt x="697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8" y="210"/>
                    </a:lnTo>
                    <a:lnTo>
                      <a:pt x="860" y="245"/>
                    </a:lnTo>
                    <a:lnTo>
                      <a:pt x="881" y="280"/>
                    </a:lnTo>
                    <a:lnTo>
                      <a:pt x="900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6" y="1166"/>
                    </a:lnTo>
                    <a:lnTo>
                      <a:pt x="1076" y="1229"/>
                    </a:lnTo>
                    <a:lnTo>
                      <a:pt x="1078" y="1226"/>
                    </a:lnTo>
                    <a:lnTo>
                      <a:pt x="1078" y="1226"/>
                    </a:lnTo>
                    <a:lnTo>
                      <a:pt x="1078" y="1227"/>
                    </a:lnTo>
                    <a:lnTo>
                      <a:pt x="1078" y="1227"/>
                    </a:lnTo>
                    <a:lnTo>
                      <a:pt x="1078" y="1228"/>
                    </a:lnTo>
                    <a:lnTo>
                      <a:pt x="1078" y="1229"/>
                    </a:lnTo>
                    <a:lnTo>
                      <a:pt x="1078" y="1230"/>
                    </a:lnTo>
                    <a:lnTo>
                      <a:pt x="1078" y="1230"/>
                    </a:lnTo>
                    <a:lnTo>
                      <a:pt x="1078" y="1231"/>
                    </a:lnTo>
                    <a:lnTo>
                      <a:pt x="1077" y="1357"/>
                    </a:lnTo>
                    <a:lnTo>
                      <a:pt x="1075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7" y="1818"/>
                    </a:lnTo>
                    <a:lnTo>
                      <a:pt x="1047" y="1919"/>
                    </a:lnTo>
                    <a:lnTo>
                      <a:pt x="1037" y="2014"/>
                    </a:lnTo>
                    <a:lnTo>
                      <a:pt x="1025" y="2102"/>
                    </a:lnTo>
                    <a:lnTo>
                      <a:pt x="1019" y="2143"/>
                    </a:lnTo>
                    <a:lnTo>
                      <a:pt x="1012" y="2182"/>
                    </a:lnTo>
                    <a:lnTo>
                      <a:pt x="1006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4" y="2314"/>
                    </a:lnTo>
                    <a:lnTo>
                      <a:pt x="976" y="2342"/>
                    </a:lnTo>
                    <a:lnTo>
                      <a:pt x="969" y="2367"/>
                    </a:lnTo>
                    <a:lnTo>
                      <a:pt x="960" y="2388"/>
                    </a:lnTo>
                    <a:lnTo>
                      <a:pt x="952" y="2407"/>
                    </a:lnTo>
                    <a:lnTo>
                      <a:pt x="943" y="2425"/>
                    </a:lnTo>
                    <a:lnTo>
                      <a:pt x="935" y="2438"/>
                    </a:lnTo>
                    <a:lnTo>
                      <a:pt x="925" y="2449"/>
                    </a:lnTo>
                    <a:lnTo>
                      <a:pt x="917" y="2458"/>
                    </a:lnTo>
                    <a:lnTo>
                      <a:pt x="907" y="2462"/>
                    </a:lnTo>
                    <a:lnTo>
                      <a:pt x="899" y="2464"/>
                    </a:lnTo>
                    <a:lnTo>
                      <a:pt x="889" y="2462"/>
                    </a:lnTo>
                    <a:lnTo>
                      <a:pt x="879" y="2458"/>
                    </a:lnTo>
                    <a:lnTo>
                      <a:pt x="871" y="2449"/>
                    </a:lnTo>
                    <a:lnTo>
                      <a:pt x="863" y="2438"/>
                    </a:lnTo>
                    <a:lnTo>
                      <a:pt x="853" y="2425"/>
                    </a:lnTo>
                    <a:lnTo>
                      <a:pt x="844" y="2407"/>
                    </a:lnTo>
                    <a:lnTo>
                      <a:pt x="837" y="2388"/>
                    </a:lnTo>
                    <a:lnTo>
                      <a:pt x="829" y="2367"/>
                    </a:lnTo>
                    <a:lnTo>
                      <a:pt x="820" y="2342"/>
                    </a:lnTo>
                    <a:lnTo>
                      <a:pt x="813" y="2314"/>
                    </a:lnTo>
                    <a:lnTo>
                      <a:pt x="805" y="2285"/>
                    </a:lnTo>
                    <a:lnTo>
                      <a:pt x="797" y="2252"/>
                    </a:lnTo>
                    <a:lnTo>
                      <a:pt x="791" y="2218"/>
                    </a:lnTo>
                    <a:lnTo>
                      <a:pt x="784" y="2182"/>
                    </a:lnTo>
                    <a:lnTo>
                      <a:pt x="778" y="2143"/>
                    </a:lnTo>
                    <a:lnTo>
                      <a:pt x="771" y="2102"/>
                    </a:lnTo>
                    <a:lnTo>
                      <a:pt x="760" y="2014"/>
                    </a:lnTo>
                    <a:lnTo>
                      <a:pt x="749" y="1919"/>
                    </a:lnTo>
                    <a:lnTo>
                      <a:pt x="741" y="1818"/>
                    </a:lnTo>
                    <a:lnTo>
                      <a:pt x="732" y="1709"/>
                    </a:lnTo>
                    <a:lnTo>
                      <a:pt x="726" y="1597"/>
                    </a:lnTo>
                    <a:lnTo>
                      <a:pt x="723" y="1478"/>
                    </a:lnTo>
                    <a:lnTo>
                      <a:pt x="719" y="1357"/>
                    </a:lnTo>
                    <a:lnTo>
                      <a:pt x="719" y="1231"/>
                    </a:lnTo>
                    <a:lnTo>
                      <a:pt x="719" y="1229"/>
                    </a:lnTo>
                    <a:lnTo>
                      <a:pt x="719" y="1227"/>
                    </a:lnTo>
                    <a:lnTo>
                      <a:pt x="719" y="1225"/>
                    </a:lnTo>
                    <a:lnTo>
                      <a:pt x="719" y="1224"/>
                    </a:lnTo>
                    <a:lnTo>
                      <a:pt x="719" y="1222"/>
                    </a:lnTo>
                    <a:lnTo>
                      <a:pt x="719" y="1220"/>
                    </a:lnTo>
                    <a:lnTo>
                      <a:pt x="719" y="1218"/>
                    </a:lnTo>
                    <a:lnTo>
                      <a:pt x="719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Freeform 34"/>
              <p:cNvSpPr/>
              <p:nvPr/>
            </p:nvSpPr>
            <p:spPr bwMode="auto">
              <a:xfrm>
                <a:off x="8898" y="6080"/>
                <a:ext cx="500" cy="285"/>
              </a:xfrm>
              <a:custGeom>
                <a:avLst/>
                <a:gdLst>
                  <a:gd name="T0" fmla="*/ 0 w 1076"/>
                  <a:gd name="T1" fmla="*/ 1238 h 1238"/>
                  <a:gd name="T2" fmla="*/ 0 w 1076"/>
                  <a:gd name="T3" fmla="*/ 1237 h 1238"/>
                  <a:gd name="T4" fmla="*/ 0 w 1076"/>
                  <a:gd name="T5" fmla="*/ 1235 h 1238"/>
                  <a:gd name="T6" fmla="*/ 0 w 1076"/>
                  <a:gd name="T7" fmla="*/ 1234 h 1238"/>
                  <a:gd name="T8" fmla="*/ 1 w 1076"/>
                  <a:gd name="T9" fmla="*/ 1171 h 1238"/>
                  <a:gd name="T10" fmla="*/ 7 w 1076"/>
                  <a:gd name="T11" fmla="*/ 1046 h 1238"/>
                  <a:gd name="T12" fmla="*/ 17 w 1076"/>
                  <a:gd name="T13" fmla="*/ 926 h 1238"/>
                  <a:gd name="T14" fmla="*/ 34 w 1076"/>
                  <a:gd name="T15" fmla="*/ 810 h 1238"/>
                  <a:gd name="T16" fmla="*/ 53 w 1076"/>
                  <a:gd name="T17" fmla="*/ 699 h 1238"/>
                  <a:gd name="T18" fmla="*/ 78 w 1076"/>
                  <a:gd name="T19" fmla="*/ 595 h 1238"/>
                  <a:gd name="T20" fmla="*/ 107 w 1076"/>
                  <a:gd name="T21" fmla="*/ 496 h 1238"/>
                  <a:gd name="T22" fmla="*/ 141 w 1076"/>
                  <a:gd name="T23" fmla="*/ 405 h 1238"/>
                  <a:gd name="T24" fmla="*/ 177 w 1076"/>
                  <a:gd name="T25" fmla="*/ 321 h 1238"/>
                  <a:gd name="T26" fmla="*/ 217 w 1076"/>
                  <a:gd name="T27" fmla="*/ 246 h 1238"/>
                  <a:gd name="T28" fmla="*/ 260 w 1076"/>
                  <a:gd name="T29" fmla="*/ 179 h 1238"/>
                  <a:gd name="T30" fmla="*/ 306 w 1076"/>
                  <a:gd name="T31" fmla="*/ 122 h 1238"/>
                  <a:gd name="T32" fmla="*/ 354 w 1076"/>
                  <a:gd name="T33" fmla="*/ 76 h 1238"/>
                  <a:gd name="T34" fmla="*/ 404 w 1076"/>
                  <a:gd name="T35" fmla="*/ 39 h 1238"/>
                  <a:gd name="T36" fmla="*/ 457 w 1076"/>
                  <a:gd name="T37" fmla="*/ 15 h 1238"/>
                  <a:gd name="T38" fmla="*/ 511 w 1076"/>
                  <a:gd name="T39" fmla="*/ 2 h 1238"/>
                  <a:gd name="T40" fmla="*/ 566 w 1076"/>
                  <a:gd name="T41" fmla="*/ 2 h 1238"/>
                  <a:gd name="T42" fmla="*/ 621 w 1076"/>
                  <a:gd name="T43" fmla="*/ 15 h 1238"/>
                  <a:gd name="T44" fmla="*/ 672 w 1076"/>
                  <a:gd name="T45" fmla="*/ 39 h 1238"/>
                  <a:gd name="T46" fmla="*/ 723 w 1076"/>
                  <a:gd name="T47" fmla="*/ 75 h 1238"/>
                  <a:gd name="T48" fmla="*/ 771 w 1076"/>
                  <a:gd name="T49" fmla="*/ 121 h 1238"/>
                  <a:gd name="T50" fmla="*/ 817 w 1076"/>
                  <a:gd name="T51" fmla="*/ 178 h 1238"/>
                  <a:gd name="T52" fmla="*/ 860 w 1076"/>
                  <a:gd name="T53" fmla="*/ 245 h 1238"/>
                  <a:gd name="T54" fmla="*/ 900 w 1076"/>
                  <a:gd name="T55" fmla="*/ 319 h 1238"/>
                  <a:gd name="T56" fmla="*/ 936 w 1076"/>
                  <a:gd name="T57" fmla="*/ 402 h 1238"/>
                  <a:gd name="T58" fmla="*/ 969 w 1076"/>
                  <a:gd name="T59" fmla="*/ 493 h 1238"/>
                  <a:gd name="T60" fmla="*/ 999 w 1076"/>
                  <a:gd name="T61" fmla="*/ 591 h 1238"/>
                  <a:gd name="T62" fmla="*/ 1023 w 1076"/>
                  <a:gd name="T63" fmla="*/ 695 h 1238"/>
                  <a:gd name="T64" fmla="*/ 1043 w 1076"/>
                  <a:gd name="T65" fmla="*/ 806 h 1238"/>
                  <a:gd name="T66" fmla="*/ 1059 w 1076"/>
                  <a:gd name="T67" fmla="*/ 921 h 1238"/>
                  <a:gd name="T68" fmla="*/ 1070 w 1076"/>
                  <a:gd name="T69" fmla="*/ 1042 h 1238"/>
                  <a:gd name="T70" fmla="*/ 1076 w 1076"/>
                  <a:gd name="T71" fmla="*/ 1166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76" h="1238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4" y="1107"/>
                    </a:lnTo>
                    <a:lnTo>
                      <a:pt x="7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4" y="810"/>
                    </a:lnTo>
                    <a:lnTo>
                      <a:pt x="43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3" y="545"/>
                    </a:lnTo>
                    <a:lnTo>
                      <a:pt x="107" y="496"/>
                    </a:lnTo>
                    <a:lnTo>
                      <a:pt x="124" y="450"/>
                    </a:lnTo>
                    <a:lnTo>
                      <a:pt x="141" y="405"/>
                    </a:lnTo>
                    <a:lnTo>
                      <a:pt x="158" y="362"/>
                    </a:lnTo>
                    <a:lnTo>
                      <a:pt x="177" y="321"/>
                    </a:lnTo>
                    <a:lnTo>
                      <a:pt x="196" y="282"/>
                    </a:lnTo>
                    <a:lnTo>
                      <a:pt x="217" y="246"/>
                    </a:lnTo>
                    <a:lnTo>
                      <a:pt x="237" y="212"/>
                    </a:lnTo>
                    <a:lnTo>
                      <a:pt x="260" y="179"/>
                    </a:lnTo>
                    <a:lnTo>
                      <a:pt x="282" y="150"/>
                    </a:lnTo>
                    <a:lnTo>
                      <a:pt x="306" y="122"/>
                    </a:lnTo>
                    <a:lnTo>
                      <a:pt x="329" y="97"/>
                    </a:lnTo>
                    <a:lnTo>
                      <a:pt x="354" y="76"/>
                    </a:lnTo>
                    <a:lnTo>
                      <a:pt x="378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9" y="0"/>
                    </a:lnTo>
                    <a:lnTo>
                      <a:pt x="566" y="2"/>
                    </a:lnTo>
                    <a:lnTo>
                      <a:pt x="593" y="6"/>
                    </a:lnTo>
                    <a:lnTo>
                      <a:pt x="621" y="15"/>
                    </a:lnTo>
                    <a:lnTo>
                      <a:pt x="647" y="25"/>
                    </a:lnTo>
                    <a:lnTo>
                      <a:pt x="672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60" y="245"/>
                    </a:lnTo>
                    <a:lnTo>
                      <a:pt x="881" y="280"/>
                    </a:lnTo>
                    <a:lnTo>
                      <a:pt x="900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9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4" y="1103"/>
                    </a:lnTo>
                    <a:lnTo>
                      <a:pt x="1076" y="1166"/>
                    </a:lnTo>
                    <a:lnTo>
                      <a:pt x="1076" y="1229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Freeform 35"/>
              <p:cNvSpPr/>
              <p:nvPr/>
            </p:nvSpPr>
            <p:spPr bwMode="auto">
              <a:xfrm>
                <a:off x="8254" y="6080"/>
                <a:ext cx="502" cy="568"/>
              </a:xfrm>
              <a:custGeom>
                <a:avLst/>
                <a:gdLst>
                  <a:gd name="T0" fmla="*/ 0 w 1079"/>
                  <a:gd name="T1" fmla="*/ 1237 h 2464"/>
                  <a:gd name="T2" fmla="*/ 0 w 1079"/>
                  <a:gd name="T3" fmla="*/ 1235 h 2464"/>
                  <a:gd name="T4" fmla="*/ 0 w 1079"/>
                  <a:gd name="T5" fmla="*/ 1233 h 2464"/>
                  <a:gd name="T6" fmla="*/ 6 w 1079"/>
                  <a:gd name="T7" fmla="*/ 1046 h 2464"/>
                  <a:gd name="T8" fmla="*/ 24 w 1079"/>
                  <a:gd name="T9" fmla="*/ 867 h 2464"/>
                  <a:gd name="T10" fmla="*/ 53 w 1079"/>
                  <a:gd name="T11" fmla="*/ 699 h 2464"/>
                  <a:gd name="T12" fmla="*/ 93 w 1079"/>
                  <a:gd name="T13" fmla="*/ 545 h 2464"/>
                  <a:gd name="T14" fmla="*/ 140 w 1079"/>
                  <a:gd name="T15" fmla="*/ 405 h 2464"/>
                  <a:gd name="T16" fmla="*/ 197 w 1079"/>
                  <a:gd name="T17" fmla="*/ 282 h 2464"/>
                  <a:gd name="T18" fmla="*/ 259 w 1079"/>
                  <a:gd name="T19" fmla="*/ 179 h 2464"/>
                  <a:gd name="T20" fmla="*/ 329 w 1079"/>
                  <a:gd name="T21" fmla="*/ 97 h 2464"/>
                  <a:gd name="T22" fmla="*/ 404 w 1079"/>
                  <a:gd name="T23" fmla="*/ 39 h 2464"/>
                  <a:gd name="T24" fmla="*/ 483 w 1079"/>
                  <a:gd name="T25" fmla="*/ 6 h 2464"/>
                  <a:gd name="T26" fmla="*/ 567 w 1079"/>
                  <a:gd name="T27" fmla="*/ 2 h 2464"/>
                  <a:gd name="T28" fmla="*/ 647 w 1079"/>
                  <a:gd name="T29" fmla="*/ 25 h 2464"/>
                  <a:gd name="T30" fmla="*/ 723 w 1079"/>
                  <a:gd name="T31" fmla="*/ 75 h 2464"/>
                  <a:gd name="T32" fmla="*/ 794 w 1079"/>
                  <a:gd name="T33" fmla="*/ 148 h 2464"/>
                  <a:gd name="T34" fmla="*/ 861 w 1079"/>
                  <a:gd name="T35" fmla="*/ 245 h 2464"/>
                  <a:gd name="T36" fmla="*/ 918 w 1079"/>
                  <a:gd name="T37" fmla="*/ 360 h 2464"/>
                  <a:gd name="T38" fmla="*/ 969 w 1079"/>
                  <a:gd name="T39" fmla="*/ 493 h 2464"/>
                  <a:gd name="T40" fmla="*/ 1011 w 1079"/>
                  <a:gd name="T41" fmla="*/ 643 h 2464"/>
                  <a:gd name="T42" fmla="*/ 1044 w 1079"/>
                  <a:gd name="T43" fmla="*/ 806 h 2464"/>
                  <a:gd name="T44" fmla="*/ 1065 w 1079"/>
                  <a:gd name="T45" fmla="*/ 981 h 2464"/>
                  <a:gd name="T46" fmla="*/ 1076 w 1079"/>
                  <a:gd name="T47" fmla="*/ 1166 h 2464"/>
                  <a:gd name="T48" fmla="*/ 1079 w 1079"/>
                  <a:gd name="T49" fmla="*/ 1226 h 2464"/>
                  <a:gd name="T50" fmla="*/ 1079 w 1079"/>
                  <a:gd name="T51" fmla="*/ 1228 h 2464"/>
                  <a:gd name="T52" fmla="*/ 1079 w 1079"/>
                  <a:gd name="T53" fmla="*/ 1230 h 2464"/>
                  <a:gd name="T54" fmla="*/ 1075 w 1079"/>
                  <a:gd name="T55" fmla="*/ 1478 h 2464"/>
                  <a:gd name="T56" fmla="*/ 1057 w 1079"/>
                  <a:gd name="T57" fmla="*/ 1818 h 2464"/>
                  <a:gd name="T58" fmla="*/ 1026 w 1079"/>
                  <a:gd name="T59" fmla="*/ 2102 h 2464"/>
                  <a:gd name="T60" fmla="*/ 1006 w 1079"/>
                  <a:gd name="T61" fmla="*/ 2218 h 2464"/>
                  <a:gd name="T62" fmla="*/ 985 w 1079"/>
                  <a:gd name="T63" fmla="*/ 2314 h 2464"/>
                  <a:gd name="T64" fmla="*/ 961 w 1079"/>
                  <a:gd name="T65" fmla="*/ 2388 h 2464"/>
                  <a:gd name="T66" fmla="*/ 935 w 1079"/>
                  <a:gd name="T67" fmla="*/ 2438 h 2464"/>
                  <a:gd name="T68" fmla="*/ 908 w 1079"/>
                  <a:gd name="T69" fmla="*/ 2462 h 2464"/>
                  <a:gd name="T70" fmla="*/ 880 w 1079"/>
                  <a:gd name="T71" fmla="*/ 2458 h 2464"/>
                  <a:gd name="T72" fmla="*/ 853 w 1079"/>
                  <a:gd name="T73" fmla="*/ 2425 h 2464"/>
                  <a:gd name="T74" fmla="*/ 829 w 1079"/>
                  <a:gd name="T75" fmla="*/ 2367 h 2464"/>
                  <a:gd name="T76" fmla="*/ 805 w 1079"/>
                  <a:gd name="T77" fmla="*/ 2285 h 2464"/>
                  <a:gd name="T78" fmla="*/ 785 w 1079"/>
                  <a:gd name="T79" fmla="*/ 2182 h 2464"/>
                  <a:gd name="T80" fmla="*/ 761 w 1079"/>
                  <a:gd name="T81" fmla="*/ 2014 h 2464"/>
                  <a:gd name="T82" fmla="*/ 733 w 1079"/>
                  <a:gd name="T83" fmla="*/ 1709 h 2464"/>
                  <a:gd name="T84" fmla="*/ 720 w 1079"/>
                  <a:gd name="T85" fmla="*/ 1357 h 2464"/>
                  <a:gd name="T86" fmla="*/ 720 w 1079"/>
                  <a:gd name="T87" fmla="*/ 1227 h 2464"/>
                  <a:gd name="T88" fmla="*/ 720 w 1079"/>
                  <a:gd name="T89" fmla="*/ 1222 h 2464"/>
                  <a:gd name="T90" fmla="*/ 720 w 1079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9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4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3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9" y="595"/>
                    </a:lnTo>
                    <a:lnTo>
                      <a:pt x="93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7" y="321"/>
                    </a:lnTo>
                    <a:lnTo>
                      <a:pt x="197" y="282"/>
                    </a:lnTo>
                    <a:lnTo>
                      <a:pt x="217" y="246"/>
                    </a:lnTo>
                    <a:lnTo>
                      <a:pt x="238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9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9" y="0"/>
                    </a:lnTo>
                    <a:lnTo>
                      <a:pt x="567" y="2"/>
                    </a:lnTo>
                    <a:lnTo>
                      <a:pt x="593" y="6"/>
                    </a:lnTo>
                    <a:lnTo>
                      <a:pt x="621" y="15"/>
                    </a:lnTo>
                    <a:lnTo>
                      <a:pt x="647" y="25"/>
                    </a:lnTo>
                    <a:lnTo>
                      <a:pt x="673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61" y="245"/>
                    </a:lnTo>
                    <a:lnTo>
                      <a:pt x="880" y="280"/>
                    </a:lnTo>
                    <a:lnTo>
                      <a:pt x="900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5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4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4" y="1103"/>
                    </a:lnTo>
                    <a:lnTo>
                      <a:pt x="1076" y="1166"/>
                    </a:lnTo>
                    <a:lnTo>
                      <a:pt x="1076" y="1229"/>
                    </a:lnTo>
                    <a:lnTo>
                      <a:pt x="1079" y="1226"/>
                    </a:lnTo>
                    <a:lnTo>
                      <a:pt x="1079" y="1226"/>
                    </a:lnTo>
                    <a:lnTo>
                      <a:pt x="1079" y="1227"/>
                    </a:lnTo>
                    <a:lnTo>
                      <a:pt x="1079" y="1227"/>
                    </a:lnTo>
                    <a:lnTo>
                      <a:pt x="1079" y="1228"/>
                    </a:lnTo>
                    <a:lnTo>
                      <a:pt x="1079" y="1229"/>
                    </a:lnTo>
                    <a:lnTo>
                      <a:pt x="1079" y="1230"/>
                    </a:lnTo>
                    <a:lnTo>
                      <a:pt x="1079" y="1230"/>
                    </a:lnTo>
                    <a:lnTo>
                      <a:pt x="1079" y="1231"/>
                    </a:lnTo>
                    <a:lnTo>
                      <a:pt x="1077" y="1357"/>
                    </a:lnTo>
                    <a:lnTo>
                      <a:pt x="1075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7" y="1818"/>
                    </a:lnTo>
                    <a:lnTo>
                      <a:pt x="1047" y="1919"/>
                    </a:lnTo>
                    <a:lnTo>
                      <a:pt x="1038" y="2014"/>
                    </a:lnTo>
                    <a:lnTo>
                      <a:pt x="1026" y="2102"/>
                    </a:lnTo>
                    <a:lnTo>
                      <a:pt x="1020" y="2143"/>
                    </a:lnTo>
                    <a:lnTo>
                      <a:pt x="1012" y="2182"/>
                    </a:lnTo>
                    <a:lnTo>
                      <a:pt x="1006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5" y="2314"/>
                    </a:lnTo>
                    <a:lnTo>
                      <a:pt x="976" y="2342"/>
                    </a:lnTo>
                    <a:lnTo>
                      <a:pt x="969" y="2367"/>
                    </a:lnTo>
                    <a:lnTo>
                      <a:pt x="961" y="2388"/>
                    </a:lnTo>
                    <a:lnTo>
                      <a:pt x="952" y="2407"/>
                    </a:lnTo>
                    <a:lnTo>
                      <a:pt x="944" y="2425"/>
                    </a:lnTo>
                    <a:lnTo>
                      <a:pt x="935" y="2438"/>
                    </a:lnTo>
                    <a:lnTo>
                      <a:pt x="926" y="2449"/>
                    </a:lnTo>
                    <a:lnTo>
                      <a:pt x="917" y="2458"/>
                    </a:lnTo>
                    <a:lnTo>
                      <a:pt x="908" y="2462"/>
                    </a:lnTo>
                    <a:lnTo>
                      <a:pt x="899" y="2464"/>
                    </a:lnTo>
                    <a:lnTo>
                      <a:pt x="889" y="2462"/>
                    </a:lnTo>
                    <a:lnTo>
                      <a:pt x="880" y="2458"/>
                    </a:lnTo>
                    <a:lnTo>
                      <a:pt x="871" y="2449"/>
                    </a:lnTo>
                    <a:lnTo>
                      <a:pt x="863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6" y="2388"/>
                    </a:lnTo>
                    <a:lnTo>
                      <a:pt x="829" y="2367"/>
                    </a:lnTo>
                    <a:lnTo>
                      <a:pt x="821" y="2342"/>
                    </a:lnTo>
                    <a:lnTo>
                      <a:pt x="814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1" y="2218"/>
                    </a:lnTo>
                    <a:lnTo>
                      <a:pt x="785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61" y="2014"/>
                    </a:lnTo>
                    <a:lnTo>
                      <a:pt x="750" y="1919"/>
                    </a:lnTo>
                    <a:lnTo>
                      <a:pt x="741" y="1818"/>
                    </a:lnTo>
                    <a:lnTo>
                      <a:pt x="733" y="1709"/>
                    </a:lnTo>
                    <a:lnTo>
                      <a:pt x="727" y="1597"/>
                    </a:lnTo>
                    <a:lnTo>
                      <a:pt x="723" y="1478"/>
                    </a:lnTo>
                    <a:lnTo>
                      <a:pt x="720" y="1357"/>
                    </a:lnTo>
                    <a:lnTo>
                      <a:pt x="720" y="1231"/>
                    </a:lnTo>
                    <a:lnTo>
                      <a:pt x="720" y="1229"/>
                    </a:lnTo>
                    <a:lnTo>
                      <a:pt x="720" y="1227"/>
                    </a:lnTo>
                    <a:lnTo>
                      <a:pt x="720" y="1225"/>
                    </a:lnTo>
                    <a:lnTo>
                      <a:pt x="720" y="1224"/>
                    </a:lnTo>
                    <a:lnTo>
                      <a:pt x="720" y="1222"/>
                    </a:lnTo>
                    <a:lnTo>
                      <a:pt x="720" y="1220"/>
                    </a:lnTo>
                    <a:lnTo>
                      <a:pt x="720" y="1218"/>
                    </a:lnTo>
                    <a:lnTo>
                      <a:pt x="720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36"/>
              <p:cNvSpPr/>
              <p:nvPr/>
            </p:nvSpPr>
            <p:spPr bwMode="auto">
              <a:xfrm>
                <a:off x="7912" y="6080"/>
                <a:ext cx="500" cy="568"/>
              </a:xfrm>
              <a:custGeom>
                <a:avLst/>
                <a:gdLst>
                  <a:gd name="T0" fmla="*/ 0 w 1077"/>
                  <a:gd name="T1" fmla="*/ 1237 h 2464"/>
                  <a:gd name="T2" fmla="*/ 0 w 1077"/>
                  <a:gd name="T3" fmla="*/ 1235 h 2464"/>
                  <a:gd name="T4" fmla="*/ 0 w 1077"/>
                  <a:gd name="T5" fmla="*/ 1233 h 2464"/>
                  <a:gd name="T6" fmla="*/ 6 w 1077"/>
                  <a:gd name="T7" fmla="*/ 1046 h 2464"/>
                  <a:gd name="T8" fmla="*/ 24 w 1077"/>
                  <a:gd name="T9" fmla="*/ 867 h 2464"/>
                  <a:gd name="T10" fmla="*/ 53 w 1077"/>
                  <a:gd name="T11" fmla="*/ 699 h 2464"/>
                  <a:gd name="T12" fmla="*/ 91 w 1077"/>
                  <a:gd name="T13" fmla="*/ 545 h 2464"/>
                  <a:gd name="T14" fmla="*/ 140 w 1077"/>
                  <a:gd name="T15" fmla="*/ 405 h 2464"/>
                  <a:gd name="T16" fmla="*/ 196 w 1077"/>
                  <a:gd name="T17" fmla="*/ 282 h 2464"/>
                  <a:gd name="T18" fmla="*/ 259 w 1077"/>
                  <a:gd name="T19" fmla="*/ 179 h 2464"/>
                  <a:gd name="T20" fmla="*/ 329 w 1077"/>
                  <a:gd name="T21" fmla="*/ 97 h 2464"/>
                  <a:gd name="T22" fmla="*/ 404 w 1077"/>
                  <a:gd name="T23" fmla="*/ 39 h 2464"/>
                  <a:gd name="T24" fmla="*/ 483 w 1077"/>
                  <a:gd name="T25" fmla="*/ 6 h 2464"/>
                  <a:gd name="T26" fmla="*/ 565 w 1077"/>
                  <a:gd name="T27" fmla="*/ 2 h 2464"/>
                  <a:gd name="T28" fmla="*/ 646 w 1077"/>
                  <a:gd name="T29" fmla="*/ 25 h 2464"/>
                  <a:gd name="T30" fmla="*/ 723 w 1077"/>
                  <a:gd name="T31" fmla="*/ 75 h 2464"/>
                  <a:gd name="T32" fmla="*/ 794 w 1077"/>
                  <a:gd name="T33" fmla="*/ 148 h 2464"/>
                  <a:gd name="T34" fmla="*/ 859 w 1077"/>
                  <a:gd name="T35" fmla="*/ 245 h 2464"/>
                  <a:gd name="T36" fmla="*/ 918 w 1077"/>
                  <a:gd name="T37" fmla="*/ 360 h 2464"/>
                  <a:gd name="T38" fmla="*/ 969 w 1077"/>
                  <a:gd name="T39" fmla="*/ 493 h 2464"/>
                  <a:gd name="T40" fmla="*/ 1011 w 1077"/>
                  <a:gd name="T41" fmla="*/ 643 h 2464"/>
                  <a:gd name="T42" fmla="*/ 1043 w 1077"/>
                  <a:gd name="T43" fmla="*/ 806 h 2464"/>
                  <a:gd name="T44" fmla="*/ 1065 w 1077"/>
                  <a:gd name="T45" fmla="*/ 981 h 2464"/>
                  <a:gd name="T46" fmla="*/ 1075 w 1077"/>
                  <a:gd name="T47" fmla="*/ 1166 h 2464"/>
                  <a:gd name="T48" fmla="*/ 1077 w 1077"/>
                  <a:gd name="T49" fmla="*/ 1226 h 2464"/>
                  <a:gd name="T50" fmla="*/ 1077 w 1077"/>
                  <a:gd name="T51" fmla="*/ 1228 h 2464"/>
                  <a:gd name="T52" fmla="*/ 1077 w 1077"/>
                  <a:gd name="T53" fmla="*/ 1230 h 2464"/>
                  <a:gd name="T54" fmla="*/ 1073 w 1077"/>
                  <a:gd name="T55" fmla="*/ 1478 h 2464"/>
                  <a:gd name="T56" fmla="*/ 1055 w 1077"/>
                  <a:gd name="T57" fmla="*/ 1818 h 2464"/>
                  <a:gd name="T58" fmla="*/ 1025 w 1077"/>
                  <a:gd name="T59" fmla="*/ 2102 h 2464"/>
                  <a:gd name="T60" fmla="*/ 1005 w 1077"/>
                  <a:gd name="T61" fmla="*/ 2218 h 2464"/>
                  <a:gd name="T62" fmla="*/ 983 w 1077"/>
                  <a:gd name="T63" fmla="*/ 2314 h 2464"/>
                  <a:gd name="T64" fmla="*/ 959 w 1077"/>
                  <a:gd name="T65" fmla="*/ 2388 h 2464"/>
                  <a:gd name="T66" fmla="*/ 934 w 1077"/>
                  <a:gd name="T67" fmla="*/ 2438 h 2464"/>
                  <a:gd name="T68" fmla="*/ 907 w 1077"/>
                  <a:gd name="T69" fmla="*/ 2462 h 2464"/>
                  <a:gd name="T70" fmla="*/ 879 w 1077"/>
                  <a:gd name="T71" fmla="*/ 2458 h 2464"/>
                  <a:gd name="T72" fmla="*/ 853 w 1077"/>
                  <a:gd name="T73" fmla="*/ 2425 h 2464"/>
                  <a:gd name="T74" fmla="*/ 828 w 1077"/>
                  <a:gd name="T75" fmla="*/ 2367 h 2464"/>
                  <a:gd name="T76" fmla="*/ 805 w 1077"/>
                  <a:gd name="T77" fmla="*/ 2285 h 2464"/>
                  <a:gd name="T78" fmla="*/ 784 w 1077"/>
                  <a:gd name="T79" fmla="*/ 2182 h 2464"/>
                  <a:gd name="T80" fmla="*/ 759 w 1077"/>
                  <a:gd name="T81" fmla="*/ 2014 h 2464"/>
                  <a:gd name="T82" fmla="*/ 732 w 1077"/>
                  <a:gd name="T83" fmla="*/ 1709 h 2464"/>
                  <a:gd name="T84" fmla="*/ 719 w 1077"/>
                  <a:gd name="T85" fmla="*/ 1357 h 2464"/>
                  <a:gd name="T86" fmla="*/ 718 w 1077"/>
                  <a:gd name="T87" fmla="*/ 1227 h 2464"/>
                  <a:gd name="T88" fmla="*/ 718 w 1077"/>
                  <a:gd name="T89" fmla="*/ 1222 h 2464"/>
                  <a:gd name="T90" fmla="*/ 718 w 1077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7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1" y="1171"/>
                    </a:lnTo>
                    <a:lnTo>
                      <a:pt x="2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2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1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6" y="282"/>
                    </a:lnTo>
                    <a:lnTo>
                      <a:pt x="217" y="246"/>
                    </a:lnTo>
                    <a:lnTo>
                      <a:pt x="237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7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19" y="15"/>
                    </a:lnTo>
                    <a:lnTo>
                      <a:pt x="646" y="25"/>
                    </a:lnTo>
                    <a:lnTo>
                      <a:pt x="672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59" y="245"/>
                    </a:lnTo>
                    <a:lnTo>
                      <a:pt x="879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7" y="1226"/>
                    </a:lnTo>
                    <a:lnTo>
                      <a:pt x="1077" y="1226"/>
                    </a:lnTo>
                    <a:lnTo>
                      <a:pt x="1077" y="1227"/>
                    </a:lnTo>
                    <a:lnTo>
                      <a:pt x="1077" y="1227"/>
                    </a:lnTo>
                    <a:lnTo>
                      <a:pt x="1077" y="1228"/>
                    </a:lnTo>
                    <a:lnTo>
                      <a:pt x="1077" y="1229"/>
                    </a:lnTo>
                    <a:lnTo>
                      <a:pt x="1077" y="1230"/>
                    </a:lnTo>
                    <a:lnTo>
                      <a:pt x="1077" y="1230"/>
                    </a:lnTo>
                    <a:lnTo>
                      <a:pt x="1077" y="1231"/>
                    </a:lnTo>
                    <a:lnTo>
                      <a:pt x="1077" y="1357"/>
                    </a:lnTo>
                    <a:lnTo>
                      <a:pt x="1073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5" y="1818"/>
                    </a:lnTo>
                    <a:lnTo>
                      <a:pt x="1047" y="1919"/>
                    </a:lnTo>
                    <a:lnTo>
                      <a:pt x="1036" y="2014"/>
                    </a:lnTo>
                    <a:lnTo>
                      <a:pt x="1025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3" y="2314"/>
                    </a:lnTo>
                    <a:lnTo>
                      <a:pt x="976" y="2342"/>
                    </a:lnTo>
                    <a:lnTo>
                      <a:pt x="967" y="2367"/>
                    </a:lnTo>
                    <a:lnTo>
                      <a:pt x="959" y="2388"/>
                    </a:lnTo>
                    <a:lnTo>
                      <a:pt x="952" y="2407"/>
                    </a:lnTo>
                    <a:lnTo>
                      <a:pt x="943" y="2425"/>
                    </a:lnTo>
                    <a:lnTo>
                      <a:pt x="934" y="2438"/>
                    </a:lnTo>
                    <a:lnTo>
                      <a:pt x="925" y="2449"/>
                    </a:lnTo>
                    <a:lnTo>
                      <a:pt x="917" y="2458"/>
                    </a:lnTo>
                    <a:lnTo>
                      <a:pt x="907" y="2462"/>
                    </a:lnTo>
                    <a:lnTo>
                      <a:pt x="898" y="2464"/>
                    </a:lnTo>
                    <a:lnTo>
                      <a:pt x="889" y="2462"/>
                    </a:lnTo>
                    <a:lnTo>
                      <a:pt x="879" y="2458"/>
                    </a:lnTo>
                    <a:lnTo>
                      <a:pt x="871" y="2449"/>
                    </a:lnTo>
                    <a:lnTo>
                      <a:pt x="861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6" y="2388"/>
                    </a:lnTo>
                    <a:lnTo>
                      <a:pt x="828" y="2367"/>
                    </a:lnTo>
                    <a:lnTo>
                      <a:pt x="820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0" y="2218"/>
                    </a:lnTo>
                    <a:lnTo>
                      <a:pt x="784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49" y="1919"/>
                    </a:lnTo>
                    <a:lnTo>
                      <a:pt x="740" y="1818"/>
                    </a:lnTo>
                    <a:lnTo>
                      <a:pt x="732" y="1709"/>
                    </a:lnTo>
                    <a:lnTo>
                      <a:pt x="726" y="1597"/>
                    </a:lnTo>
                    <a:lnTo>
                      <a:pt x="722" y="1478"/>
                    </a:lnTo>
                    <a:lnTo>
                      <a:pt x="719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37"/>
              <p:cNvSpPr/>
              <p:nvPr/>
            </p:nvSpPr>
            <p:spPr bwMode="auto">
              <a:xfrm>
                <a:off x="7577" y="6080"/>
                <a:ext cx="500" cy="568"/>
              </a:xfrm>
              <a:custGeom>
                <a:avLst/>
                <a:gdLst>
                  <a:gd name="T0" fmla="*/ 0 w 1078"/>
                  <a:gd name="T1" fmla="*/ 1237 h 2464"/>
                  <a:gd name="T2" fmla="*/ 0 w 1078"/>
                  <a:gd name="T3" fmla="*/ 1235 h 2464"/>
                  <a:gd name="T4" fmla="*/ 0 w 1078"/>
                  <a:gd name="T5" fmla="*/ 1233 h 2464"/>
                  <a:gd name="T6" fmla="*/ 6 w 1078"/>
                  <a:gd name="T7" fmla="*/ 1046 h 2464"/>
                  <a:gd name="T8" fmla="*/ 24 w 1078"/>
                  <a:gd name="T9" fmla="*/ 867 h 2464"/>
                  <a:gd name="T10" fmla="*/ 53 w 1078"/>
                  <a:gd name="T11" fmla="*/ 699 h 2464"/>
                  <a:gd name="T12" fmla="*/ 92 w 1078"/>
                  <a:gd name="T13" fmla="*/ 545 h 2464"/>
                  <a:gd name="T14" fmla="*/ 140 w 1078"/>
                  <a:gd name="T15" fmla="*/ 405 h 2464"/>
                  <a:gd name="T16" fmla="*/ 197 w 1078"/>
                  <a:gd name="T17" fmla="*/ 282 h 2464"/>
                  <a:gd name="T18" fmla="*/ 259 w 1078"/>
                  <a:gd name="T19" fmla="*/ 179 h 2464"/>
                  <a:gd name="T20" fmla="*/ 329 w 1078"/>
                  <a:gd name="T21" fmla="*/ 97 h 2464"/>
                  <a:gd name="T22" fmla="*/ 404 w 1078"/>
                  <a:gd name="T23" fmla="*/ 39 h 2464"/>
                  <a:gd name="T24" fmla="*/ 483 w 1078"/>
                  <a:gd name="T25" fmla="*/ 6 h 2464"/>
                  <a:gd name="T26" fmla="*/ 565 w 1078"/>
                  <a:gd name="T27" fmla="*/ 2 h 2464"/>
                  <a:gd name="T28" fmla="*/ 646 w 1078"/>
                  <a:gd name="T29" fmla="*/ 25 h 2464"/>
                  <a:gd name="T30" fmla="*/ 723 w 1078"/>
                  <a:gd name="T31" fmla="*/ 75 h 2464"/>
                  <a:gd name="T32" fmla="*/ 794 w 1078"/>
                  <a:gd name="T33" fmla="*/ 148 h 2464"/>
                  <a:gd name="T34" fmla="*/ 859 w 1078"/>
                  <a:gd name="T35" fmla="*/ 245 h 2464"/>
                  <a:gd name="T36" fmla="*/ 918 w 1078"/>
                  <a:gd name="T37" fmla="*/ 360 h 2464"/>
                  <a:gd name="T38" fmla="*/ 969 w 1078"/>
                  <a:gd name="T39" fmla="*/ 493 h 2464"/>
                  <a:gd name="T40" fmla="*/ 1011 w 1078"/>
                  <a:gd name="T41" fmla="*/ 643 h 2464"/>
                  <a:gd name="T42" fmla="*/ 1044 w 1078"/>
                  <a:gd name="T43" fmla="*/ 806 h 2464"/>
                  <a:gd name="T44" fmla="*/ 1065 w 1078"/>
                  <a:gd name="T45" fmla="*/ 981 h 2464"/>
                  <a:gd name="T46" fmla="*/ 1075 w 1078"/>
                  <a:gd name="T47" fmla="*/ 1166 h 2464"/>
                  <a:gd name="T48" fmla="*/ 1078 w 1078"/>
                  <a:gd name="T49" fmla="*/ 1226 h 2464"/>
                  <a:gd name="T50" fmla="*/ 1078 w 1078"/>
                  <a:gd name="T51" fmla="*/ 1228 h 2464"/>
                  <a:gd name="T52" fmla="*/ 1078 w 1078"/>
                  <a:gd name="T53" fmla="*/ 1230 h 2464"/>
                  <a:gd name="T54" fmla="*/ 1074 w 1078"/>
                  <a:gd name="T55" fmla="*/ 1478 h 2464"/>
                  <a:gd name="T56" fmla="*/ 1056 w 1078"/>
                  <a:gd name="T57" fmla="*/ 1818 h 2464"/>
                  <a:gd name="T58" fmla="*/ 1026 w 1078"/>
                  <a:gd name="T59" fmla="*/ 2102 h 2464"/>
                  <a:gd name="T60" fmla="*/ 1005 w 1078"/>
                  <a:gd name="T61" fmla="*/ 2218 h 2464"/>
                  <a:gd name="T62" fmla="*/ 984 w 1078"/>
                  <a:gd name="T63" fmla="*/ 2314 h 2464"/>
                  <a:gd name="T64" fmla="*/ 959 w 1078"/>
                  <a:gd name="T65" fmla="*/ 2388 h 2464"/>
                  <a:gd name="T66" fmla="*/ 934 w 1078"/>
                  <a:gd name="T67" fmla="*/ 2438 h 2464"/>
                  <a:gd name="T68" fmla="*/ 908 w 1078"/>
                  <a:gd name="T69" fmla="*/ 2462 h 2464"/>
                  <a:gd name="T70" fmla="*/ 880 w 1078"/>
                  <a:gd name="T71" fmla="*/ 2458 h 2464"/>
                  <a:gd name="T72" fmla="*/ 853 w 1078"/>
                  <a:gd name="T73" fmla="*/ 2425 h 2464"/>
                  <a:gd name="T74" fmla="*/ 828 w 1078"/>
                  <a:gd name="T75" fmla="*/ 2367 h 2464"/>
                  <a:gd name="T76" fmla="*/ 805 w 1078"/>
                  <a:gd name="T77" fmla="*/ 2285 h 2464"/>
                  <a:gd name="T78" fmla="*/ 785 w 1078"/>
                  <a:gd name="T79" fmla="*/ 2182 h 2464"/>
                  <a:gd name="T80" fmla="*/ 759 w 1078"/>
                  <a:gd name="T81" fmla="*/ 2014 h 2464"/>
                  <a:gd name="T82" fmla="*/ 733 w 1078"/>
                  <a:gd name="T83" fmla="*/ 1709 h 2464"/>
                  <a:gd name="T84" fmla="*/ 720 w 1078"/>
                  <a:gd name="T85" fmla="*/ 1357 h 2464"/>
                  <a:gd name="T86" fmla="*/ 718 w 1078"/>
                  <a:gd name="T87" fmla="*/ 1227 h 2464"/>
                  <a:gd name="T88" fmla="*/ 718 w 1078"/>
                  <a:gd name="T89" fmla="*/ 1222 h 2464"/>
                  <a:gd name="T90" fmla="*/ 718 w 1078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8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0" y="1171"/>
                    </a:lnTo>
                    <a:lnTo>
                      <a:pt x="3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3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9" y="595"/>
                    </a:lnTo>
                    <a:lnTo>
                      <a:pt x="92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7" y="282"/>
                    </a:lnTo>
                    <a:lnTo>
                      <a:pt x="217" y="246"/>
                    </a:lnTo>
                    <a:lnTo>
                      <a:pt x="238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9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7" y="15"/>
                    </a:lnTo>
                    <a:lnTo>
                      <a:pt x="483" y="6"/>
                    </a:lnTo>
                    <a:lnTo>
                      <a:pt x="511" y="2"/>
                    </a:lnTo>
                    <a:lnTo>
                      <a:pt x="538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20" y="15"/>
                    </a:lnTo>
                    <a:lnTo>
                      <a:pt x="646" y="25"/>
                    </a:lnTo>
                    <a:lnTo>
                      <a:pt x="673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59" y="245"/>
                    </a:lnTo>
                    <a:lnTo>
                      <a:pt x="880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7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4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4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4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8" y="1226"/>
                    </a:lnTo>
                    <a:lnTo>
                      <a:pt x="1078" y="1226"/>
                    </a:lnTo>
                    <a:lnTo>
                      <a:pt x="1078" y="1227"/>
                    </a:lnTo>
                    <a:lnTo>
                      <a:pt x="1078" y="1227"/>
                    </a:lnTo>
                    <a:lnTo>
                      <a:pt x="1078" y="1228"/>
                    </a:lnTo>
                    <a:lnTo>
                      <a:pt x="1078" y="1229"/>
                    </a:lnTo>
                    <a:lnTo>
                      <a:pt x="1078" y="1230"/>
                    </a:lnTo>
                    <a:lnTo>
                      <a:pt x="1078" y="1230"/>
                    </a:lnTo>
                    <a:lnTo>
                      <a:pt x="1078" y="1231"/>
                    </a:lnTo>
                    <a:lnTo>
                      <a:pt x="1078" y="1357"/>
                    </a:lnTo>
                    <a:lnTo>
                      <a:pt x="1074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6" y="1818"/>
                    </a:lnTo>
                    <a:lnTo>
                      <a:pt x="1047" y="1919"/>
                    </a:lnTo>
                    <a:lnTo>
                      <a:pt x="1037" y="2014"/>
                    </a:lnTo>
                    <a:lnTo>
                      <a:pt x="1026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9" y="2252"/>
                    </a:lnTo>
                    <a:lnTo>
                      <a:pt x="992" y="2285"/>
                    </a:lnTo>
                    <a:lnTo>
                      <a:pt x="984" y="2314"/>
                    </a:lnTo>
                    <a:lnTo>
                      <a:pt x="976" y="2342"/>
                    </a:lnTo>
                    <a:lnTo>
                      <a:pt x="968" y="2367"/>
                    </a:lnTo>
                    <a:lnTo>
                      <a:pt x="959" y="2388"/>
                    </a:lnTo>
                    <a:lnTo>
                      <a:pt x="952" y="2407"/>
                    </a:lnTo>
                    <a:lnTo>
                      <a:pt x="943" y="2425"/>
                    </a:lnTo>
                    <a:lnTo>
                      <a:pt x="934" y="2438"/>
                    </a:lnTo>
                    <a:lnTo>
                      <a:pt x="926" y="2449"/>
                    </a:lnTo>
                    <a:lnTo>
                      <a:pt x="916" y="2458"/>
                    </a:lnTo>
                    <a:lnTo>
                      <a:pt x="908" y="2462"/>
                    </a:lnTo>
                    <a:lnTo>
                      <a:pt x="898" y="2464"/>
                    </a:lnTo>
                    <a:lnTo>
                      <a:pt x="890" y="2462"/>
                    </a:lnTo>
                    <a:lnTo>
                      <a:pt x="880" y="2458"/>
                    </a:lnTo>
                    <a:lnTo>
                      <a:pt x="871" y="2449"/>
                    </a:lnTo>
                    <a:lnTo>
                      <a:pt x="862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7" y="2388"/>
                    </a:lnTo>
                    <a:lnTo>
                      <a:pt x="828" y="2367"/>
                    </a:lnTo>
                    <a:lnTo>
                      <a:pt x="821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1" y="2218"/>
                    </a:lnTo>
                    <a:lnTo>
                      <a:pt x="785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50" y="1919"/>
                    </a:lnTo>
                    <a:lnTo>
                      <a:pt x="740" y="1818"/>
                    </a:lnTo>
                    <a:lnTo>
                      <a:pt x="733" y="1709"/>
                    </a:lnTo>
                    <a:lnTo>
                      <a:pt x="727" y="1597"/>
                    </a:lnTo>
                    <a:lnTo>
                      <a:pt x="722" y="1478"/>
                    </a:lnTo>
                    <a:lnTo>
                      <a:pt x="720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38"/>
              <p:cNvSpPr/>
              <p:nvPr/>
            </p:nvSpPr>
            <p:spPr bwMode="auto">
              <a:xfrm>
                <a:off x="7242" y="6080"/>
                <a:ext cx="500" cy="568"/>
              </a:xfrm>
              <a:custGeom>
                <a:avLst/>
                <a:gdLst>
                  <a:gd name="T0" fmla="*/ 0 w 1077"/>
                  <a:gd name="T1" fmla="*/ 1237 h 2464"/>
                  <a:gd name="T2" fmla="*/ 0 w 1077"/>
                  <a:gd name="T3" fmla="*/ 1235 h 2464"/>
                  <a:gd name="T4" fmla="*/ 0 w 1077"/>
                  <a:gd name="T5" fmla="*/ 1233 h 2464"/>
                  <a:gd name="T6" fmla="*/ 6 w 1077"/>
                  <a:gd name="T7" fmla="*/ 1046 h 2464"/>
                  <a:gd name="T8" fmla="*/ 24 w 1077"/>
                  <a:gd name="T9" fmla="*/ 867 h 2464"/>
                  <a:gd name="T10" fmla="*/ 53 w 1077"/>
                  <a:gd name="T11" fmla="*/ 699 h 2464"/>
                  <a:gd name="T12" fmla="*/ 91 w 1077"/>
                  <a:gd name="T13" fmla="*/ 545 h 2464"/>
                  <a:gd name="T14" fmla="*/ 139 w 1077"/>
                  <a:gd name="T15" fmla="*/ 405 h 2464"/>
                  <a:gd name="T16" fmla="*/ 196 w 1077"/>
                  <a:gd name="T17" fmla="*/ 282 h 2464"/>
                  <a:gd name="T18" fmla="*/ 259 w 1077"/>
                  <a:gd name="T19" fmla="*/ 179 h 2464"/>
                  <a:gd name="T20" fmla="*/ 329 w 1077"/>
                  <a:gd name="T21" fmla="*/ 97 h 2464"/>
                  <a:gd name="T22" fmla="*/ 403 w 1077"/>
                  <a:gd name="T23" fmla="*/ 39 h 2464"/>
                  <a:gd name="T24" fmla="*/ 483 w 1077"/>
                  <a:gd name="T25" fmla="*/ 6 h 2464"/>
                  <a:gd name="T26" fmla="*/ 565 w 1077"/>
                  <a:gd name="T27" fmla="*/ 2 h 2464"/>
                  <a:gd name="T28" fmla="*/ 646 w 1077"/>
                  <a:gd name="T29" fmla="*/ 25 h 2464"/>
                  <a:gd name="T30" fmla="*/ 723 w 1077"/>
                  <a:gd name="T31" fmla="*/ 75 h 2464"/>
                  <a:gd name="T32" fmla="*/ 794 w 1077"/>
                  <a:gd name="T33" fmla="*/ 148 h 2464"/>
                  <a:gd name="T34" fmla="*/ 859 w 1077"/>
                  <a:gd name="T35" fmla="*/ 245 h 2464"/>
                  <a:gd name="T36" fmla="*/ 918 w 1077"/>
                  <a:gd name="T37" fmla="*/ 360 h 2464"/>
                  <a:gd name="T38" fmla="*/ 968 w 1077"/>
                  <a:gd name="T39" fmla="*/ 493 h 2464"/>
                  <a:gd name="T40" fmla="*/ 1011 w 1077"/>
                  <a:gd name="T41" fmla="*/ 643 h 2464"/>
                  <a:gd name="T42" fmla="*/ 1043 w 1077"/>
                  <a:gd name="T43" fmla="*/ 806 h 2464"/>
                  <a:gd name="T44" fmla="*/ 1065 w 1077"/>
                  <a:gd name="T45" fmla="*/ 981 h 2464"/>
                  <a:gd name="T46" fmla="*/ 1075 w 1077"/>
                  <a:gd name="T47" fmla="*/ 1166 h 2464"/>
                  <a:gd name="T48" fmla="*/ 1077 w 1077"/>
                  <a:gd name="T49" fmla="*/ 1226 h 2464"/>
                  <a:gd name="T50" fmla="*/ 1077 w 1077"/>
                  <a:gd name="T51" fmla="*/ 1228 h 2464"/>
                  <a:gd name="T52" fmla="*/ 1077 w 1077"/>
                  <a:gd name="T53" fmla="*/ 1230 h 2464"/>
                  <a:gd name="T54" fmla="*/ 1073 w 1077"/>
                  <a:gd name="T55" fmla="*/ 1478 h 2464"/>
                  <a:gd name="T56" fmla="*/ 1055 w 1077"/>
                  <a:gd name="T57" fmla="*/ 1818 h 2464"/>
                  <a:gd name="T58" fmla="*/ 1025 w 1077"/>
                  <a:gd name="T59" fmla="*/ 2102 h 2464"/>
                  <a:gd name="T60" fmla="*/ 1005 w 1077"/>
                  <a:gd name="T61" fmla="*/ 2218 h 2464"/>
                  <a:gd name="T62" fmla="*/ 983 w 1077"/>
                  <a:gd name="T63" fmla="*/ 2314 h 2464"/>
                  <a:gd name="T64" fmla="*/ 959 w 1077"/>
                  <a:gd name="T65" fmla="*/ 2388 h 2464"/>
                  <a:gd name="T66" fmla="*/ 934 w 1077"/>
                  <a:gd name="T67" fmla="*/ 2438 h 2464"/>
                  <a:gd name="T68" fmla="*/ 907 w 1077"/>
                  <a:gd name="T69" fmla="*/ 2462 h 2464"/>
                  <a:gd name="T70" fmla="*/ 879 w 1077"/>
                  <a:gd name="T71" fmla="*/ 2458 h 2464"/>
                  <a:gd name="T72" fmla="*/ 853 w 1077"/>
                  <a:gd name="T73" fmla="*/ 2425 h 2464"/>
                  <a:gd name="T74" fmla="*/ 827 w 1077"/>
                  <a:gd name="T75" fmla="*/ 2367 h 2464"/>
                  <a:gd name="T76" fmla="*/ 805 w 1077"/>
                  <a:gd name="T77" fmla="*/ 2285 h 2464"/>
                  <a:gd name="T78" fmla="*/ 784 w 1077"/>
                  <a:gd name="T79" fmla="*/ 2182 h 2464"/>
                  <a:gd name="T80" fmla="*/ 759 w 1077"/>
                  <a:gd name="T81" fmla="*/ 2014 h 2464"/>
                  <a:gd name="T82" fmla="*/ 732 w 1077"/>
                  <a:gd name="T83" fmla="*/ 1709 h 2464"/>
                  <a:gd name="T84" fmla="*/ 719 w 1077"/>
                  <a:gd name="T85" fmla="*/ 1357 h 2464"/>
                  <a:gd name="T86" fmla="*/ 718 w 1077"/>
                  <a:gd name="T87" fmla="*/ 1227 h 2464"/>
                  <a:gd name="T88" fmla="*/ 718 w 1077"/>
                  <a:gd name="T89" fmla="*/ 1222 h 2464"/>
                  <a:gd name="T90" fmla="*/ 718 w 1077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7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0" y="1171"/>
                    </a:lnTo>
                    <a:lnTo>
                      <a:pt x="2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2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1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39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6" y="282"/>
                    </a:lnTo>
                    <a:lnTo>
                      <a:pt x="215" y="246"/>
                    </a:lnTo>
                    <a:lnTo>
                      <a:pt x="237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3" y="39"/>
                    </a:lnTo>
                    <a:lnTo>
                      <a:pt x="430" y="26"/>
                    </a:lnTo>
                    <a:lnTo>
                      <a:pt x="455" y="15"/>
                    </a:lnTo>
                    <a:lnTo>
                      <a:pt x="483" y="6"/>
                    </a:lnTo>
                    <a:lnTo>
                      <a:pt x="509" y="2"/>
                    </a:lnTo>
                    <a:lnTo>
                      <a:pt x="537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19" y="15"/>
                    </a:lnTo>
                    <a:lnTo>
                      <a:pt x="646" y="25"/>
                    </a:lnTo>
                    <a:lnTo>
                      <a:pt x="672" y="39"/>
                    </a:lnTo>
                    <a:lnTo>
                      <a:pt x="697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8" y="210"/>
                    </a:lnTo>
                    <a:lnTo>
                      <a:pt x="859" y="245"/>
                    </a:lnTo>
                    <a:lnTo>
                      <a:pt x="879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8" y="493"/>
                    </a:lnTo>
                    <a:lnTo>
                      <a:pt x="983" y="542"/>
                    </a:lnTo>
                    <a:lnTo>
                      <a:pt x="997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3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7" y="1226"/>
                    </a:lnTo>
                    <a:lnTo>
                      <a:pt x="1077" y="1226"/>
                    </a:lnTo>
                    <a:lnTo>
                      <a:pt x="1077" y="1227"/>
                    </a:lnTo>
                    <a:lnTo>
                      <a:pt x="1077" y="1227"/>
                    </a:lnTo>
                    <a:lnTo>
                      <a:pt x="1077" y="1228"/>
                    </a:lnTo>
                    <a:lnTo>
                      <a:pt x="1077" y="1229"/>
                    </a:lnTo>
                    <a:lnTo>
                      <a:pt x="1077" y="1230"/>
                    </a:lnTo>
                    <a:lnTo>
                      <a:pt x="1077" y="1230"/>
                    </a:lnTo>
                    <a:lnTo>
                      <a:pt x="1077" y="1231"/>
                    </a:lnTo>
                    <a:lnTo>
                      <a:pt x="1077" y="1357"/>
                    </a:lnTo>
                    <a:lnTo>
                      <a:pt x="1073" y="1478"/>
                    </a:lnTo>
                    <a:lnTo>
                      <a:pt x="1070" y="1597"/>
                    </a:lnTo>
                    <a:lnTo>
                      <a:pt x="1064" y="1709"/>
                    </a:lnTo>
                    <a:lnTo>
                      <a:pt x="1055" y="1818"/>
                    </a:lnTo>
                    <a:lnTo>
                      <a:pt x="1047" y="1919"/>
                    </a:lnTo>
                    <a:lnTo>
                      <a:pt x="1036" y="2014"/>
                    </a:lnTo>
                    <a:lnTo>
                      <a:pt x="1025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9" y="2252"/>
                    </a:lnTo>
                    <a:lnTo>
                      <a:pt x="990" y="2285"/>
                    </a:lnTo>
                    <a:lnTo>
                      <a:pt x="983" y="2314"/>
                    </a:lnTo>
                    <a:lnTo>
                      <a:pt x="976" y="2342"/>
                    </a:lnTo>
                    <a:lnTo>
                      <a:pt x="967" y="2367"/>
                    </a:lnTo>
                    <a:lnTo>
                      <a:pt x="959" y="2388"/>
                    </a:lnTo>
                    <a:lnTo>
                      <a:pt x="950" y="2407"/>
                    </a:lnTo>
                    <a:lnTo>
                      <a:pt x="942" y="2425"/>
                    </a:lnTo>
                    <a:lnTo>
                      <a:pt x="934" y="2438"/>
                    </a:lnTo>
                    <a:lnTo>
                      <a:pt x="925" y="2449"/>
                    </a:lnTo>
                    <a:lnTo>
                      <a:pt x="915" y="2458"/>
                    </a:lnTo>
                    <a:lnTo>
                      <a:pt x="907" y="2462"/>
                    </a:lnTo>
                    <a:lnTo>
                      <a:pt x="897" y="2464"/>
                    </a:lnTo>
                    <a:lnTo>
                      <a:pt x="889" y="2462"/>
                    </a:lnTo>
                    <a:lnTo>
                      <a:pt x="879" y="2458"/>
                    </a:lnTo>
                    <a:lnTo>
                      <a:pt x="871" y="2449"/>
                    </a:lnTo>
                    <a:lnTo>
                      <a:pt x="861" y="2438"/>
                    </a:lnTo>
                    <a:lnTo>
                      <a:pt x="853" y="2425"/>
                    </a:lnTo>
                    <a:lnTo>
                      <a:pt x="844" y="2407"/>
                    </a:lnTo>
                    <a:lnTo>
                      <a:pt x="836" y="2388"/>
                    </a:lnTo>
                    <a:lnTo>
                      <a:pt x="827" y="2367"/>
                    </a:lnTo>
                    <a:lnTo>
                      <a:pt x="820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7" y="2252"/>
                    </a:lnTo>
                    <a:lnTo>
                      <a:pt x="790" y="2218"/>
                    </a:lnTo>
                    <a:lnTo>
                      <a:pt x="784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49" y="1919"/>
                    </a:lnTo>
                    <a:lnTo>
                      <a:pt x="740" y="1818"/>
                    </a:lnTo>
                    <a:lnTo>
                      <a:pt x="732" y="1709"/>
                    </a:lnTo>
                    <a:lnTo>
                      <a:pt x="726" y="1597"/>
                    </a:lnTo>
                    <a:lnTo>
                      <a:pt x="721" y="1478"/>
                    </a:lnTo>
                    <a:lnTo>
                      <a:pt x="719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39"/>
              <p:cNvSpPr/>
              <p:nvPr/>
            </p:nvSpPr>
            <p:spPr bwMode="auto">
              <a:xfrm>
                <a:off x="6905" y="6080"/>
                <a:ext cx="502" cy="568"/>
              </a:xfrm>
              <a:custGeom>
                <a:avLst/>
                <a:gdLst>
                  <a:gd name="T0" fmla="*/ 0 w 1077"/>
                  <a:gd name="T1" fmla="*/ 1237 h 2464"/>
                  <a:gd name="T2" fmla="*/ 0 w 1077"/>
                  <a:gd name="T3" fmla="*/ 1235 h 2464"/>
                  <a:gd name="T4" fmla="*/ 0 w 1077"/>
                  <a:gd name="T5" fmla="*/ 1233 h 2464"/>
                  <a:gd name="T6" fmla="*/ 6 w 1077"/>
                  <a:gd name="T7" fmla="*/ 1046 h 2464"/>
                  <a:gd name="T8" fmla="*/ 24 w 1077"/>
                  <a:gd name="T9" fmla="*/ 867 h 2464"/>
                  <a:gd name="T10" fmla="*/ 53 w 1077"/>
                  <a:gd name="T11" fmla="*/ 699 h 2464"/>
                  <a:gd name="T12" fmla="*/ 92 w 1077"/>
                  <a:gd name="T13" fmla="*/ 545 h 2464"/>
                  <a:gd name="T14" fmla="*/ 140 w 1077"/>
                  <a:gd name="T15" fmla="*/ 405 h 2464"/>
                  <a:gd name="T16" fmla="*/ 196 w 1077"/>
                  <a:gd name="T17" fmla="*/ 282 h 2464"/>
                  <a:gd name="T18" fmla="*/ 259 w 1077"/>
                  <a:gd name="T19" fmla="*/ 179 h 2464"/>
                  <a:gd name="T20" fmla="*/ 329 w 1077"/>
                  <a:gd name="T21" fmla="*/ 97 h 2464"/>
                  <a:gd name="T22" fmla="*/ 404 w 1077"/>
                  <a:gd name="T23" fmla="*/ 39 h 2464"/>
                  <a:gd name="T24" fmla="*/ 483 w 1077"/>
                  <a:gd name="T25" fmla="*/ 6 h 2464"/>
                  <a:gd name="T26" fmla="*/ 565 w 1077"/>
                  <a:gd name="T27" fmla="*/ 2 h 2464"/>
                  <a:gd name="T28" fmla="*/ 646 w 1077"/>
                  <a:gd name="T29" fmla="*/ 25 h 2464"/>
                  <a:gd name="T30" fmla="*/ 723 w 1077"/>
                  <a:gd name="T31" fmla="*/ 75 h 2464"/>
                  <a:gd name="T32" fmla="*/ 794 w 1077"/>
                  <a:gd name="T33" fmla="*/ 148 h 2464"/>
                  <a:gd name="T34" fmla="*/ 859 w 1077"/>
                  <a:gd name="T35" fmla="*/ 245 h 2464"/>
                  <a:gd name="T36" fmla="*/ 918 w 1077"/>
                  <a:gd name="T37" fmla="*/ 360 h 2464"/>
                  <a:gd name="T38" fmla="*/ 969 w 1077"/>
                  <a:gd name="T39" fmla="*/ 493 h 2464"/>
                  <a:gd name="T40" fmla="*/ 1011 w 1077"/>
                  <a:gd name="T41" fmla="*/ 643 h 2464"/>
                  <a:gd name="T42" fmla="*/ 1044 w 1077"/>
                  <a:gd name="T43" fmla="*/ 806 h 2464"/>
                  <a:gd name="T44" fmla="*/ 1065 w 1077"/>
                  <a:gd name="T45" fmla="*/ 981 h 2464"/>
                  <a:gd name="T46" fmla="*/ 1075 w 1077"/>
                  <a:gd name="T47" fmla="*/ 1166 h 2464"/>
                  <a:gd name="T48" fmla="*/ 1077 w 1077"/>
                  <a:gd name="T49" fmla="*/ 1226 h 2464"/>
                  <a:gd name="T50" fmla="*/ 1077 w 1077"/>
                  <a:gd name="T51" fmla="*/ 1228 h 2464"/>
                  <a:gd name="T52" fmla="*/ 1077 w 1077"/>
                  <a:gd name="T53" fmla="*/ 1230 h 2464"/>
                  <a:gd name="T54" fmla="*/ 1074 w 1077"/>
                  <a:gd name="T55" fmla="*/ 1478 h 2464"/>
                  <a:gd name="T56" fmla="*/ 1056 w 1077"/>
                  <a:gd name="T57" fmla="*/ 1818 h 2464"/>
                  <a:gd name="T58" fmla="*/ 1026 w 1077"/>
                  <a:gd name="T59" fmla="*/ 2102 h 2464"/>
                  <a:gd name="T60" fmla="*/ 1005 w 1077"/>
                  <a:gd name="T61" fmla="*/ 2218 h 2464"/>
                  <a:gd name="T62" fmla="*/ 983 w 1077"/>
                  <a:gd name="T63" fmla="*/ 2314 h 2464"/>
                  <a:gd name="T64" fmla="*/ 959 w 1077"/>
                  <a:gd name="T65" fmla="*/ 2388 h 2464"/>
                  <a:gd name="T66" fmla="*/ 934 w 1077"/>
                  <a:gd name="T67" fmla="*/ 2438 h 2464"/>
                  <a:gd name="T68" fmla="*/ 907 w 1077"/>
                  <a:gd name="T69" fmla="*/ 2462 h 2464"/>
                  <a:gd name="T70" fmla="*/ 880 w 1077"/>
                  <a:gd name="T71" fmla="*/ 2458 h 2464"/>
                  <a:gd name="T72" fmla="*/ 853 w 1077"/>
                  <a:gd name="T73" fmla="*/ 2425 h 2464"/>
                  <a:gd name="T74" fmla="*/ 828 w 1077"/>
                  <a:gd name="T75" fmla="*/ 2367 h 2464"/>
                  <a:gd name="T76" fmla="*/ 805 w 1077"/>
                  <a:gd name="T77" fmla="*/ 2285 h 2464"/>
                  <a:gd name="T78" fmla="*/ 783 w 1077"/>
                  <a:gd name="T79" fmla="*/ 2182 h 2464"/>
                  <a:gd name="T80" fmla="*/ 759 w 1077"/>
                  <a:gd name="T81" fmla="*/ 2014 h 2464"/>
                  <a:gd name="T82" fmla="*/ 733 w 1077"/>
                  <a:gd name="T83" fmla="*/ 1709 h 2464"/>
                  <a:gd name="T84" fmla="*/ 719 w 1077"/>
                  <a:gd name="T85" fmla="*/ 1357 h 2464"/>
                  <a:gd name="T86" fmla="*/ 718 w 1077"/>
                  <a:gd name="T87" fmla="*/ 1227 h 2464"/>
                  <a:gd name="T88" fmla="*/ 718 w 1077"/>
                  <a:gd name="T89" fmla="*/ 1222 h 2464"/>
                  <a:gd name="T90" fmla="*/ 718 w 1077"/>
                  <a:gd name="T91" fmla="*/ 1217 h 2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77" h="2464">
                    <a:moveTo>
                      <a:pt x="0" y="1238"/>
                    </a:moveTo>
                    <a:lnTo>
                      <a:pt x="0" y="1238"/>
                    </a:lnTo>
                    <a:lnTo>
                      <a:pt x="0" y="1237"/>
                    </a:lnTo>
                    <a:lnTo>
                      <a:pt x="0" y="1237"/>
                    </a:lnTo>
                    <a:lnTo>
                      <a:pt x="0" y="1236"/>
                    </a:lnTo>
                    <a:lnTo>
                      <a:pt x="0" y="1235"/>
                    </a:lnTo>
                    <a:lnTo>
                      <a:pt x="0" y="1234"/>
                    </a:lnTo>
                    <a:lnTo>
                      <a:pt x="0" y="1234"/>
                    </a:lnTo>
                    <a:lnTo>
                      <a:pt x="0" y="1233"/>
                    </a:lnTo>
                    <a:lnTo>
                      <a:pt x="0" y="1171"/>
                    </a:lnTo>
                    <a:lnTo>
                      <a:pt x="2" y="1107"/>
                    </a:lnTo>
                    <a:lnTo>
                      <a:pt x="6" y="1046"/>
                    </a:lnTo>
                    <a:lnTo>
                      <a:pt x="11" y="986"/>
                    </a:lnTo>
                    <a:lnTo>
                      <a:pt x="17" y="926"/>
                    </a:lnTo>
                    <a:lnTo>
                      <a:pt x="24" y="867"/>
                    </a:lnTo>
                    <a:lnTo>
                      <a:pt x="33" y="810"/>
                    </a:lnTo>
                    <a:lnTo>
                      <a:pt x="42" y="755"/>
                    </a:lnTo>
                    <a:lnTo>
                      <a:pt x="53" y="699"/>
                    </a:lnTo>
                    <a:lnTo>
                      <a:pt x="65" y="646"/>
                    </a:lnTo>
                    <a:lnTo>
                      <a:pt x="78" y="595"/>
                    </a:lnTo>
                    <a:lnTo>
                      <a:pt x="92" y="545"/>
                    </a:lnTo>
                    <a:lnTo>
                      <a:pt x="107" y="496"/>
                    </a:lnTo>
                    <a:lnTo>
                      <a:pt x="123" y="450"/>
                    </a:lnTo>
                    <a:lnTo>
                      <a:pt x="140" y="405"/>
                    </a:lnTo>
                    <a:lnTo>
                      <a:pt x="158" y="362"/>
                    </a:lnTo>
                    <a:lnTo>
                      <a:pt x="176" y="321"/>
                    </a:lnTo>
                    <a:lnTo>
                      <a:pt x="196" y="282"/>
                    </a:lnTo>
                    <a:lnTo>
                      <a:pt x="216" y="246"/>
                    </a:lnTo>
                    <a:lnTo>
                      <a:pt x="237" y="212"/>
                    </a:lnTo>
                    <a:lnTo>
                      <a:pt x="259" y="179"/>
                    </a:lnTo>
                    <a:lnTo>
                      <a:pt x="282" y="150"/>
                    </a:lnTo>
                    <a:lnTo>
                      <a:pt x="305" y="122"/>
                    </a:lnTo>
                    <a:lnTo>
                      <a:pt x="329" y="97"/>
                    </a:lnTo>
                    <a:lnTo>
                      <a:pt x="353" y="76"/>
                    </a:lnTo>
                    <a:lnTo>
                      <a:pt x="378" y="57"/>
                    </a:lnTo>
                    <a:lnTo>
                      <a:pt x="404" y="39"/>
                    </a:lnTo>
                    <a:lnTo>
                      <a:pt x="430" y="26"/>
                    </a:lnTo>
                    <a:lnTo>
                      <a:pt x="456" y="15"/>
                    </a:lnTo>
                    <a:lnTo>
                      <a:pt x="483" y="6"/>
                    </a:lnTo>
                    <a:lnTo>
                      <a:pt x="510" y="2"/>
                    </a:lnTo>
                    <a:lnTo>
                      <a:pt x="537" y="0"/>
                    </a:lnTo>
                    <a:lnTo>
                      <a:pt x="565" y="2"/>
                    </a:lnTo>
                    <a:lnTo>
                      <a:pt x="593" y="6"/>
                    </a:lnTo>
                    <a:lnTo>
                      <a:pt x="619" y="15"/>
                    </a:lnTo>
                    <a:lnTo>
                      <a:pt x="646" y="25"/>
                    </a:lnTo>
                    <a:lnTo>
                      <a:pt x="672" y="39"/>
                    </a:lnTo>
                    <a:lnTo>
                      <a:pt x="698" y="55"/>
                    </a:lnTo>
                    <a:lnTo>
                      <a:pt x="723" y="75"/>
                    </a:lnTo>
                    <a:lnTo>
                      <a:pt x="747" y="96"/>
                    </a:lnTo>
                    <a:lnTo>
                      <a:pt x="771" y="121"/>
                    </a:lnTo>
                    <a:lnTo>
                      <a:pt x="794" y="148"/>
                    </a:lnTo>
                    <a:lnTo>
                      <a:pt x="817" y="178"/>
                    </a:lnTo>
                    <a:lnTo>
                      <a:pt x="839" y="210"/>
                    </a:lnTo>
                    <a:lnTo>
                      <a:pt x="859" y="245"/>
                    </a:lnTo>
                    <a:lnTo>
                      <a:pt x="880" y="280"/>
                    </a:lnTo>
                    <a:lnTo>
                      <a:pt x="899" y="319"/>
                    </a:lnTo>
                    <a:lnTo>
                      <a:pt x="918" y="360"/>
                    </a:lnTo>
                    <a:lnTo>
                      <a:pt x="936" y="402"/>
                    </a:lnTo>
                    <a:lnTo>
                      <a:pt x="953" y="447"/>
                    </a:lnTo>
                    <a:lnTo>
                      <a:pt x="969" y="493"/>
                    </a:lnTo>
                    <a:lnTo>
                      <a:pt x="983" y="542"/>
                    </a:lnTo>
                    <a:lnTo>
                      <a:pt x="998" y="591"/>
                    </a:lnTo>
                    <a:lnTo>
                      <a:pt x="1011" y="643"/>
                    </a:lnTo>
                    <a:lnTo>
                      <a:pt x="1023" y="695"/>
                    </a:lnTo>
                    <a:lnTo>
                      <a:pt x="1034" y="751"/>
                    </a:lnTo>
                    <a:lnTo>
                      <a:pt x="1044" y="806"/>
                    </a:lnTo>
                    <a:lnTo>
                      <a:pt x="1052" y="863"/>
                    </a:lnTo>
                    <a:lnTo>
                      <a:pt x="1059" y="921"/>
                    </a:lnTo>
                    <a:lnTo>
                      <a:pt x="1065" y="981"/>
                    </a:lnTo>
                    <a:lnTo>
                      <a:pt x="1070" y="1042"/>
                    </a:lnTo>
                    <a:lnTo>
                      <a:pt x="1073" y="1103"/>
                    </a:lnTo>
                    <a:lnTo>
                      <a:pt x="1075" y="1166"/>
                    </a:lnTo>
                    <a:lnTo>
                      <a:pt x="1076" y="1229"/>
                    </a:lnTo>
                    <a:lnTo>
                      <a:pt x="1077" y="1226"/>
                    </a:lnTo>
                    <a:lnTo>
                      <a:pt x="1077" y="1226"/>
                    </a:lnTo>
                    <a:lnTo>
                      <a:pt x="1077" y="1227"/>
                    </a:lnTo>
                    <a:lnTo>
                      <a:pt x="1077" y="1227"/>
                    </a:lnTo>
                    <a:lnTo>
                      <a:pt x="1077" y="1228"/>
                    </a:lnTo>
                    <a:lnTo>
                      <a:pt x="1077" y="1229"/>
                    </a:lnTo>
                    <a:lnTo>
                      <a:pt x="1077" y="1230"/>
                    </a:lnTo>
                    <a:lnTo>
                      <a:pt x="1077" y="1230"/>
                    </a:lnTo>
                    <a:lnTo>
                      <a:pt x="1077" y="1231"/>
                    </a:lnTo>
                    <a:lnTo>
                      <a:pt x="1076" y="1357"/>
                    </a:lnTo>
                    <a:lnTo>
                      <a:pt x="1074" y="1478"/>
                    </a:lnTo>
                    <a:lnTo>
                      <a:pt x="1070" y="1597"/>
                    </a:lnTo>
                    <a:lnTo>
                      <a:pt x="1063" y="1709"/>
                    </a:lnTo>
                    <a:lnTo>
                      <a:pt x="1056" y="1818"/>
                    </a:lnTo>
                    <a:lnTo>
                      <a:pt x="1047" y="1919"/>
                    </a:lnTo>
                    <a:lnTo>
                      <a:pt x="1036" y="2014"/>
                    </a:lnTo>
                    <a:lnTo>
                      <a:pt x="1026" y="2102"/>
                    </a:lnTo>
                    <a:lnTo>
                      <a:pt x="1018" y="2143"/>
                    </a:lnTo>
                    <a:lnTo>
                      <a:pt x="1012" y="2182"/>
                    </a:lnTo>
                    <a:lnTo>
                      <a:pt x="1005" y="2218"/>
                    </a:lnTo>
                    <a:lnTo>
                      <a:pt x="998" y="2252"/>
                    </a:lnTo>
                    <a:lnTo>
                      <a:pt x="991" y="2285"/>
                    </a:lnTo>
                    <a:lnTo>
                      <a:pt x="983" y="2314"/>
                    </a:lnTo>
                    <a:lnTo>
                      <a:pt x="976" y="2342"/>
                    </a:lnTo>
                    <a:lnTo>
                      <a:pt x="968" y="2367"/>
                    </a:lnTo>
                    <a:lnTo>
                      <a:pt x="959" y="2388"/>
                    </a:lnTo>
                    <a:lnTo>
                      <a:pt x="951" y="2407"/>
                    </a:lnTo>
                    <a:lnTo>
                      <a:pt x="942" y="2425"/>
                    </a:lnTo>
                    <a:lnTo>
                      <a:pt x="934" y="2438"/>
                    </a:lnTo>
                    <a:lnTo>
                      <a:pt x="926" y="2449"/>
                    </a:lnTo>
                    <a:lnTo>
                      <a:pt x="916" y="2458"/>
                    </a:lnTo>
                    <a:lnTo>
                      <a:pt x="907" y="2462"/>
                    </a:lnTo>
                    <a:lnTo>
                      <a:pt x="898" y="2464"/>
                    </a:lnTo>
                    <a:lnTo>
                      <a:pt x="889" y="2462"/>
                    </a:lnTo>
                    <a:lnTo>
                      <a:pt x="880" y="2458"/>
                    </a:lnTo>
                    <a:lnTo>
                      <a:pt x="870" y="2449"/>
                    </a:lnTo>
                    <a:lnTo>
                      <a:pt x="862" y="2438"/>
                    </a:lnTo>
                    <a:lnTo>
                      <a:pt x="853" y="2425"/>
                    </a:lnTo>
                    <a:lnTo>
                      <a:pt x="845" y="2407"/>
                    </a:lnTo>
                    <a:lnTo>
                      <a:pt x="836" y="2388"/>
                    </a:lnTo>
                    <a:lnTo>
                      <a:pt x="828" y="2367"/>
                    </a:lnTo>
                    <a:lnTo>
                      <a:pt x="821" y="2342"/>
                    </a:lnTo>
                    <a:lnTo>
                      <a:pt x="812" y="2314"/>
                    </a:lnTo>
                    <a:lnTo>
                      <a:pt x="805" y="2285"/>
                    </a:lnTo>
                    <a:lnTo>
                      <a:pt x="798" y="2252"/>
                    </a:lnTo>
                    <a:lnTo>
                      <a:pt x="791" y="2218"/>
                    </a:lnTo>
                    <a:lnTo>
                      <a:pt x="783" y="2182"/>
                    </a:lnTo>
                    <a:lnTo>
                      <a:pt x="777" y="2143"/>
                    </a:lnTo>
                    <a:lnTo>
                      <a:pt x="771" y="2102"/>
                    </a:lnTo>
                    <a:lnTo>
                      <a:pt x="759" y="2014"/>
                    </a:lnTo>
                    <a:lnTo>
                      <a:pt x="750" y="1919"/>
                    </a:lnTo>
                    <a:lnTo>
                      <a:pt x="740" y="1818"/>
                    </a:lnTo>
                    <a:lnTo>
                      <a:pt x="733" y="1709"/>
                    </a:lnTo>
                    <a:lnTo>
                      <a:pt x="727" y="1597"/>
                    </a:lnTo>
                    <a:lnTo>
                      <a:pt x="722" y="1478"/>
                    </a:lnTo>
                    <a:lnTo>
                      <a:pt x="719" y="1357"/>
                    </a:lnTo>
                    <a:lnTo>
                      <a:pt x="718" y="1231"/>
                    </a:lnTo>
                    <a:lnTo>
                      <a:pt x="718" y="1229"/>
                    </a:lnTo>
                    <a:lnTo>
                      <a:pt x="718" y="1227"/>
                    </a:lnTo>
                    <a:lnTo>
                      <a:pt x="718" y="1225"/>
                    </a:lnTo>
                    <a:lnTo>
                      <a:pt x="718" y="1224"/>
                    </a:lnTo>
                    <a:lnTo>
                      <a:pt x="718" y="1222"/>
                    </a:lnTo>
                    <a:lnTo>
                      <a:pt x="718" y="1220"/>
                    </a:lnTo>
                    <a:lnTo>
                      <a:pt x="718" y="1218"/>
                    </a:lnTo>
                    <a:lnTo>
                      <a:pt x="718" y="1217"/>
                    </a:lnTo>
                  </a:path>
                </a:pathLst>
              </a:custGeom>
              <a:noFill/>
              <a:ln w="38100">
                <a:solidFill>
                  <a:srgbClr val="1F1A17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Line 40"/>
              <p:cNvSpPr>
                <a:spLocks noChangeShapeType="1"/>
              </p:cNvSpPr>
              <p:nvPr/>
            </p:nvSpPr>
            <p:spPr bwMode="auto">
              <a:xfrm>
                <a:off x="9332" y="6387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9075" y="5967"/>
              <a:ext cx="0" cy="86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83515" y="2637155"/>
            <a:ext cx="1891030" cy="2806700"/>
            <a:chOff x="289" y="4153"/>
            <a:chExt cx="2978" cy="4420"/>
          </a:xfrm>
        </p:grpSpPr>
        <p:grpSp>
          <p:nvGrpSpPr>
            <p:cNvPr id="84993" name="Group 2"/>
            <p:cNvGrpSpPr/>
            <p:nvPr/>
          </p:nvGrpSpPr>
          <p:grpSpPr>
            <a:xfrm>
              <a:off x="402" y="4153"/>
              <a:ext cx="2812" cy="4420"/>
              <a:chOff x="4540" y="836"/>
              <a:chExt cx="912" cy="1488"/>
            </a:xfrm>
          </p:grpSpPr>
          <p:grpSp>
            <p:nvGrpSpPr>
              <p:cNvPr id="84994" name="Group 3"/>
              <p:cNvGrpSpPr/>
              <p:nvPr/>
            </p:nvGrpSpPr>
            <p:grpSpPr>
              <a:xfrm>
                <a:off x="5050" y="932"/>
                <a:ext cx="114" cy="1152"/>
                <a:chOff x="4062" y="1648"/>
                <a:chExt cx="210" cy="716"/>
              </a:xfrm>
            </p:grpSpPr>
            <p:grpSp>
              <p:nvGrpSpPr>
                <p:cNvPr id="84995" name="Group 4"/>
                <p:cNvGrpSpPr/>
                <p:nvPr/>
              </p:nvGrpSpPr>
              <p:grpSpPr>
                <a:xfrm>
                  <a:off x="4062" y="1648"/>
                  <a:ext cx="204" cy="396"/>
                  <a:chOff x="3552" y="2592"/>
                  <a:chExt cx="204" cy="396"/>
                </a:xfrm>
              </p:grpSpPr>
              <p:graphicFrame>
                <p:nvGraphicFramePr>
                  <p:cNvPr id="8499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552" y="2592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28" name="" r:id="rId5" imgW="325120" imgH="400050" progId="Paint.Picture">
                          <p:embed/>
                        </p:oleObj>
                      </mc:Choice>
                      <mc:Fallback>
                        <p:oleObj name="" r:id="rId5" imgW="325120" imgH="400050" progId="Paint.Picture">
                          <p:embed/>
                          <p:pic>
                            <p:nvPicPr>
                              <p:cNvPr id="0" name="图片 3327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592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4997" name="Object 6"/>
                  <p:cNvGraphicFramePr>
                    <a:graphicFrameLocks noChangeAspect="1"/>
                  </p:cNvGraphicFramePr>
                  <p:nvPr/>
                </p:nvGraphicFramePr>
                <p:xfrm>
                  <a:off x="3552" y="2736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34" name="" r:id="rId7" imgW="325120" imgH="400050" progId="Paint.Picture">
                          <p:embed/>
                        </p:oleObj>
                      </mc:Choice>
                      <mc:Fallback>
                        <p:oleObj name="" r:id="rId7" imgW="325120" imgH="400050" progId="Paint.Picture">
                          <p:embed/>
                          <p:pic>
                            <p:nvPicPr>
                              <p:cNvPr id="0" name="图片 3333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736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84998" name="Group 7"/>
                <p:cNvGrpSpPr/>
                <p:nvPr/>
              </p:nvGrpSpPr>
              <p:grpSpPr>
                <a:xfrm>
                  <a:off x="4068" y="1968"/>
                  <a:ext cx="204" cy="396"/>
                  <a:chOff x="3552" y="2592"/>
                  <a:chExt cx="204" cy="396"/>
                </a:xfrm>
              </p:grpSpPr>
              <p:graphicFrame>
                <p:nvGraphicFramePr>
                  <p:cNvPr id="84999" name="Object 8"/>
                  <p:cNvGraphicFramePr>
                    <a:graphicFrameLocks noChangeAspect="1"/>
                  </p:cNvGraphicFramePr>
                  <p:nvPr/>
                </p:nvGraphicFramePr>
                <p:xfrm>
                  <a:off x="3552" y="2592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33" name="" r:id="rId8" imgW="325120" imgH="400050" progId="Paint.Picture">
                          <p:embed/>
                        </p:oleObj>
                      </mc:Choice>
                      <mc:Fallback>
                        <p:oleObj name="" r:id="rId8" imgW="325120" imgH="400050" progId="Paint.Picture">
                          <p:embed/>
                          <p:pic>
                            <p:nvPicPr>
                              <p:cNvPr id="0" name="图片 3332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592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5000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3552" y="2736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29" name="" r:id="rId9" imgW="325120" imgH="400050" progId="Paint.Picture">
                          <p:embed/>
                        </p:oleObj>
                      </mc:Choice>
                      <mc:Fallback>
                        <p:oleObj name="" r:id="rId9" imgW="325120" imgH="400050" progId="Paint.Picture">
                          <p:embed/>
                          <p:pic>
                            <p:nvPicPr>
                              <p:cNvPr id="0" name="图片 3328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736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2" name="Rectangle 10"/>
              <p:cNvSpPr>
                <a:spLocks noChangeArrowheads="1"/>
              </p:cNvSpPr>
              <p:nvPr/>
            </p:nvSpPr>
            <p:spPr bwMode="auto">
              <a:xfrm>
                <a:off x="4752" y="2132"/>
                <a:ext cx="430" cy="19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EE30D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endParaRPr>
              </a:p>
            </p:txBody>
          </p:sp>
          <p:grpSp>
            <p:nvGrpSpPr>
              <p:cNvPr id="85002" name="Group 11"/>
              <p:cNvGrpSpPr/>
              <p:nvPr/>
            </p:nvGrpSpPr>
            <p:grpSpPr>
              <a:xfrm>
                <a:off x="4540" y="836"/>
                <a:ext cx="912" cy="96"/>
                <a:chOff x="3142" y="1554"/>
                <a:chExt cx="912" cy="96"/>
              </a:xfrm>
            </p:grpSpPr>
            <p:graphicFrame>
              <p:nvGraphicFramePr>
                <p:cNvPr id="85003" name="Object 12"/>
                <p:cNvGraphicFramePr>
                  <a:graphicFrameLocks noChangeAspect="1"/>
                </p:cNvGraphicFramePr>
                <p:nvPr/>
              </p:nvGraphicFramePr>
              <p:xfrm>
                <a:off x="3216" y="1554"/>
                <a:ext cx="767" cy="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35" name="" r:id="rId10" imgW="768985" imgH="179705" progId="Paint.Picture">
                        <p:embed/>
                      </p:oleObj>
                    </mc:Choice>
                    <mc:Fallback>
                      <p:oleObj name="" r:id="rId10" imgW="768985" imgH="179705" progId="Paint.Picture">
                        <p:embed/>
                        <p:pic>
                          <p:nvPicPr>
                            <p:cNvPr id="0" name="图片 3334"/>
                            <p:cNvPicPr/>
                            <p:nvPr/>
                          </p:nvPicPr>
                          <p:blipFill>
                            <a:blip r:embed="rId11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16" y="1554"/>
                              <a:ext cx="767" cy="9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8" name="Line 13"/>
                <p:cNvSpPr>
                  <a:spLocks noChangeShapeType="1"/>
                </p:cNvSpPr>
                <p:nvPr/>
              </p:nvSpPr>
              <p:spPr bwMode="auto">
                <a:xfrm>
                  <a:off x="3142" y="1642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3333CC"/>
                    </a:buClr>
                    <a:buSzTx/>
                    <a:buFont typeface="Monotype Sorts" pitchFamily="2" charset="2"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85005" name="Group 14"/>
              <p:cNvGrpSpPr/>
              <p:nvPr/>
            </p:nvGrpSpPr>
            <p:grpSpPr>
              <a:xfrm>
                <a:off x="4828" y="932"/>
                <a:ext cx="114" cy="1152"/>
                <a:chOff x="4062" y="1648"/>
                <a:chExt cx="210" cy="716"/>
              </a:xfrm>
            </p:grpSpPr>
            <p:grpSp>
              <p:nvGrpSpPr>
                <p:cNvPr id="85006" name="Group 15"/>
                <p:cNvGrpSpPr/>
                <p:nvPr/>
              </p:nvGrpSpPr>
              <p:grpSpPr>
                <a:xfrm>
                  <a:off x="4062" y="1648"/>
                  <a:ext cx="204" cy="396"/>
                  <a:chOff x="3552" y="2592"/>
                  <a:chExt cx="204" cy="396"/>
                </a:xfrm>
              </p:grpSpPr>
              <p:graphicFrame>
                <p:nvGraphicFramePr>
                  <p:cNvPr id="85007" name="Object 16"/>
                  <p:cNvGraphicFramePr>
                    <a:graphicFrameLocks noChangeAspect="1"/>
                  </p:cNvGraphicFramePr>
                  <p:nvPr/>
                </p:nvGraphicFramePr>
                <p:xfrm>
                  <a:off x="3552" y="2592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32" name="" r:id="rId12" imgW="325120" imgH="400050" progId="Paint.Picture">
                          <p:embed/>
                        </p:oleObj>
                      </mc:Choice>
                      <mc:Fallback>
                        <p:oleObj name="" r:id="rId12" imgW="325120" imgH="400050" progId="Paint.Picture">
                          <p:embed/>
                          <p:pic>
                            <p:nvPicPr>
                              <p:cNvPr id="0" name="图片 3331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592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5008" name="Object 17"/>
                  <p:cNvGraphicFramePr>
                    <a:graphicFrameLocks noChangeAspect="1"/>
                  </p:cNvGraphicFramePr>
                  <p:nvPr/>
                </p:nvGraphicFramePr>
                <p:xfrm>
                  <a:off x="3552" y="2736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36" name="" r:id="rId13" imgW="325120" imgH="400050" progId="Paint.Picture">
                          <p:embed/>
                        </p:oleObj>
                      </mc:Choice>
                      <mc:Fallback>
                        <p:oleObj name="" r:id="rId13" imgW="325120" imgH="400050" progId="Paint.Picture">
                          <p:embed/>
                          <p:pic>
                            <p:nvPicPr>
                              <p:cNvPr id="0" name="图片 3335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736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85009" name="Group 18"/>
                <p:cNvGrpSpPr/>
                <p:nvPr/>
              </p:nvGrpSpPr>
              <p:grpSpPr>
                <a:xfrm>
                  <a:off x="4068" y="1968"/>
                  <a:ext cx="204" cy="396"/>
                  <a:chOff x="3552" y="2592"/>
                  <a:chExt cx="204" cy="396"/>
                </a:xfrm>
              </p:grpSpPr>
              <p:graphicFrame>
                <p:nvGraphicFramePr>
                  <p:cNvPr id="85010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3552" y="2592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40" name="" r:id="rId14" imgW="325120" imgH="400050" progId="Paint.Picture">
                          <p:embed/>
                        </p:oleObj>
                      </mc:Choice>
                      <mc:Fallback>
                        <p:oleObj name="" r:id="rId14" imgW="325120" imgH="400050" progId="Paint.Picture">
                          <p:embed/>
                          <p:pic>
                            <p:nvPicPr>
                              <p:cNvPr id="0" name="图片 3339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592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5011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3552" y="2736"/>
                  <a:ext cx="204" cy="25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41" name="" r:id="rId15" imgW="325120" imgH="400050" progId="Paint.Picture">
                          <p:embed/>
                        </p:oleObj>
                      </mc:Choice>
                      <mc:Fallback>
                        <p:oleObj name="" r:id="rId15" imgW="325120" imgH="400050" progId="Paint.Picture">
                          <p:embed/>
                          <p:pic>
                            <p:nvPicPr>
                              <p:cNvPr id="0" name="图片 3340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FFFFFF"/>
                                  </a:clrFrom>
                                  <a:clrTo>
                                    <a:srgbClr val="FFFFFF">
                                      <a:alpha val="0"/>
                                    </a:srgbClr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552" y="2736"/>
                                <a:ext cx="204" cy="25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6" name="Line 21"/>
              <p:cNvSpPr>
                <a:spLocks noChangeShapeType="1"/>
              </p:cNvSpPr>
              <p:nvPr/>
            </p:nvSpPr>
            <p:spPr bwMode="auto">
              <a:xfrm>
                <a:off x="5108" y="203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Line 22"/>
              <p:cNvSpPr>
                <a:spLocks noChangeShapeType="1"/>
              </p:cNvSpPr>
              <p:nvPr/>
            </p:nvSpPr>
            <p:spPr bwMode="auto">
              <a:xfrm>
                <a:off x="4876" y="2036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 typeface="Monotype Sorts" pitchFamily="2" charset="2"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14" name="Text Box 23"/>
              <p:cNvSpPr txBox="1"/>
              <p:nvPr/>
            </p:nvSpPr>
            <p:spPr>
              <a:xfrm>
                <a:off x="5164" y="1392"/>
                <a:ext cx="288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85015" name="Text Box 24"/>
              <p:cNvSpPr txBox="1"/>
              <p:nvPr/>
            </p:nvSpPr>
            <p:spPr>
              <a:xfrm>
                <a:off x="4620" y="1382"/>
                <a:ext cx="288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</p:grpSp>
        <p:graphicFrame>
          <p:nvGraphicFramePr>
            <p:cNvPr id="78" name="Object 32"/>
            <p:cNvGraphicFramePr>
              <a:graphicFrameLocks noChangeAspect="1"/>
            </p:cNvGraphicFramePr>
            <p:nvPr/>
          </p:nvGraphicFramePr>
          <p:xfrm>
            <a:off x="289" y="4695"/>
            <a:ext cx="947" cy="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" name="" r:id="rId16" imgW="165100" imgH="215900" progId="Equation.3">
                    <p:embed/>
                  </p:oleObj>
                </mc:Choice>
                <mc:Fallback>
                  <p:oleObj name="" r:id="rId16" imgW="165100" imgH="215900" progId="Equation.3">
                    <p:embed/>
                    <p:pic>
                      <p:nvPicPr>
                        <p:cNvPr id="0" name="图片 3336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89" y="4695"/>
                          <a:ext cx="947" cy="9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34"/>
            <p:cNvGraphicFramePr>
              <a:graphicFrameLocks noChangeAspect="1"/>
            </p:cNvGraphicFramePr>
            <p:nvPr/>
          </p:nvGraphicFramePr>
          <p:xfrm>
            <a:off x="2247" y="4827"/>
            <a:ext cx="1020" cy="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" name="" r:id="rId18" imgW="177800" imgH="215900" progId="Equation.3">
                    <p:embed/>
                  </p:oleObj>
                </mc:Choice>
                <mc:Fallback>
                  <p:oleObj name="" r:id="rId18" imgW="177800" imgH="215900" progId="Equation.3">
                    <p:embed/>
                    <p:pic>
                      <p:nvPicPr>
                        <p:cNvPr id="0" name="图片 333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247" y="4827"/>
                          <a:ext cx="1020" cy="9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013" name="Group 12"/>
          <p:cNvGrpSpPr/>
          <p:nvPr/>
        </p:nvGrpSpPr>
        <p:grpSpPr>
          <a:xfrm>
            <a:off x="755015" y="260350"/>
            <a:ext cx="1994535" cy="394970"/>
            <a:chOff x="867" y="862"/>
            <a:chExt cx="4545" cy="255"/>
          </a:xfrm>
        </p:grpSpPr>
        <p:sp>
          <p:nvSpPr>
            <p:cNvPr id="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圆频率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3" name="WordArt 14"/>
            <p:cNvSpPr>
              <a:spLocks noTextEdit="1"/>
            </p:cNvSpPr>
            <p:nvPr/>
          </p:nvSpPr>
          <p:spPr>
            <a:xfrm>
              <a:off x="955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圆频率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299010" name="Text Box 2"/>
          <p:cNvSpPr txBox="1"/>
          <p:nvPr/>
        </p:nvSpPr>
        <p:spPr>
          <a:xfrm>
            <a:off x="739775" y="989013"/>
            <a:ext cx="224790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sz="3200" b="1" dirty="0">
                <a:latin typeface="Math A" pitchFamily="18" charset="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Math A" pitchFamily="18" charset="2"/>
                <a:ea typeface="微软雅黑" panose="020B0503020204020204" pitchFamily="34" charset="-122"/>
              </a:rPr>
              <a:t>、复摆</a:t>
            </a:r>
            <a:endParaRPr lang="zh-CN" altLang="en-US" sz="3200" b="1" dirty="0">
              <a:latin typeface="Math A" pitchFamily="18" charset="2"/>
              <a:ea typeface="微软雅黑" panose="020B0503020204020204" pitchFamily="34" charset="-122"/>
            </a:endParaRPr>
          </a:p>
        </p:txBody>
      </p:sp>
      <p:grpSp>
        <p:nvGrpSpPr>
          <p:cNvPr id="6" name="Group 9"/>
          <p:cNvGrpSpPr/>
          <p:nvPr/>
        </p:nvGrpSpPr>
        <p:grpSpPr>
          <a:xfrm>
            <a:off x="4030980" y="478155"/>
            <a:ext cx="3657600" cy="4876800"/>
            <a:chOff x="3264" y="576"/>
            <a:chExt cx="2496" cy="3360"/>
          </a:xfrm>
        </p:grpSpPr>
        <p:grpSp>
          <p:nvGrpSpPr>
            <p:cNvPr id="9" name="Group 10"/>
            <p:cNvGrpSpPr/>
            <p:nvPr/>
          </p:nvGrpSpPr>
          <p:grpSpPr>
            <a:xfrm>
              <a:off x="3264" y="576"/>
              <a:ext cx="2304" cy="3360"/>
              <a:chOff x="3264" y="576"/>
              <a:chExt cx="2304" cy="3360"/>
            </a:xfrm>
          </p:grpSpPr>
          <p:grpSp>
            <p:nvGrpSpPr>
              <p:cNvPr id="10" name="Group 11"/>
              <p:cNvGrpSpPr/>
              <p:nvPr/>
            </p:nvGrpSpPr>
            <p:grpSpPr>
              <a:xfrm>
                <a:off x="3264" y="576"/>
                <a:ext cx="2304" cy="3360"/>
                <a:chOff x="3264" y="576"/>
                <a:chExt cx="2304" cy="3360"/>
              </a:xfrm>
            </p:grpSpPr>
            <p:sp>
              <p:nvSpPr>
                <p:cNvPr id="11" name="Rectangle 12"/>
                <p:cNvSpPr/>
                <p:nvPr/>
              </p:nvSpPr>
              <p:spPr>
                <a:xfrm>
                  <a:off x="3264" y="576"/>
                  <a:ext cx="2304" cy="33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  <a:buFont typeface="Monotype Sorts" pitchFamily="2" charset="2"/>
                  </a:pPr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" name="Freeform 13"/>
                <p:cNvSpPr/>
                <p:nvPr/>
              </p:nvSpPr>
              <p:spPr>
                <a:xfrm rot="63105">
                  <a:off x="3600" y="960"/>
                  <a:ext cx="1632" cy="1728"/>
                </a:xfrm>
                <a:custGeom>
                  <a:avLst/>
                  <a:gdLst/>
                  <a:ahLst/>
                  <a:cxnLst>
                    <a:cxn ang="0">
                      <a:pos x="303325" y="0"/>
                    </a:cxn>
                    <a:cxn ang="0">
                      <a:pos x="609283" y="2971"/>
                    </a:cxn>
                    <a:cxn ang="0">
                      <a:pos x="775667" y="14231"/>
                    </a:cxn>
                    <a:cxn ang="0">
                      <a:pos x="1217028" y="40022"/>
                    </a:cxn>
                    <a:cxn ang="0">
                      <a:pos x="1438469" y="65390"/>
                    </a:cxn>
                    <a:cxn ang="0">
                      <a:pos x="1964284" y="145418"/>
                    </a:cxn>
                    <a:cxn ang="0">
                      <a:pos x="2017827" y="153700"/>
                    </a:cxn>
                    <a:cxn ang="0">
                      <a:pos x="2101749" y="156667"/>
                    </a:cxn>
                    <a:cxn ang="0">
                      <a:pos x="2156831" y="168057"/>
                    </a:cxn>
                    <a:cxn ang="0">
                      <a:pos x="2376755" y="182140"/>
                    </a:cxn>
                    <a:cxn ang="0">
                      <a:pos x="2515781" y="199242"/>
                    </a:cxn>
                    <a:cxn ang="0">
                      <a:pos x="2599594" y="202259"/>
                    </a:cxn>
                    <a:cxn ang="0">
                      <a:pos x="2821241" y="216700"/>
                    </a:cxn>
                    <a:cxn ang="0">
                      <a:pos x="2875410" y="227911"/>
                    </a:cxn>
                    <a:cxn ang="0">
                      <a:pos x="2960217" y="230796"/>
                    </a:cxn>
                    <a:cxn ang="0">
                      <a:pos x="3069987" y="247906"/>
                    </a:cxn>
                    <a:cxn ang="0">
                      <a:pos x="3069987" y="247906"/>
                    </a:cxn>
                    <a:cxn ang="0">
                      <a:pos x="3208891" y="293267"/>
                    </a:cxn>
                    <a:cxn ang="0">
                      <a:pos x="3208891" y="401633"/>
                    </a:cxn>
                    <a:cxn ang="0">
                      <a:pos x="3097154" y="404543"/>
                    </a:cxn>
                    <a:cxn ang="0">
                      <a:pos x="2903531" y="415741"/>
                    </a:cxn>
                    <a:cxn ang="0">
                      <a:pos x="2074107" y="398664"/>
                    </a:cxn>
                    <a:cxn ang="0">
                      <a:pos x="1881820" y="384548"/>
                    </a:cxn>
                    <a:cxn ang="0">
                      <a:pos x="1714865" y="367431"/>
                    </a:cxn>
                    <a:cxn ang="0">
                      <a:pos x="1547547" y="344706"/>
                    </a:cxn>
                    <a:cxn ang="0">
                      <a:pos x="1409697" y="307710"/>
                    </a:cxn>
                    <a:cxn ang="0">
                      <a:pos x="1160693" y="279161"/>
                    </a:cxn>
                    <a:cxn ang="0">
                      <a:pos x="551392" y="185113"/>
                    </a:cxn>
                    <a:cxn ang="0">
                      <a:pos x="441690" y="173732"/>
                    </a:cxn>
                    <a:cxn ang="0">
                      <a:pos x="331465" y="156667"/>
                    </a:cxn>
                    <a:cxn ang="0">
                      <a:pos x="192542" y="122465"/>
                    </a:cxn>
                    <a:cxn ang="0">
                      <a:pos x="303325" y="0"/>
                    </a:cxn>
                  </a:cxnLst>
                  <a:pathLst>
                    <a:path w="948" h="1168">
                      <a:moveTo>
                        <a:pt x="88" y="0"/>
                      </a:moveTo>
                      <a:cubicBezTo>
                        <a:pt x="117" y="3"/>
                        <a:pt x="148" y="0"/>
                        <a:pt x="176" y="8"/>
                      </a:cubicBezTo>
                      <a:cubicBezTo>
                        <a:pt x="194" y="13"/>
                        <a:pt x="206" y="34"/>
                        <a:pt x="224" y="40"/>
                      </a:cubicBezTo>
                      <a:cubicBezTo>
                        <a:pt x="272" y="56"/>
                        <a:pt x="306" y="97"/>
                        <a:pt x="352" y="112"/>
                      </a:cubicBezTo>
                      <a:cubicBezTo>
                        <a:pt x="370" y="139"/>
                        <a:pt x="416" y="184"/>
                        <a:pt x="416" y="184"/>
                      </a:cubicBezTo>
                      <a:cubicBezTo>
                        <a:pt x="448" y="265"/>
                        <a:pt x="495" y="359"/>
                        <a:pt x="568" y="408"/>
                      </a:cubicBezTo>
                      <a:cubicBezTo>
                        <a:pt x="573" y="416"/>
                        <a:pt x="576" y="426"/>
                        <a:pt x="584" y="432"/>
                      </a:cubicBezTo>
                      <a:cubicBezTo>
                        <a:pt x="591" y="437"/>
                        <a:pt x="602" y="434"/>
                        <a:pt x="608" y="440"/>
                      </a:cubicBezTo>
                      <a:cubicBezTo>
                        <a:pt x="616" y="448"/>
                        <a:pt x="615" y="464"/>
                        <a:pt x="624" y="472"/>
                      </a:cubicBezTo>
                      <a:cubicBezTo>
                        <a:pt x="643" y="489"/>
                        <a:pt x="670" y="494"/>
                        <a:pt x="688" y="512"/>
                      </a:cubicBezTo>
                      <a:cubicBezTo>
                        <a:pt x="703" y="527"/>
                        <a:pt x="712" y="547"/>
                        <a:pt x="728" y="560"/>
                      </a:cubicBezTo>
                      <a:cubicBezTo>
                        <a:pt x="735" y="565"/>
                        <a:pt x="744" y="565"/>
                        <a:pt x="752" y="568"/>
                      </a:cubicBezTo>
                      <a:cubicBezTo>
                        <a:pt x="786" y="583"/>
                        <a:pt x="785" y="585"/>
                        <a:pt x="816" y="608"/>
                      </a:cubicBezTo>
                      <a:cubicBezTo>
                        <a:pt x="821" y="619"/>
                        <a:pt x="824" y="632"/>
                        <a:pt x="832" y="640"/>
                      </a:cubicBezTo>
                      <a:cubicBezTo>
                        <a:pt x="838" y="646"/>
                        <a:pt x="850" y="642"/>
                        <a:pt x="856" y="648"/>
                      </a:cubicBezTo>
                      <a:lnTo>
                        <a:pt x="888" y="696"/>
                      </a:lnTo>
                      <a:cubicBezTo>
                        <a:pt x="888" y="696"/>
                        <a:pt x="888" y="696"/>
                        <a:pt x="888" y="696"/>
                      </a:cubicBezTo>
                      <a:cubicBezTo>
                        <a:pt x="902" y="739"/>
                        <a:pt x="914" y="782"/>
                        <a:pt x="928" y="824"/>
                      </a:cubicBezTo>
                      <a:cubicBezTo>
                        <a:pt x="936" y="925"/>
                        <a:pt x="948" y="1026"/>
                        <a:pt x="928" y="1128"/>
                      </a:cubicBezTo>
                      <a:cubicBezTo>
                        <a:pt x="926" y="1139"/>
                        <a:pt x="906" y="1132"/>
                        <a:pt x="896" y="1136"/>
                      </a:cubicBezTo>
                      <a:cubicBezTo>
                        <a:pt x="873" y="1145"/>
                        <a:pt x="860" y="1155"/>
                        <a:pt x="840" y="1168"/>
                      </a:cubicBezTo>
                      <a:cubicBezTo>
                        <a:pt x="765" y="1161"/>
                        <a:pt x="667" y="1157"/>
                        <a:pt x="600" y="1120"/>
                      </a:cubicBezTo>
                      <a:cubicBezTo>
                        <a:pt x="580" y="1109"/>
                        <a:pt x="561" y="1095"/>
                        <a:pt x="544" y="1080"/>
                      </a:cubicBezTo>
                      <a:cubicBezTo>
                        <a:pt x="527" y="1065"/>
                        <a:pt x="496" y="1032"/>
                        <a:pt x="496" y="1032"/>
                      </a:cubicBezTo>
                      <a:cubicBezTo>
                        <a:pt x="485" y="999"/>
                        <a:pt x="482" y="979"/>
                        <a:pt x="448" y="968"/>
                      </a:cubicBezTo>
                      <a:cubicBezTo>
                        <a:pt x="440" y="930"/>
                        <a:pt x="435" y="895"/>
                        <a:pt x="408" y="864"/>
                      </a:cubicBezTo>
                      <a:cubicBezTo>
                        <a:pt x="382" y="834"/>
                        <a:pt x="358" y="823"/>
                        <a:pt x="336" y="784"/>
                      </a:cubicBezTo>
                      <a:cubicBezTo>
                        <a:pt x="284" y="693"/>
                        <a:pt x="236" y="596"/>
                        <a:pt x="160" y="520"/>
                      </a:cubicBezTo>
                      <a:cubicBezTo>
                        <a:pt x="139" y="456"/>
                        <a:pt x="171" y="531"/>
                        <a:pt x="128" y="488"/>
                      </a:cubicBezTo>
                      <a:cubicBezTo>
                        <a:pt x="114" y="474"/>
                        <a:pt x="96" y="440"/>
                        <a:pt x="96" y="440"/>
                      </a:cubicBezTo>
                      <a:cubicBezTo>
                        <a:pt x="87" y="405"/>
                        <a:pt x="70" y="378"/>
                        <a:pt x="56" y="344"/>
                      </a:cubicBezTo>
                      <a:cubicBezTo>
                        <a:pt x="45" y="230"/>
                        <a:pt x="0" y="88"/>
                        <a:pt x="88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CCECFF"/>
                    </a:gs>
                    <a:gs pos="100000">
                      <a:schemeClr val="bg1"/>
                    </a:gs>
                  </a:gsLst>
                  <a:path path="rect">
                    <a:fillToRect l="100000" t="100000"/>
                  </a:path>
                  <a:tileRect/>
                </a:gradFill>
                <a:ln w="2857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3" name="Line 14"/>
                <p:cNvSpPr/>
                <p:nvPr/>
              </p:nvSpPr>
              <p:spPr>
                <a:xfrm>
                  <a:off x="4033" y="1392"/>
                  <a:ext cx="0" cy="177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sm" len="lg"/>
                </a:ln>
              </p:spPr>
            </p:sp>
            <p:graphicFrame>
              <p:nvGraphicFramePr>
                <p:cNvPr id="14" name="Object 15"/>
                <p:cNvGraphicFramePr>
                  <a:graphicFrameLocks noChangeAspect="1"/>
                </p:cNvGraphicFramePr>
                <p:nvPr/>
              </p:nvGraphicFramePr>
              <p:xfrm>
                <a:off x="3745" y="1056"/>
                <a:ext cx="349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" name="" r:id="rId1" imgW="127000" imgH="139700" progId="Equation.3">
                        <p:embed/>
                      </p:oleObj>
                    </mc:Choice>
                    <mc:Fallback>
                      <p:oleObj name="" r:id="rId1" imgW="127000" imgH="139700" progId="Equation.3">
                        <p:embed/>
                        <p:pic>
                          <p:nvPicPr>
                            <p:cNvPr id="0" name="图片 3306"/>
                            <p:cNvPicPr/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745" y="1056"/>
                              <a:ext cx="349" cy="38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Object 16"/>
                <p:cNvGraphicFramePr>
                  <a:graphicFrameLocks noChangeAspect="1"/>
                </p:cNvGraphicFramePr>
                <p:nvPr/>
              </p:nvGraphicFramePr>
              <p:xfrm>
                <a:off x="4560" y="1872"/>
                <a:ext cx="305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" name="" r:id="rId3" imgW="254000" imgH="279400" progId="Equation.3">
                        <p:embed/>
                      </p:oleObj>
                    </mc:Choice>
                    <mc:Fallback>
                      <p:oleObj name="" r:id="rId3" imgW="254000" imgH="279400" progId="Equation.3">
                        <p:embed/>
                        <p:pic>
                          <p:nvPicPr>
                            <p:cNvPr id="0" name="图片 3309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560" y="1872"/>
                              <a:ext cx="305" cy="33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9" name="Text Box 17"/>
              <p:cNvSpPr txBox="1"/>
              <p:nvPr/>
            </p:nvSpPr>
            <p:spPr>
              <a:xfrm>
                <a:off x="4417" y="1872"/>
                <a:ext cx="286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*</a:t>
                </a:r>
                <a:endPara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Group 18"/>
            <p:cNvGrpSpPr/>
            <p:nvPr/>
          </p:nvGrpSpPr>
          <p:grpSpPr>
            <a:xfrm>
              <a:off x="4033" y="1344"/>
              <a:ext cx="558" cy="672"/>
              <a:chOff x="4033" y="1344"/>
              <a:chExt cx="558" cy="672"/>
            </a:xfrm>
          </p:grpSpPr>
          <p:sp>
            <p:nvSpPr>
              <p:cNvPr id="21" name="Line 19"/>
              <p:cNvSpPr/>
              <p:nvPr/>
            </p:nvSpPr>
            <p:spPr>
              <a:xfrm>
                <a:off x="4033" y="1344"/>
                <a:ext cx="480" cy="67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graphicFrame>
            <p:nvGraphicFramePr>
              <p:cNvPr id="22" name="Object 20"/>
              <p:cNvGraphicFramePr>
                <a:graphicFrameLocks noChangeAspect="1"/>
              </p:cNvGraphicFramePr>
              <p:nvPr/>
            </p:nvGraphicFramePr>
            <p:xfrm>
              <a:off x="4073" y="1700"/>
              <a:ext cx="197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" name="" r:id="rId5" imgW="63500" imgH="139700" progId="Equation.3">
                      <p:embed/>
                    </p:oleObj>
                  </mc:Choice>
                  <mc:Fallback>
                    <p:oleObj name="" r:id="rId5" imgW="63500" imgH="139700" progId="Equation.3">
                      <p:embed/>
                      <p:pic>
                        <p:nvPicPr>
                          <p:cNvPr id="0" name="图片 3308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73" y="1700"/>
                            <a:ext cx="197" cy="2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21"/>
              <p:cNvGraphicFramePr>
                <a:graphicFrameLocks noChangeAspect="1"/>
              </p:cNvGraphicFramePr>
              <p:nvPr/>
            </p:nvGraphicFramePr>
            <p:xfrm>
              <a:off x="4376" y="1553"/>
              <a:ext cx="215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" name="" r:id="rId7" imgW="38100" imgH="127000" progId="Equation.3">
                      <p:embed/>
                    </p:oleObj>
                  </mc:Choice>
                  <mc:Fallback>
                    <p:oleObj name="" r:id="rId7" imgW="38100" imgH="127000" progId="Equation.3">
                      <p:embed/>
                      <p:pic>
                        <p:nvPicPr>
                          <p:cNvPr id="0" name="图片 3316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76" y="1553"/>
                            <a:ext cx="215" cy="29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Arc 22"/>
              <p:cNvSpPr/>
              <p:nvPr/>
            </p:nvSpPr>
            <p:spPr>
              <a:xfrm flipV="1">
                <a:off x="4038" y="1584"/>
                <a:ext cx="180" cy="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6966" h="21600" fill="none">
                    <a:moveTo>
                      <a:pt x="0" y="677"/>
                    </a:moveTo>
                    <a:cubicBezTo>
                      <a:pt x="1753" y="227"/>
                      <a:pt x="3556" y="-1"/>
                      <a:pt x="5366" y="0"/>
                    </a:cubicBezTo>
                    <a:cubicBezTo>
                      <a:pt x="17295" y="0"/>
                      <a:pt x="26966" y="9670"/>
                      <a:pt x="26966" y="21600"/>
                    </a:cubicBezTo>
                  </a:path>
                  <a:path w="26966" h="21600" stroke="0">
                    <a:moveTo>
                      <a:pt x="0" y="677"/>
                    </a:moveTo>
                    <a:cubicBezTo>
                      <a:pt x="1753" y="227"/>
                      <a:pt x="3556" y="-1"/>
                      <a:pt x="5366" y="0"/>
                    </a:cubicBezTo>
                    <a:cubicBezTo>
                      <a:pt x="17295" y="0"/>
                      <a:pt x="26966" y="9670"/>
                      <a:pt x="26966" y="21600"/>
                    </a:cubicBezTo>
                    <a:lnTo>
                      <a:pt x="5366" y="21600"/>
                    </a:lnTo>
                    <a:lnTo>
                      <a:pt x="0" y="677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3" name="Group 23"/>
            <p:cNvGrpSpPr/>
            <p:nvPr/>
          </p:nvGrpSpPr>
          <p:grpSpPr>
            <a:xfrm>
              <a:off x="4128" y="960"/>
              <a:ext cx="1632" cy="480"/>
              <a:chOff x="4128" y="960"/>
              <a:chExt cx="1632" cy="480"/>
            </a:xfrm>
          </p:grpSpPr>
          <p:sp>
            <p:nvSpPr>
              <p:cNvPr id="34" name="AutoShape 24"/>
              <p:cNvSpPr/>
              <p:nvPr/>
            </p:nvSpPr>
            <p:spPr>
              <a:xfrm flipV="1">
                <a:off x="4128" y="960"/>
                <a:ext cx="192" cy="480"/>
              </a:xfrm>
              <a:prstGeom prst="curvedLeftArrow">
                <a:avLst>
                  <a:gd name="adj1" fmla="val 32117"/>
                  <a:gd name="adj2" fmla="val 99827"/>
                  <a:gd name="adj3" fmla="val 37486"/>
                </a:avLst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Rectangle 25"/>
              <p:cNvSpPr/>
              <p:nvPr/>
            </p:nvSpPr>
            <p:spPr>
              <a:xfrm>
                <a:off x="4417" y="976"/>
                <a:ext cx="1343" cy="3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p:grpSp>
      </p:grpSp>
      <p:cxnSp>
        <p:nvCxnSpPr>
          <p:cNvPr id="36" name="直接箭头连接符 35"/>
          <p:cNvCxnSpPr/>
          <p:nvPr/>
        </p:nvCxnSpPr>
        <p:spPr>
          <a:xfrm rot="5400000">
            <a:off x="5327968" y="3092768"/>
            <a:ext cx="1057275" cy="1587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7" name="TextBox 30"/>
          <p:cNvSpPr txBox="1"/>
          <p:nvPr/>
        </p:nvSpPr>
        <p:spPr>
          <a:xfrm>
            <a:off x="5494671" y="3424342"/>
            <a:ext cx="774571" cy="6463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R="0" defTabSz="914400" eaLnBrk="0" hangingPunct="0">
              <a:spcBef>
                <a:spcPct val="20000"/>
              </a:spcBef>
              <a:buClr>
                <a:schemeClr val="accent2"/>
              </a:buClr>
              <a:buSzTx/>
              <a:buFont typeface="Monotype Sorts" pitchFamily="2" charset="2"/>
              <a:buNone/>
              <a:defRPr/>
            </a:pPr>
            <a:r>
              <a:rPr kumimoji="1" lang="en-US" altLang="zh-CN" sz="3600" b="1" i="1" kern="1200" cap="none" spc="0" normalizeH="0" baseline="0" noProof="0" dirty="0">
                <a:ln w="10541" cmpd="sng">
                  <a:solidFill>
                    <a:schemeClr val="accent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rgbClr val="66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mg</a:t>
            </a:r>
            <a:endParaRPr kumimoji="1" lang="zh-CN" altLang="en-US" sz="3600" b="1" i="1" kern="1200" cap="none" spc="0" normalizeH="0" baseline="0" noProof="0" dirty="0">
              <a:ln w="10541" cmpd="sng">
                <a:solidFill>
                  <a:schemeClr val="accent2">
                    <a:lumMod val="20000"/>
                    <a:lumOff val="80000"/>
                  </a:schemeClr>
                </a:solidFill>
                <a:prstDash val="solid"/>
              </a:ln>
              <a:solidFill>
                <a:srgbClr val="66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弧形 37"/>
          <p:cNvSpPr/>
          <p:nvPr/>
        </p:nvSpPr>
        <p:spPr bwMode="auto">
          <a:xfrm rot="8941532">
            <a:off x="5753418" y="3349943"/>
            <a:ext cx="1531938" cy="550863"/>
          </a:xfrm>
          <a:prstGeom prst="arc">
            <a:avLst>
              <a:gd name="adj1" fmla="val 16200000"/>
              <a:gd name="adj2" fmla="val 20596770"/>
            </a:avLst>
          </a:prstGeom>
          <a:noFill/>
          <a:ln w="381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Monotype Sorts" pitchFamily="2" charset="2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9016" name="Object 8" descr="羊皮纸"/>
          <p:cNvGraphicFramePr>
            <a:graphicFrameLocks noChangeAspect="1"/>
          </p:cNvGraphicFramePr>
          <p:nvPr/>
        </p:nvGraphicFramePr>
        <p:xfrm>
          <a:off x="971233" y="1695927"/>
          <a:ext cx="3316605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9" imgW="1219200" imgH="444500" progId="Equation.3">
                  <p:embed/>
                </p:oleObj>
              </mc:Choice>
              <mc:Fallback>
                <p:oleObj name="" r:id="rId9" imgW="1219200" imgH="4445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233" y="1695927"/>
                        <a:ext cx="3316605" cy="1203325"/>
                      </a:xfrm>
                      <a:prstGeom prst="rect">
                        <a:avLst/>
                      </a:prstGeom>
                      <a:blipFill rotWithShape="1">
                        <a:blip r:embed="rId11"/>
                      </a:blipFill>
                      <a:ln w="9525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" descr="羊皮纸"/>
          <p:cNvGraphicFramePr>
            <a:graphicFrameLocks noChangeAspect="1"/>
          </p:cNvGraphicFramePr>
          <p:nvPr/>
        </p:nvGraphicFramePr>
        <p:xfrm>
          <a:off x="1042988" y="3156745"/>
          <a:ext cx="346075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2" imgW="127000" imgH="165100" progId="Equation.3">
                  <p:embed/>
                </p:oleObj>
              </mc:Choice>
              <mc:Fallback>
                <p:oleObj name="" r:id="rId12" imgW="127000" imgH="1651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42988" y="3156745"/>
                        <a:ext cx="346075" cy="447040"/>
                      </a:xfrm>
                      <a:prstGeom prst="rect">
                        <a:avLst/>
                      </a:prstGeom>
                      <a:noFill/>
                      <a:ln w="95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2"/>
          <p:cNvSpPr txBox="1"/>
          <p:nvPr/>
        </p:nvSpPr>
        <p:spPr>
          <a:xfrm>
            <a:off x="1187450" y="3218180"/>
            <a:ext cx="42278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sz="2400" dirty="0">
                <a:latin typeface="Math A" pitchFamily="18" charset="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Math A" pitchFamily="18" charset="2"/>
                <a:ea typeface="微软雅黑" panose="020B0503020204020204" pitchFamily="34" charset="-122"/>
              </a:rPr>
              <a:t>相对于转轴的转动惯量</a:t>
            </a:r>
            <a:endParaRPr lang="zh-CN" altLang="en-US" sz="2400" dirty="0">
              <a:latin typeface="Math A" pitchFamily="18" charset="2"/>
              <a:ea typeface="微软雅黑" panose="020B0503020204020204" pitchFamily="34" charset="-122"/>
            </a:endParaRPr>
          </a:p>
        </p:txBody>
      </p:sp>
      <p:graphicFrame>
        <p:nvGraphicFramePr>
          <p:cNvPr id="42" name="Object 8" descr="羊皮纸"/>
          <p:cNvGraphicFramePr>
            <a:graphicFrameLocks noChangeAspect="1"/>
          </p:cNvGraphicFramePr>
          <p:nvPr/>
        </p:nvGraphicFramePr>
        <p:xfrm>
          <a:off x="939166" y="3650775"/>
          <a:ext cx="55372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14" imgW="203200" imgH="165100" progId="Equation.3">
                  <p:embed/>
                </p:oleObj>
              </mc:Choice>
              <mc:Fallback>
                <p:oleObj name="" r:id="rId14" imgW="203200" imgH="1651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39166" y="3650775"/>
                        <a:ext cx="553720" cy="447040"/>
                      </a:xfrm>
                      <a:prstGeom prst="rect">
                        <a:avLst/>
                      </a:prstGeom>
                      <a:noFill/>
                      <a:ln w="95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2"/>
          <p:cNvSpPr txBox="1"/>
          <p:nvPr/>
        </p:nvSpPr>
        <p:spPr>
          <a:xfrm>
            <a:off x="1187450" y="3712210"/>
            <a:ext cx="37515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sz="2400" dirty="0">
                <a:latin typeface="Math A" pitchFamily="18" charset="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Math A" pitchFamily="18" charset="2"/>
                <a:ea typeface="微软雅黑" panose="020B0503020204020204" pitchFamily="34" charset="-122"/>
              </a:rPr>
              <a:t>相对于转轴的外力矩</a:t>
            </a:r>
            <a:endParaRPr lang="zh-CN" altLang="en-US" sz="2400" dirty="0">
              <a:latin typeface="Math A" pitchFamily="18" charset="2"/>
              <a:ea typeface="微软雅黑" panose="020B0503020204020204" pitchFamily="34" charset="-122"/>
            </a:endParaRPr>
          </a:p>
        </p:txBody>
      </p:sp>
      <p:sp>
        <p:nvSpPr>
          <p:cNvPr id="45" name="Text Box 2"/>
          <p:cNvSpPr txBox="1"/>
          <p:nvPr/>
        </p:nvSpPr>
        <p:spPr>
          <a:xfrm>
            <a:off x="827405" y="4290219"/>
            <a:ext cx="22479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sz="3200" b="1" dirty="0">
                <a:latin typeface="Math A" pitchFamily="18" charset="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latin typeface="Math A" pitchFamily="18" charset="2"/>
                <a:ea typeface="微软雅黑" panose="020B0503020204020204" pitchFamily="34" charset="-122"/>
              </a:rPr>
              <a:t>、单摆</a:t>
            </a:r>
            <a:endParaRPr lang="zh-CN" altLang="en-US" sz="3200" b="1" dirty="0">
              <a:latin typeface="Math A" pitchFamily="18" charset="2"/>
              <a:ea typeface="微软雅黑" panose="020B0503020204020204" pitchFamily="34" charset="-122"/>
            </a:endParaRPr>
          </a:p>
        </p:txBody>
      </p:sp>
      <p:graphicFrame>
        <p:nvGraphicFramePr>
          <p:cNvPr id="46" name="Object 8" descr="羊皮纸"/>
          <p:cNvGraphicFramePr>
            <a:graphicFrameLocks noChangeAspect="1"/>
          </p:cNvGraphicFramePr>
          <p:nvPr/>
        </p:nvGraphicFramePr>
        <p:xfrm>
          <a:off x="899795" y="4986497"/>
          <a:ext cx="424942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16" imgW="1562100" imgH="444500" progId="Equation.3">
                  <p:embed/>
                </p:oleObj>
              </mc:Choice>
              <mc:Fallback>
                <p:oleObj name="" r:id="rId16" imgW="1562100" imgH="4445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99795" y="4986497"/>
                        <a:ext cx="4249420" cy="1203325"/>
                      </a:xfrm>
                      <a:prstGeom prst="rect">
                        <a:avLst/>
                      </a:prstGeom>
                      <a:blipFill rotWithShape="1">
                        <a:blip r:embed="rId11"/>
                      </a:blipFill>
                      <a:ln w="9525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50"/>
          <p:cNvGrpSpPr/>
          <p:nvPr/>
        </p:nvGrpSpPr>
        <p:grpSpPr>
          <a:xfrm>
            <a:off x="6227763" y="2327593"/>
            <a:ext cx="2820987" cy="4240212"/>
            <a:chOff x="3179" y="696"/>
            <a:chExt cx="1777" cy="2671"/>
          </a:xfrm>
        </p:grpSpPr>
        <p:sp>
          <p:nvSpPr>
            <p:cNvPr id="49" name="Arc 51"/>
            <p:cNvSpPr/>
            <p:nvPr/>
          </p:nvSpPr>
          <p:spPr bwMode="auto">
            <a:xfrm>
              <a:off x="3179" y="877"/>
              <a:ext cx="1777" cy="1796"/>
            </a:xfrm>
            <a:custGeom>
              <a:avLst/>
              <a:gdLst>
                <a:gd name="G0" fmla="+- 10977 0 0"/>
                <a:gd name="G1" fmla="+- 0 0 0"/>
                <a:gd name="G2" fmla="+- 21600 0 0"/>
                <a:gd name="T0" fmla="*/ 22242 w 22242"/>
                <a:gd name="T1" fmla="*/ 18430 h 21600"/>
                <a:gd name="T2" fmla="*/ 0 w 22242"/>
                <a:gd name="T3" fmla="*/ 18603 h 21600"/>
                <a:gd name="T4" fmla="*/ 10977 w 22242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242" h="21600" fill="none" extrusionOk="0">
                  <a:moveTo>
                    <a:pt x="22241" y="18429"/>
                  </a:moveTo>
                  <a:cubicBezTo>
                    <a:pt x="18850" y="20503"/>
                    <a:pt x="14952" y="21600"/>
                    <a:pt x="10977" y="21600"/>
                  </a:cubicBezTo>
                  <a:cubicBezTo>
                    <a:pt x="7115" y="21600"/>
                    <a:pt x="3325" y="20565"/>
                    <a:pt x="0" y="18602"/>
                  </a:cubicBezTo>
                </a:path>
                <a:path w="22242" h="21600" stroke="0" extrusionOk="0">
                  <a:moveTo>
                    <a:pt x="22241" y="18429"/>
                  </a:moveTo>
                  <a:cubicBezTo>
                    <a:pt x="18850" y="20503"/>
                    <a:pt x="14952" y="21600"/>
                    <a:pt x="10977" y="21600"/>
                  </a:cubicBezTo>
                  <a:cubicBezTo>
                    <a:pt x="7115" y="21600"/>
                    <a:pt x="3325" y="20565"/>
                    <a:pt x="0" y="18602"/>
                  </a:cubicBezTo>
                  <a:lnTo>
                    <a:pt x="10977" y="0"/>
                  </a:lnTo>
                  <a:close/>
                </a:path>
              </a:pathLst>
            </a:custGeom>
            <a:noFill/>
            <a:ln w="19050">
              <a:solidFill>
                <a:srgbClr val="3333CC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3779" y="788"/>
              <a:ext cx="5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53"/>
            <p:cNvSpPr>
              <a:spLocks noChangeShapeType="1"/>
            </p:cNvSpPr>
            <p:nvPr/>
          </p:nvSpPr>
          <p:spPr bwMode="auto">
            <a:xfrm flipH="1">
              <a:off x="3779" y="696"/>
              <a:ext cx="108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54"/>
            <p:cNvSpPr>
              <a:spLocks noChangeShapeType="1"/>
            </p:cNvSpPr>
            <p:nvPr/>
          </p:nvSpPr>
          <p:spPr bwMode="auto">
            <a:xfrm flipH="1">
              <a:off x="3887" y="700"/>
              <a:ext cx="108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55"/>
            <p:cNvSpPr>
              <a:spLocks noChangeShapeType="1"/>
            </p:cNvSpPr>
            <p:nvPr/>
          </p:nvSpPr>
          <p:spPr bwMode="auto">
            <a:xfrm flipH="1">
              <a:off x="3995" y="696"/>
              <a:ext cx="108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 flipH="1">
              <a:off x="4103" y="700"/>
              <a:ext cx="108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57"/>
            <p:cNvSpPr>
              <a:spLocks noChangeShapeType="1"/>
            </p:cNvSpPr>
            <p:nvPr/>
          </p:nvSpPr>
          <p:spPr bwMode="auto">
            <a:xfrm flipH="1">
              <a:off x="4211" y="704"/>
              <a:ext cx="108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58"/>
            <p:cNvSpPr>
              <a:spLocks noChangeShapeType="1"/>
            </p:cNvSpPr>
            <p:nvPr/>
          </p:nvSpPr>
          <p:spPr bwMode="auto">
            <a:xfrm flipH="1">
              <a:off x="4319" y="700"/>
              <a:ext cx="108" cy="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59"/>
            <p:cNvSpPr>
              <a:spLocks noChangeShapeType="1"/>
            </p:cNvSpPr>
            <p:nvPr/>
          </p:nvSpPr>
          <p:spPr bwMode="auto">
            <a:xfrm>
              <a:off x="4043" y="792"/>
              <a:ext cx="0" cy="1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 rot="-1237835">
              <a:off x="4367" y="756"/>
              <a:ext cx="1" cy="1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Oval 61"/>
            <p:cNvSpPr>
              <a:spLocks noChangeArrowheads="1"/>
            </p:cNvSpPr>
            <p:nvPr/>
          </p:nvSpPr>
          <p:spPr bwMode="auto">
            <a:xfrm>
              <a:off x="3971" y="2592"/>
              <a:ext cx="147" cy="147"/>
            </a:xfrm>
            <a:prstGeom prst="ellipse">
              <a:avLst/>
            </a:prstGeom>
            <a:gradFill rotWithShape="0">
              <a:gsLst>
                <a:gs pos="0">
                  <a:srgbClr val="FFFF66"/>
                </a:gs>
                <a:gs pos="100000">
                  <a:srgbClr val="FF33CC"/>
                </a:gs>
              </a:gsLst>
              <a:path path="rect">
                <a:fillToRect l="100000" b="100000"/>
              </a:path>
            </a:gradFill>
            <a:ln w="190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Oval 62"/>
            <p:cNvSpPr>
              <a:spLocks noChangeArrowheads="1"/>
            </p:cNvSpPr>
            <p:nvPr/>
          </p:nvSpPr>
          <p:spPr bwMode="auto">
            <a:xfrm>
              <a:off x="4655" y="2481"/>
              <a:ext cx="147" cy="147"/>
            </a:xfrm>
            <a:prstGeom prst="ellipse">
              <a:avLst/>
            </a:prstGeom>
            <a:gradFill rotWithShape="0">
              <a:gsLst>
                <a:gs pos="0">
                  <a:srgbClr val="FFFF66"/>
                </a:gs>
                <a:gs pos="100000">
                  <a:srgbClr val="FF33CC"/>
                </a:gs>
              </a:gsLst>
              <a:path path="rect">
                <a:fillToRect l="100000" b="100000"/>
              </a:path>
            </a:gradFill>
            <a:ln w="190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Arc 63"/>
            <p:cNvSpPr/>
            <p:nvPr/>
          </p:nvSpPr>
          <p:spPr bwMode="auto">
            <a:xfrm flipV="1">
              <a:off x="4043" y="1200"/>
              <a:ext cx="168" cy="4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0681" name="Object 64"/>
            <p:cNvGraphicFramePr>
              <a:graphicFrameLocks noChangeAspect="1"/>
            </p:cNvGraphicFramePr>
            <p:nvPr/>
          </p:nvGraphicFramePr>
          <p:xfrm>
            <a:off x="4081" y="1297"/>
            <a:ext cx="18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0" name="" r:id="rId18" imgW="127000" imgH="165100" progId="Equation.3">
                    <p:embed/>
                  </p:oleObj>
                </mc:Choice>
                <mc:Fallback>
                  <p:oleObj name="" r:id="rId18" imgW="127000" imgH="165100" progId="Equation.3">
                    <p:embed/>
                    <p:pic>
                      <p:nvPicPr>
                        <p:cNvPr id="0" name="图片 3319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081" y="1297"/>
                          <a:ext cx="18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82" name="Object 65"/>
            <p:cNvGraphicFramePr>
              <a:graphicFrameLocks noChangeAspect="1"/>
            </p:cNvGraphicFramePr>
            <p:nvPr/>
          </p:nvGraphicFramePr>
          <p:xfrm>
            <a:off x="4382" y="1297"/>
            <a:ext cx="15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2" name="" r:id="rId20" imgW="88900" imgH="164465" progId="Equation.3">
                    <p:embed/>
                  </p:oleObj>
                </mc:Choice>
                <mc:Fallback>
                  <p:oleObj name="" r:id="rId20" imgW="88900" imgH="164465" progId="Equation.3">
                    <p:embed/>
                    <p:pic>
                      <p:nvPicPr>
                        <p:cNvPr id="0" name="图片 332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382" y="1297"/>
                          <a:ext cx="159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4727" y="2628"/>
              <a:ext cx="0" cy="50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0684" name="Object 67"/>
            <p:cNvGraphicFramePr>
              <a:graphicFrameLocks noChangeAspect="1"/>
            </p:cNvGraphicFramePr>
            <p:nvPr/>
          </p:nvGraphicFramePr>
          <p:xfrm>
            <a:off x="4571" y="3138"/>
            <a:ext cx="34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" name="" r:id="rId22" imgW="228600" imgH="152400" progId="Equation.3">
                    <p:embed/>
                  </p:oleObj>
                </mc:Choice>
                <mc:Fallback>
                  <p:oleObj name="" r:id="rId22" imgW="228600" imgH="152400" progId="Equation.3">
                    <p:embed/>
                    <p:pic>
                      <p:nvPicPr>
                        <p:cNvPr id="0" name="图片 3325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571" y="3138"/>
                          <a:ext cx="348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85" name="Object 68"/>
            <p:cNvGraphicFramePr>
              <a:graphicFrameLocks noChangeAspect="1"/>
            </p:cNvGraphicFramePr>
            <p:nvPr/>
          </p:nvGraphicFramePr>
          <p:xfrm>
            <a:off x="4655" y="1982"/>
            <a:ext cx="213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7" name="" r:id="rId24" imgW="139700" imgH="152400" progId="Equation.3">
                    <p:embed/>
                  </p:oleObj>
                </mc:Choice>
                <mc:Fallback>
                  <p:oleObj name="" r:id="rId24" imgW="139700" imgH="152400" progId="Equation.3">
                    <p:embed/>
                    <p:pic>
                      <p:nvPicPr>
                        <p:cNvPr id="0" name="图片 3326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655" y="1982"/>
                          <a:ext cx="213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69"/>
            <p:cNvSpPr>
              <a:spLocks noChangeShapeType="1"/>
            </p:cNvSpPr>
            <p:nvPr/>
          </p:nvSpPr>
          <p:spPr bwMode="auto">
            <a:xfrm rot="-10844042">
              <a:off x="4540" y="2111"/>
              <a:ext cx="142" cy="38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0687" name="Object 70"/>
            <p:cNvGraphicFramePr>
              <a:graphicFrameLocks noChangeAspect="1"/>
            </p:cNvGraphicFramePr>
            <p:nvPr/>
          </p:nvGraphicFramePr>
          <p:xfrm>
            <a:off x="3779" y="796"/>
            <a:ext cx="23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" name="" r:id="rId26" imgW="152400" imgH="165100" progId="Equation.3">
                    <p:embed/>
                  </p:oleObj>
                </mc:Choice>
                <mc:Fallback>
                  <p:oleObj name="" r:id="rId26" imgW="152400" imgH="165100" progId="Equation.3">
                    <p:embed/>
                    <p:pic>
                      <p:nvPicPr>
                        <p:cNvPr id="0" name="图片 3327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3779" y="796"/>
                          <a:ext cx="233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0" grpId="0"/>
      <p:bldP spid="41" grpId="0"/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013" name="Group 12"/>
          <p:cNvGrpSpPr/>
          <p:nvPr/>
        </p:nvGrpSpPr>
        <p:grpSpPr>
          <a:xfrm>
            <a:off x="755015" y="260350"/>
            <a:ext cx="1994535" cy="394970"/>
            <a:chOff x="867" y="862"/>
            <a:chExt cx="4545" cy="255"/>
          </a:xfrm>
        </p:grpSpPr>
        <p:sp>
          <p:nvSpPr>
            <p:cNvPr id="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圆频率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3" name="WordArt 14"/>
            <p:cNvSpPr>
              <a:spLocks noTextEdit="1"/>
            </p:cNvSpPr>
            <p:nvPr/>
          </p:nvSpPr>
          <p:spPr>
            <a:xfrm>
              <a:off x="955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圆频率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299010" name="Text Box 2"/>
          <p:cNvSpPr txBox="1"/>
          <p:nvPr/>
        </p:nvSpPr>
        <p:spPr>
          <a:xfrm>
            <a:off x="739775" y="986949"/>
            <a:ext cx="22479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Monotype Sorts" pitchFamily="2" charset="2"/>
            </a:pPr>
            <a:r>
              <a:rPr lang="en-US" altLang="zh-CN" sz="3200" b="1" dirty="0">
                <a:latin typeface="Math A" pitchFamily="18" charset="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latin typeface="Math A" pitchFamily="18" charset="2"/>
                <a:ea typeface="微软雅黑" panose="020B0503020204020204" pitchFamily="34" charset="-122"/>
              </a:rPr>
              <a:t>、</a:t>
            </a:r>
            <a:r>
              <a:rPr lang="en-US" altLang="zh-CN" sz="3200" b="1" dirty="0">
                <a:latin typeface="Math A" pitchFamily="18" charset="2"/>
                <a:ea typeface="微软雅黑" panose="020B0503020204020204" pitchFamily="34" charset="-122"/>
              </a:rPr>
              <a:t>Lc</a:t>
            </a:r>
            <a:r>
              <a:rPr lang="zh-CN" altLang="en-US" sz="3200" b="1" dirty="0">
                <a:latin typeface="Math A" pitchFamily="18" charset="2"/>
                <a:ea typeface="微软雅黑" panose="020B0503020204020204" pitchFamily="34" charset="-122"/>
              </a:rPr>
              <a:t>回路</a:t>
            </a:r>
            <a:endParaRPr lang="zh-CN" altLang="en-US" sz="3200" b="1" dirty="0">
              <a:latin typeface="Math A" pitchFamily="18" charset="2"/>
              <a:ea typeface="微软雅黑" panose="020B0503020204020204" pitchFamily="34" charset="-122"/>
            </a:endParaRPr>
          </a:p>
        </p:txBody>
      </p:sp>
      <p:graphicFrame>
        <p:nvGraphicFramePr>
          <p:cNvPr id="299016" name="Object 8" descr="羊皮纸"/>
          <p:cNvGraphicFramePr>
            <a:graphicFrameLocks noChangeAspect="1"/>
          </p:cNvGraphicFramePr>
          <p:nvPr/>
        </p:nvGraphicFramePr>
        <p:xfrm>
          <a:off x="1259523" y="1772762"/>
          <a:ext cx="1762125" cy="113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" r:id="rId1" imgW="647700" imgH="419100" progId="Equation.3">
                  <p:embed/>
                </p:oleObj>
              </mc:Choice>
              <mc:Fallback>
                <p:oleObj name="" r:id="rId1" imgW="647700" imgH="41910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9523" y="1772762"/>
                        <a:ext cx="1762125" cy="1134745"/>
                      </a:xfrm>
                      <a:prstGeom prst="rect">
                        <a:avLst/>
                      </a:prstGeom>
                      <a:blipFill rotWithShape="1">
                        <a:blip r:embed="rId3"/>
                      </a:blipFill>
                      <a:ln w="9525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outerShdw dist="35921" dir="2699999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825" name="Picture 2" descr="LC回路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898" y="1484313"/>
            <a:ext cx="3600450" cy="27241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7827" name="Object 8"/>
          <p:cNvGraphicFramePr>
            <a:graphicFrameLocks noChangeAspect="1"/>
          </p:cNvGraphicFramePr>
          <p:nvPr/>
        </p:nvGraphicFramePr>
        <p:xfrm>
          <a:off x="8323898" y="2082800"/>
          <a:ext cx="5699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" name="" r:id="rId5" imgW="215900" imgH="177800" progId="Equation.DSMT4">
                  <p:embed/>
                </p:oleObj>
              </mc:Choice>
              <mc:Fallback>
                <p:oleObj name="" r:id="rId5" imgW="215900" imgH="177800" progId="Equation.DSMT4">
                  <p:embed/>
                  <p:pic>
                    <p:nvPicPr>
                      <p:cNvPr id="0" name="图片 33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23898" y="2082800"/>
                        <a:ext cx="569912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9"/>
          <p:cNvGraphicFramePr>
            <a:graphicFrameLocks noChangeAspect="1"/>
          </p:cNvGraphicFramePr>
          <p:nvPr/>
        </p:nvGraphicFramePr>
        <p:xfrm>
          <a:off x="8254048" y="3187700"/>
          <a:ext cx="5699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" name="" r:id="rId7" imgW="215900" imgH="165100" progId="Equation.DSMT4">
                  <p:embed/>
                </p:oleObj>
              </mc:Choice>
              <mc:Fallback>
                <p:oleObj name="" r:id="rId7" imgW="215900" imgH="165100" progId="Equation.DSMT4">
                  <p:embed/>
                  <p:pic>
                    <p:nvPicPr>
                      <p:cNvPr id="0" name="图片 33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54048" y="3187700"/>
                        <a:ext cx="569912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0"/>
          <p:cNvSpPr>
            <a:spLocks noChangeShapeType="1"/>
          </p:cNvSpPr>
          <p:nvPr/>
        </p:nvSpPr>
        <p:spPr bwMode="auto">
          <a:xfrm flipH="1">
            <a:off x="6517323" y="1484313"/>
            <a:ext cx="6477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Tx/>
              <a:buFont typeface="Monotype Sorts" pitchFamily="2" charset="2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7830" name="Object 11"/>
          <p:cNvGraphicFramePr>
            <a:graphicFrameLocks noChangeAspect="1"/>
          </p:cNvGraphicFramePr>
          <p:nvPr/>
        </p:nvGraphicFramePr>
        <p:xfrm>
          <a:off x="6745923" y="1014413"/>
          <a:ext cx="2682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5" name="" r:id="rId9" imgW="101600" imgH="177800" progId="Equation.DSMT4">
                  <p:embed/>
                </p:oleObj>
              </mc:Choice>
              <mc:Fallback>
                <p:oleObj name="" r:id="rId9" imgW="101600" imgH="177800" progId="Equation.DSMT4">
                  <p:embed/>
                  <p:pic>
                    <p:nvPicPr>
                      <p:cNvPr id="0" name="图片 334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45923" y="1014413"/>
                        <a:ext cx="268287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013" name="Group 12"/>
          <p:cNvGrpSpPr/>
          <p:nvPr/>
        </p:nvGrpSpPr>
        <p:grpSpPr>
          <a:xfrm>
            <a:off x="827405" y="188595"/>
            <a:ext cx="1955917" cy="398068"/>
            <a:chOff x="867" y="862"/>
            <a:chExt cx="4457" cy="257"/>
          </a:xfrm>
        </p:grpSpPr>
        <p:sp>
          <p:nvSpPr>
            <p:cNvPr id="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动力学分析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3" name="WordArt 14"/>
            <p:cNvSpPr>
              <a:spLocks noTextEdit="1"/>
            </p:cNvSpPr>
            <p:nvPr/>
          </p:nvSpPr>
          <p:spPr>
            <a:xfrm>
              <a:off x="867" y="864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动力学分析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4" name="Rectangle 33"/>
          <p:cNvSpPr>
            <a:spLocks noChangeArrowheads="1"/>
          </p:cNvSpPr>
          <p:nvPr/>
        </p:nvSpPr>
        <p:spPr bwMode="auto">
          <a:xfrm>
            <a:off x="322898" y="1124268"/>
            <a:ext cx="8610600" cy="177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例：质量为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的比重计，放在密度为 </a:t>
            </a:r>
            <a:r>
              <a:rPr kumimoji="0" lang="zh-CN" altLang="en-U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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的液体中。已知比重计圆管的直径为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。试证明：比重计推动后，可在竖直方向产生简谐振动。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Rectangle 68"/>
          <p:cNvSpPr>
            <a:spLocks noChangeArrowheads="1"/>
          </p:cNvSpPr>
          <p:nvPr/>
        </p:nvSpPr>
        <p:spPr bwMode="auto">
          <a:xfrm>
            <a:off x="3743960" y="4683443"/>
            <a:ext cx="16129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Tx/>
              <a:buFont typeface="Monotype Sorts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平衡位置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9876" name="Picture 70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1160" y="2472055"/>
            <a:ext cx="2657475" cy="3448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013" name="Group 12"/>
          <p:cNvGrpSpPr/>
          <p:nvPr/>
        </p:nvGrpSpPr>
        <p:grpSpPr>
          <a:xfrm>
            <a:off x="827405" y="188595"/>
            <a:ext cx="1955917" cy="398068"/>
            <a:chOff x="867" y="862"/>
            <a:chExt cx="4457" cy="257"/>
          </a:xfrm>
        </p:grpSpPr>
        <p:sp>
          <p:nvSpPr>
            <p:cNvPr id="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动力学分析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3" name="WordArt 14"/>
            <p:cNvSpPr>
              <a:spLocks noTextEdit="1"/>
            </p:cNvSpPr>
            <p:nvPr/>
          </p:nvSpPr>
          <p:spPr>
            <a:xfrm>
              <a:off x="867" y="864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动力学分析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5" name="Rectangle 68"/>
          <p:cNvSpPr>
            <a:spLocks noChangeArrowheads="1"/>
          </p:cNvSpPr>
          <p:nvPr/>
        </p:nvSpPr>
        <p:spPr bwMode="auto">
          <a:xfrm>
            <a:off x="4932045" y="1988503"/>
            <a:ext cx="16129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Tx/>
              <a:buFont typeface="Monotype Sorts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平衡位置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5568" y="994410"/>
            <a:ext cx="8969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54368" y="1839913"/>
            <a:ext cx="16129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平衡时：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2348548"/>
            <a:ext cx="125571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浮力：</a:t>
            </a: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82943" y="2834958"/>
            <a:ext cx="39052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其中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为比重计的排水体积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3" name="Rectangle 43"/>
          <p:cNvSpPr>
            <a:spLocks noChangeArrowheads="1"/>
          </p:cNvSpPr>
          <p:nvPr/>
        </p:nvSpPr>
        <p:spPr bwMode="auto">
          <a:xfrm>
            <a:off x="6082983" y="2306003"/>
            <a:ext cx="488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Tx/>
              <a:buFont typeface="Monotype Sorts" pitchFamily="2" charset="2"/>
              <a:buNone/>
              <a:defRPr/>
            </a:pPr>
            <a:r>
              <a:rPr kumimoji="0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Ｏ</a:t>
            </a:r>
            <a:endParaRPr kumimoji="0" lang="zh-CN" altLang="en-US" sz="2400" b="1" i="1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80905" name="Picture 44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980" y="121603"/>
            <a:ext cx="2657475" cy="34480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" name="Group 45"/>
          <p:cNvGrpSpPr/>
          <p:nvPr/>
        </p:nvGrpSpPr>
        <p:grpSpPr>
          <a:xfrm>
            <a:off x="7923213" y="1270000"/>
            <a:ext cx="714375" cy="1828800"/>
            <a:chOff x="4512" y="2160"/>
            <a:chExt cx="450" cy="1152"/>
          </a:xfrm>
        </p:grpSpPr>
        <p:sp>
          <p:nvSpPr>
            <p:cNvPr id="15" name="Line 46"/>
            <p:cNvSpPr>
              <a:spLocks noChangeShapeType="1"/>
            </p:cNvSpPr>
            <p:nvPr/>
          </p:nvSpPr>
          <p:spPr bwMode="auto">
            <a:xfrm>
              <a:off x="4512" y="2832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432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Tx/>
                <a:buFont typeface="Monotype Sorts" pitchFamily="2" charset="2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Rectangle 48"/>
            <p:cNvSpPr>
              <a:spLocks noChangeArrowheads="1"/>
            </p:cNvSpPr>
            <p:nvPr/>
          </p:nvSpPr>
          <p:spPr bwMode="auto">
            <a:xfrm>
              <a:off x="4560" y="2976"/>
              <a:ext cx="4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mg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8" name="Rectangle 49"/>
            <p:cNvSpPr>
              <a:spLocks noChangeArrowheads="1"/>
            </p:cNvSpPr>
            <p:nvPr/>
          </p:nvSpPr>
          <p:spPr bwMode="auto">
            <a:xfrm>
              <a:off x="4560" y="2160"/>
              <a:ext cx="3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1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</a:t>
              </a:r>
              <a:endPara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2339911" y="1800797"/>
                <a:ext cx="2001520" cy="521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𝑚𝑔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11" y="1800797"/>
                <a:ext cx="2001520" cy="521970"/>
              </a:xfrm>
              <a:prstGeom prst="rect">
                <a:avLst/>
              </a:prstGeom>
              <a:blipFill rotWithShape="1">
                <a:blip r:embed="rId2"/>
                <a:stretch>
                  <a:fillRect l="-29" t="-110" r="-352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2483421" y="2349437"/>
                <a:ext cx="1504315" cy="5219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𝜌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𝑉𝑔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421" y="2349437"/>
                <a:ext cx="1504315" cy="521970"/>
              </a:xfrm>
              <a:prstGeom prst="rect">
                <a:avLst/>
              </a:prstGeom>
              <a:blipFill rotWithShape="1">
                <a:blip r:embed="rId3"/>
                <a:stretch>
                  <a:fillRect l="-38" t="-110" r="-469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827405" y="1052830"/>
            <a:ext cx="548513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第一步，找到平衡位置，并取平衡位置为坐标原点，建立坐标系。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94970" y="3266440"/>
            <a:ext cx="527113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第二步，设系统偏离到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处，分析运动方向上的动力学特点，列方程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25" name="Picture 45" descr="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290" y="2708910"/>
            <a:ext cx="2190750" cy="3476625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39051" y="3933127"/>
                <a:ext cx="4149090" cy="8343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𝑚𝑔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𝜋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𝜌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𝑔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51" y="3933127"/>
                <a:ext cx="4149090" cy="834390"/>
              </a:xfrm>
              <a:prstGeom prst="rect">
                <a:avLst/>
              </a:prstGeom>
              <a:blipFill rotWithShape="1">
                <a:blip r:embed="rId5"/>
                <a:stretch>
                  <a:fillRect l="-14" t="-69" r="1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323786" y="5229162"/>
                <a:ext cx="2789555" cy="8343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𝜌</m:t>
                          </m:r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6" y="5229162"/>
                <a:ext cx="2789555" cy="834390"/>
              </a:xfrm>
              <a:prstGeom prst="rect">
                <a:avLst/>
              </a:prstGeom>
              <a:blipFill rotWithShape="1">
                <a:blip r:embed="rId6"/>
                <a:stretch>
                  <a:fillRect l="-20" t="-69" r="2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2898076" y="4973257"/>
                <a:ext cx="2001520" cy="11766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𝜔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𝜌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076" y="4973257"/>
                <a:ext cx="2001520" cy="1176655"/>
              </a:xfrm>
              <a:prstGeom prst="rect">
                <a:avLst/>
              </a:prstGeom>
              <a:blipFill rotWithShape="1">
                <a:blip r:embed="rId7"/>
                <a:stretch>
                  <a:fillRect l="-29" t="-49" r="29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323215" y="4725035"/>
            <a:ext cx="52711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第三步，整理方程，确定圆频率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323850" y="6085205"/>
            <a:ext cx="634111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四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第四步，根据初始条件确定振幅和初相位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013" name="Group 12"/>
          <p:cNvGrpSpPr/>
          <p:nvPr/>
        </p:nvGrpSpPr>
        <p:grpSpPr>
          <a:xfrm>
            <a:off x="878758" y="188595"/>
            <a:ext cx="3386609" cy="495935"/>
            <a:chOff x="867" y="862"/>
            <a:chExt cx="4484" cy="255"/>
          </a:xfrm>
        </p:grpSpPr>
        <p:sp>
          <p:nvSpPr>
            <p:cNvPr id="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同向同频率振动合成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3" name="WordArt 14"/>
            <p:cNvSpPr>
              <a:spLocks noTextEdit="1"/>
            </p:cNvSpPr>
            <p:nvPr/>
          </p:nvSpPr>
          <p:spPr>
            <a:xfrm>
              <a:off x="894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同向同频率振动合成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sp>
        <p:nvSpPr>
          <p:cNvPr id="16385" name="Text Box 4"/>
          <p:cNvSpPr txBox="1"/>
          <p:nvPr/>
        </p:nvSpPr>
        <p:spPr>
          <a:xfrm>
            <a:off x="649288" y="3482975"/>
            <a:ext cx="42830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合振动的表达式；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6386" name="Text Box 5"/>
          <p:cNvSpPr txBox="1"/>
          <p:nvPr/>
        </p:nvSpPr>
        <p:spPr>
          <a:xfrm>
            <a:off x="685800" y="4854575"/>
            <a:ext cx="82073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b="1" i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分别为何值时，三个简谐振动叠加后，合振动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6387" name="Object 6"/>
          <p:cNvGraphicFramePr>
            <a:graphicFrameLocks noChangeAspect="1"/>
          </p:cNvGraphicFramePr>
          <p:nvPr/>
        </p:nvGraphicFramePr>
        <p:xfrm>
          <a:off x="1117600" y="4957763"/>
          <a:ext cx="32226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139700" imgH="165100" progId="Equation.3">
                  <p:embed/>
                </p:oleObj>
              </mc:Choice>
              <mc:Fallback>
                <p:oleObj name="" r:id="rId1" imgW="139700" imgH="1651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7600" y="4957763"/>
                        <a:ext cx="322263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9"/>
          <p:cNvSpPr txBox="1"/>
          <p:nvPr/>
        </p:nvSpPr>
        <p:spPr>
          <a:xfrm>
            <a:off x="827088" y="1196975"/>
            <a:ext cx="64246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已知两个简谐振动的表达式分别为：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6389" name="Object 12"/>
          <p:cNvGraphicFramePr>
            <a:graphicFrameLocks noChangeAspect="1"/>
          </p:cNvGraphicFramePr>
          <p:nvPr/>
        </p:nvGraphicFramePr>
        <p:xfrm>
          <a:off x="1822450" y="1736725"/>
          <a:ext cx="433387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1701800" imgH="406400" progId="Equation.3">
                  <p:embed/>
                </p:oleObj>
              </mc:Choice>
              <mc:Fallback>
                <p:oleObj name="" r:id="rId3" imgW="1701800" imgH="4064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2450" y="1736725"/>
                        <a:ext cx="4333875" cy="1081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3"/>
          <p:cNvGraphicFramePr>
            <a:graphicFrameLocks noChangeAspect="1"/>
          </p:cNvGraphicFramePr>
          <p:nvPr/>
        </p:nvGraphicFramePr>
        <p:xfrm>
          <a:off x="1933575" y="2779713"/>
          <a:ext cx="42941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5" imgW="1675765" imgH="215900" progId="Equation.3">
                  <p:embed/>
                </p:oleObj>
              </mc:Choice>
              <mc:Fallback>
                <p:oleObj name="" r:id="rId5" imgW="1675765" imgH="2159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3575" y="2779713"/>
                        <a:ext cx="4294188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Text Box 17"/>
          <p:cNvSpPr txBox="1"/>
          <p:nvPr/>
        </p:nvSpPr>
        <p:spPr>
          <a:xfrm>
            <a:off x="1368425" y="4187825"/>
            <a:ext cx="2698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(2)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若另有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6395" name="Object 18"/>
          <p:cNvGraphicFramePr>
            <a:graphicFrameLocks noChangeAspect="1"/>
          </p:cNvGraphicFramePr>
          <p:nvPr/>
        </p:nvGraphicFramePr>
        <p:xfrm>
          <a:off x="2941638" y="4171950"/>
          <a:ext cx="4294187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7" imgW="1676400" imgH="228600" progId="Equation.3">
                  <p:embed/>
                </p:oleObj>
              </mc:Choice>
              <mc:Fallback>
                <p:oleObj name="" r:id="rId7" imgW="1676400" imgH="2286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41638" y="4171950"/>
                        <a:ext cx="4294187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Text Box 20"/>
          <p:cNvSpPr txBox="1"/>
          <p:nvPr/>
        </p:nvSpPr>
        <p:spPr>
          <a:xfrm>
            <a:off x="684213" y="5430838"/>
            <a:ext cx="82073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的振幅分别为最大与最小？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161" descr="羊皮纸"/>
          <p:cNvSpPr/>
          <p:nvPr/>
        </p:nvSpPr>
        <p:spPr>
          <a:xfrm>
            <a:off x="6299200" y="3126740"/>
            <a:ext cx="2708275" cy="102743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04" name="Text Box 132"/>
          <p:cNvSpPr txBox="1"/>
          <p:nvPr/>
        </p:nvSpPr>
        <p:spPr>
          <a:xfrm>
            <a:off x="325755" y="1012190"/>
            <a:ext cx="81692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设质点同时参与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个同方向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、同频率的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简谐振动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36005" name="Text Box 133"/>
          <p:cNvSpPr txBox="1"/>
          <p:nvPr/>
        </p:nvSpPr>
        <p:spPr>
          <a:xfrm>
            <a:off x="325438" y="1541463"/>
            <a:ext cx="84994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且这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个简谐振动的振幅均为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，初相依次相差</a:t>
            </a:r>
            <a:r>
              <a:rPr lang="el-GR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δ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6006" name="AutoShape 134" descr="羊皮纸"/>
          <p:cNvSpPr/>
          <p:nvPr/>
        </p:nvSpPr>
        <p:spPr>
          <a:xfrm>
            <a:off x="2081213" y="2228850"/>
            <a:ext cx="3203575" cy="554038"/>
          </a:xfrm>
          <a:prstGeom prst="roundRect">
            <a:avLst>
              <a:gd name="adj" fmla="val 16667"/>
            </a:avLst>
          </a:prstGeom>
          <a:blipFill rotWithShape="1">
            <a:blip r:embed="rId1"/>
          </a:blip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07" name="AutoShape 135"/>
          <p:cNvSpPr/>
          <p:nvPr/>
        </p:nvSpPr>
        <p:spPr>
          <a:xfrm>
            <a:off x="201613" y="2228850"/>
            <a:ext cx="1592262" cy="5540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08" name="Line 136"/>
          <p:cNvSpPr/>
          <p:nvPr/>
        </p:nvSpPr>
        <p:spPr>
          <a:xfrm>
            <a:off x="1784350" y="2473325"/>
            <a:ext cx="288925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round/>
            <a:headEnd type="oval" w="med" len="med"/>
            <a:tailEnd type="oval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336009" name="Text Box 137"/>
          <p:cNvSpPr txBox="1"/>
          <p:nvPr/>
        </p:nvSpPr>
        <p:spPr>
          <a:xfrm>
            <a:off x="273050" y="2205355"/>
            <a:ext cx="15836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分振动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36010" name="Object 138"/>
          <p:cNvGraphicFramePr>
            <a:graphicFrameLocks noChangeAspect="1"/>
          </p:cNvGraphicFramePr>
          <p:nvPr/>
        </p:nvGraphicFramePr>
        <p:xfrm>
          <a:off x="2200275" y="2205038"/>
          <a:ext cx="26955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" imgW="1091565" imgH="215900" progId="Equation.3">
                  <p:embed/>
                </p:oleObj>
              </mc:Choice>
              <mc:Fallback>
                <p:oleObj name="" r:id="rId2" imgW="1091565" imgH="2159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0275" y="2205038"/>
                        <a:ext cx="2695575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011" name="AutoShape 139" descr="羊皮纸"/>
          <p:cNvSpPr/>
          <p:nvPr/>
        </p:nvSpPr>
        <p:spPr>
          <a:xfrm>
            <a:off x="2073275" y="2946400"/>
            <a:ext cx="3770313" cy="554038"/>
          </a:xfrm>
          <a:prstGeom prst="roundRect">
            <a:avLst>
              <a:gd name="adj" fmla="val 16667"/>
            </a:avLst>
          </a:prstGeom>
          <a:blipFill rotWithShape="1">
            <a:blip r:embed="rId1"/>
          </a:blip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12" name="AutoShape 140"/>
          <p:cNvSpPr/>
          <p:nvPr/>
        </p:nvSpPr>
        <p:spPr>
          <a:xfrm>
            <a:off x="201613" y="2946400"/>
            <a:ext cx="1563687" cy="5540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13" name="Line 141"/>
          <p:cNvSpPr/>
          <p:nvPr/>
        </p:nvSpPr>
        <p:spPr>
          <a:xfrm>
            <a:off x="1755775" y="3190875"/>
            <a:ext cx="288925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round/>
            <a:headEnd type="oval" w="med" len="med"/>
            <a:tailEnd type="oval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336014" name="Text Box 142"/>
          <p:cNvSpPr txBox="1"/>
          <p:nvPr/>
        </p:nvSpPr>
        <p:spPr>
          <a:xfrm>
            <a:off x="201930" y="2946400"/>
            <a:ext cx="16548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分振动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36015" name="Object 143"/>
          <p:cNvGraphicFramePr>
            <a:graphicFrameLocks noChangeAspect="1"/>
          </p:cNvGraphicFramePr>
          <p:nvPr/>
        </p:nvGraphicFramePr>
        <p:xfrm>
          <a:off x="2200275" y="2922588"/>
          <a:ext cx="329088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4" imgW="1333500" imgH="215900" progId="Equation.3">
                  <p:embed/>
                </p:oleObj>
              </mc:Choice>
              <mc:Fallback>
                <p:oleObj name="" r:id="rId4" imgW="1333500" imgH="2159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0275" y="2922588"/>
                        <a:ext cx="3290888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016" name="AutoShape 144" descr="羊皮纸"/>
          <p:cNvSpPr/>
          <p:nvPr/>
        </p:nvSpPr>
        <p:spPr>
          <a:xfrm>
            <a:off x="2052638" y="3665538"/>
            <a:ext cx="3959225" cy="554037"/>
          </a:xfrm>
          <a:prstGeom prst="roundRect">
            <a:avLst>
              <a:gd name="adj" fmla="val 16667"/>
            </a:avLst>
          </a:prstGeom>
          <a:blipFill rotWithShape="1">
            <a:blip r:embed="rId1"/>
          </a:blip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17" name="AutoShape 145"/>
          <p:cNvSpPr/>
          <p:nvPr/>
        </p:nvSpPr>
        <p:spPr>
          <a:xfrm>
            <a:off x="201613" y="3665538"/>
            <a:ext cx="1563687" cy="55403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18" name="Line 146"/>
          <p:cNvSpPr/>
          <p:nvPr/>
        </p:nvSpPr>
        <p:spPr>
          <a:xfrm>
            <a:off x="1755775" y="3910013"/>
            <a:ext cx="288925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round/>
            <a:headEnd type="oval" w="med" len="med"/>
            <a:tailEnd type="oval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336019" name="Text Box 147"/>
          <p:cNvSpPr txBox="1"/>
          <p:nvPr/>
        </p:nvSpPr>
        <p:spPr>
          <a:xfrm>
            <a:off x="201930" y="3665855"/>
            <a:ext cx="16535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分振动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36020" name="Object 148"/>
          <p:cNvGraphicFramePr>
            <a:graphicFrameLocks noChangeAspect="1"/>
          </p:cNvGraphicFramePr>
          <p:nvPr/>
        </p:nvGraphicFramePr>
        <p:xfrm>
          <a:off x="2254250" y="3633788"/>
          <a:ext cx="34782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6" imgW="1409700" imgH="228600" progId="Equation.3">
                  <p:embed/>
                </p:oleObj>
              </mc:Choice>
              <mc:Fallback>
                <p:oleObj name="" r:id="rId6" imgW="1409700" imgH="228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54250" y="3633788"/>
                        <a:ext cx="3478213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021" name="Object 149"/>
          <p:cNvGraphicFramePr>
            <a:graphicFrameLocks noChangeAspect="1"/>
          </p:cNvGraphicFramePr>
          <p:nvPr/>
        </p:nvGraphicFramePr>
        <p:xfrm>
          <a:off x="806450" y="4370388"/>
          <a:ext cx="16986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8" imgW="748665" imgH="215900" progId="Equation.3">
                  <p:embed/>
                </p:oleObj>
              </mc:Choice>
              <mc:Fallback>
                <p:oleObj name="" r:id="rId8" imgW="748665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6450" y="4370388"/>
                        <a:ext cx="1698625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022" name="AutoShape 150" descr="羊皮纸"/>
          <p:cNvSpPr/>
          <p:nvPr/>
        </p:nvSpPr>
        <p:spPr>
          <a:xfrm>
            <a:off x="2024063" y="4891088"/>
            <a:ext cx="4873625" cy="554037"/>
          </a:xfrm>
          <a:prstGeom prst="roundRect">
            <a:avLst>
              <a:gd name="adj" fmla="val 16667"/>
            </a:avLst>
          </a:prstGeom>
          <a:blipFill rotWithShape="1">
            <a:blip r:embed="rId1"/>
          </a:blip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23" name="AutoShape 151"/>
          <p:cNvSpPr/>
          <p:nvPr/>
        </p:nvSpPr>
        <p:spPr>
          <a:xfrm>
            <a:off x="173038" y="4891088"/>
            <a:ext cx="1563687" cy="55403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24" name="Line 152"/>
          <p:cNvSpPr/>
          <p:nvPr/>
        </p:nvSpPr>
        <p:spPr>
          <a:xfrm>
            <a:off x="1727200" y="5135563"/>
            <a:ext cx="288925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round/>
            <a:headEnd type="oval" w="med" len="med"/>
            <a:tailEnd type="oval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336025" name="Text Box 153"/>
          <p:cNvSpPr txBox="1"/>
          <p:nvPr/>
        </p:nvSpPr>
        <p:spPr>
          <a:xfrm>
            <a:off x="173038" y="4891088"/>
            <a:ext cx="17129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分振动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36026" name="Object 154"/>
          <p:cNvGraphicFramePr>
            <a:graphicFrameLocks noChangeAspect="1"/>
          </p:cNvGraphicFramePr>
          <p:nvPr/>
        </p:nvGraphicFramePr>
        <p:xfrm>
          <a:off x="2182813" y="4867275"/>
          <a:ext cx="44513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0" imgW="1803400" imgH="215900" progId="Equation.3">
                  <p:embed/>
                </p:oleObj>
              </mc:Choice>
              <mc:Fallback>
                <p:oleObj name="" r:id="rId10" imgW="180340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82813" y="4867275"/>
                        <a:ext cx="445135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033" name="AutoShape 161" descr="羊皮纸"/>
          <p:cNvSpPr/>
          <p:nvPr/>
        </p:nvSpPr>
        <p:spPr>
          <a:xfrm>
            <a:off x="2072640" y="5603875"/>
            <a:ext cx="3390900" cy="777875"/>
          </a:xfrm>
          <a:prstGeom prst="roundRect">
            <a:avLst>
              <a:gd name="adj" fmla="val 16667"/>
            </a:avLst>
          </a:prstGeom>
          <a:blipFill rotWithShape="1">
            <a:blip r:embed="rId1"/>
          </a:blip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34" name="AutoShape 162"/>
          <p:cNvSpPr/>
          <p:nvPr/>
        </p:nvSpPr>
        <p:spPr>
          <a:xfrm>
            <a:off x="273050" y="5626100"/>
            <a:ext cx="1355725" cy="7207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54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6036" name="Text Box 164"/>
          <p:cNvSpPr txBox="1"/>
          <p:nvPr/>
        </p:nvSpPr>
        <p:spPr>
          <a:xfrm>
            <a:off x="273050" y="5699125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合振动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36037" name="Object 165"/>
          <p:cNvGraphicFramePr>
            <a:graphicFrameLocks noChangeAspect="1"/>
          </p:cNvGraphicFramePr>
          <p:nvPr/>
        </p:nvGraphicFramePr>
        <p:xfrm>
          <a:off x="2200117" y="5876767"/>
          <a:ext cx="264160" cy="351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2" imgW="127000" imgH="139700" progId="Equation.3">
                  <p:embed/>
                </p:oleObj>
              </mc:Choice>
              <mc:Fallback>
                <p:oleObj name="" r:id="rId12" imgW="127000" imgH="1397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00117" y="5876767"/>
                        <a:ext cx="264160" cy="3511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038" name="Object 166"/>
          <p:cNvGraphicFramePr>
            <a:graphicFrameLocks noChangeAspect="1"/>
          </p:cNvGraphicFramePr>
          <p:nvPr/>
        </p:nvGraphicFramePr>
        <p:xfrm>
          <a:off x="2481898" y="5759768"/>
          <a:ext cx="2713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4" imgW="1002665" imgH="203200" progId="Equation.3">
                  <p:embed/>
                </p:oleObj>
              </mc:Choice>
              <mc:Fallback>
                <p:oleObj name="" r:id="rId14" imgW="1002665" imgH="203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81898" y="5759768"/>
                        <a:ext cx="271303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845" name="Object 141"/>
          <p:cNvGraphicFramePr>
            <a:graphicFrameLocks noChangeAspect="1"/>
          </p:cNvGraphicFramePr>
          <p:nvPr/>
        </p:nvGraphicFramePr>
        <p:xfrm>
          <a:off x="6209665" y="3095308"/>
          <a:ext cx="2798763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16" imgW="1129665" imgH="431800" progId="Equation.3">
                  <p:embed/>
                </p:oleObj>
              </mc:Choice>
              <mc:Fallback>
                <p:oleObj name="" r:id="rId16" imgW="1129665" imgH="4318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09665" y="3095308"/>
                        <a:ext cx="2798763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2"/>
          <p:cNvGrpSpPr/>
          <p:nvPr/>
        </p:nvGrpSpPr>
        <p:grpSpPr>
          <a:xfrm>
            <a:off x="878758" y="188595"/>
            <a:ext cx="3386609" cy="495935"/>
            <a:chOff x="867" y="862"/>
            <a:chExt cx="4484" cy="255"/>
          </a:xfrm>
        </p:grpSpPr>
        <p:sp>
          <p:nvSpPr>
            <p:cNvPr id="6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同向同频率振动合成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7" name="WordArt 14"/>
            <p:cNvSpPr>
              <a:spLocks noTextEdit="1"/>
            </p:cNvSpPr>
            <p:nvPr/>
          </p:nvSpPr>
          <p:spPr>
            <a:xfrm>
              <a:off x="894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同向同频率振动合成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3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600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3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601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3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601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33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3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602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33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3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3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603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000"/>
                                        <p:tgtEl>
                                          <p:spTgt spid="33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33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5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004" grpId="0"/>
      <p:bldP spid="336005" grpId="0"/>
      <p:bldP spid="336006" grpId="0" bldLvl="0" animBg="1"/>
      <p:bldP spid="336007" grpId="0" bldLvl="0" animBg="1"/>
      <p:bldP spid="336009" grpId="0" build="p"/>
      <p:bldP spid="336011" grpId="0" bldLvl="0" animBg="1"/>
      <p:bldP spid="336012" grpId="0" bldLvl="0" animBg="1"/>
      <p:bldP spid="336014" grpId="0" build="p"/>
      <p:bldP spid="336016" grpId="0" bldLvl="0" animBg="1"/>
      <p:bldP spid="336017" grpId="0" bldLvl="0" animBg="1"/>
      <p:bldP spid="336019" grpId="0" build="p"/>
      <p:bldP spid="336022" grpId="0" bldLvl="0" animBg="1"/>
      <p:bldP spid="336023" grpId="0" bldLvl="0" animBg="1"/>
      <p:bldP spid="336025" grpId="0" build="p"/>
      <p:bldP spid="336033" grpId="0" bldLvl="0" animBg="1"/>
      <p:bldP spid="336034" grpId="0" bldLvl="0" animBg="1"/>
      <p:bldP spid="336036" grpId="0" build="p"/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9970" name="Text Box 2"/>
          <p:cNvSpPr txBox="1"/>
          <p:nvPr/>
        </p:nvSpPr>
        <p:spPr>
          <a:xfrm>
            <a:off x="320675" y="1196658"/>
            <a:ext cx="17287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拍”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39971" name="Rectangle 3"/>
          <p:cNvSpPr/>
          <p:nvPr/>
        </p:nvSpPr>
        <p:spPr>
          <a:xfrm>
            <a:off x="644525" y="1703070"/>
            <a:ext cx="8362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合振动忽强忽弱的现象（振幅随时间周期变化）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39972" name="Rectangle 4"/>
          <p:cNvSpPr/>
          <p:nvPr/>
        </p:nvSpPr>
        <p:spPr>
          <a:xfrm>
            <a:off x="644525" y="2277745"/>
            <a:ext cx="11033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拍频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: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0005" name="Rectangle 37"/>
          <p:cNvSpPr/>
          <p:nvPr/>
        </p:nvSpPr>
        <p:spPr>
          <a:xfrm>
            <a:off x="1747838" y="2277745"/>
            <a:ext cx="6229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合振动在单位时间内加强或减弱的次数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0010" name="Rectangle 42"/>
          <p:cNvSpPr/>
          <p:nvPr/>
        </p:nvSpPr>
        <p:spPr>
          <a:xfrm>
            <a:off x="1474788" y="1196658"/>
            <a:ext cx="7594600" cy="457200"/>
          </a:xfrm>
          <a:prstGeom prst="rect">
            <a:avLst/>
          </a:prstGeom>
          <a:noFill/>
          <a:ln w="2857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/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是同方向不同频率振动的合成后的一种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特殊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现象。</a:t>
            </a: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339276" y="2852992"/>
                <a:ext cx="3642995" cy="5048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拍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振幅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76" y="2852992"/>
                <a:ext cx="3642995" cy="504825"/>
              </a:xfrm>
              <a:prstGeom prst="rect">
                <a:avLst/>
              </a:prstGeom>
              <a:blipFill rotWithShape="1">
                <a:blip r:embed="rId1"/>
                <a:stretch>
                  <a:fillRect l="-16" t="-113" r="16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2"/>
          <p:cNvGrpSpPr/>
          <p:nvPr/>
        </p:nvGrpSpPr>
        <p:grpSpPr>
          <a:xfrm>
            <a:off x="878758" y="188595"/>
            <a:ext cx="3386609" cy="515383"/>
            <a:chOff x="867" y="862"/>
            <a:chExt cx="4484" cy="265"/>
          </a:xfrm>
        </p:grpSpPr>
        <p:sp>
          <p:nvSpPr>
            <p:cNvPr id="6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同向不同频率振动合成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7" name="WordArt 14"/>
            <p:cNvSpPr>
              <a:spLocks noTextEdit="1"/>
            </p:cNvSpPr>
            <p:nvPr/>
          </p:nvSpPr>
          <p:spPr>
            <a:xfrm>
              <a:off x="894" y="87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7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同向不同频率振动合成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/>
      <p:bldP spid="339971" grpId="0"/>
      <p:bldP spid="339972" grpId="0"/>
      <p:bldP spid="340005" grpId="0"/>
      <p:bldP spid="3400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2" name="组合 121"/>
          <p:cNvGrpSpPr/>
          <p:nvPr/>
        </p:nvGrpSpPr>
        <p:grpSpPr>
          <a:xfrm>
            <a:off x="581025" y="981075"/>
            <a:ext cx="7304088" cy="585788"/>
            <a:chOff x="2860874" y="967048"/>
            <a:chExt cx="3569241" cy="841772"/>
          </a:xfrm>
        </p:grpSpPr>
        <p:sp>
          <p:nvSpPr>
            <p:cNvPr id="6149" name="AutoShape 2"/>
            <p:cNvSpPr/>
            <p:nvPr/>
          </p:nvSpPr>
          <p:spPr>
            <a:xfrm>
              <a:off x="2860874" y="967048"/>
              <a:ext cx="3547330" cy="84177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2C3554"/>
                </a:gs>
                <a:gs pos="100000">
                  <a:srgbClr val="5F73B5"/>
                </a:gs>
              </a:gsLst>
              <a:lin ang="5400000" scaled="1"/>
              <a:tileRect/>
            </a:gradFill>
            <a:ln w="57150" cap="flat" cmpd="thickThin">
              <a:solidFill>
                <a:srgbClr val="DDDDD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85000"/>
                </a:lnSpc>
              </a:pPr>
              <a:endParaRPr lang="zh-CN" altLang="zh-CN" dirty="0">
                <a:solidFill>
                  <a:srgbClr val="FFFF66"/>
                </a:solidFill>
                <a:latin typeface="汉仪超粗宋简" pitchFamily="49" charset="-122"/>
                <a:ea typeface="汉仪超粗宋简" pitchFamily="49" charset="-122"/>
              </a:endParaRPr>
            </a:p>
          </p:txBody>
        </p:sp>
        <p:sp>
          <p:nvSpPr>
            <p:cNvPr id="6150" name="Rectangle 13"/>
            <p:cNvSpPr/>
            <p:nvPr/>
          </p:nvSpPr>
          <p:spPr>
            <a:xfrm>
              <a:off x="2950086" y="1051454"/>
              <a:ext cx="3480029" cy="6547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85000"/>
                </a:lnSpc>
              </a:pPr>
              <a:r>
                <a:rPr lang="en-US" altLang="zh-CN" b="1" dirty="0">
                  <a:solidFill>
                    <a:srgbClr val="FFFF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solidFill>
                    <a:srgbClr val="FFFF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、相互垂直的两个同频率简谐振动的合成</a:t>
              </a:r>
              <a:endParaRPr lang="zh-CN" altLang="en-US" b="1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9307" name="Group 11"/>
          <p:cNvGrpSpPr/>
          <p:nvPr/>
        </p:nvGrpSpPr>
        <p:grpSpPr>
          <a:xfrm>
            <a:off x="34925" y="4987925"/>
            <a:ext cx="9036050" cy="1511300"/>
            <a:chOff x="273" y="2704"/>
            <a:chExt cx="5081" cy="1179"/>
          </a:xfrm>
        </p:grpSpPr>
        <p:grpSp>
          <p:nvGrpSpPr>
            <p:cNvPr id="19459" name="Group 12"/>
            <p:cNvGrpSpPr/>
            <p:nvPr/>
          </p:nvGrpSpPr>
          <p:grpSpPr>
            <a:xfrm>
              <a:off x="273" y="2704"/>
              <a:ext cx="5081" cy="1179"/>
              <a:chOff x="273" y="2704"/>
              <a:chExt cx="5081" cy="1179"/>
            </a:xfrm>
          </p:grpSpPr>
          <p:sp>
            <p:nvSpPr>
              <p:cNvPr id="19460" name="AutoShape 8"/>
              <p:cNvSpPr/>
              <p:nvPr/>
            </p:nvSpPr>
            <p:spPr>
              <a:xfrm>
                <a:off x="521" y="2719"/>
                <a:ext cx="4833" cy="1149"/>
              </a:xfrm>
              <a:prstGeom prst="roundRect">
                <a:avLst>
                  <a:gd name="adj" fmla="val 8676"/>
                </a:avLst>
              </a:prstGeom>
              <a:gradFill rotWithShape="1">
                <a:gsLst>
                  <a:gs pos="0">
                    <a:srgbClr val="FFFFF7"/>
                  </a:gs>
                  <a:gs pos="100000">
                    <a:srgbClr val="FFFF00">
                      <a:alpha val="46999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zh-CN" sz="18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9461" name="Picture 1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73" y="2704"/>
                <a:ext cx="449" cy="117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19462" name="Text Box 4"/>
            <p:cNvSpPr txBox="1"/>
            <p:nvPr/>
          </p:nvSpPr>
          <p:spPr>
            <a:xfrm>
              <a:off x="319" y="2886"/>
              <a:ext cx="408" cy="815"/>
            </a:xfrm>
            <a:prstGeom prst="rect">
              <a:avLst/>
            </a:prstGeom>
            <a:noFill/>
            <a:ln w="38100">
              <a:noFill/>
            </a:ln>
          </p:spPr>
          <p:txBody>
            <a:bodyPr vert="eaVert" anchor="ctr" anchorCtr="0"/>
            <a:p>
              <a:pPr algn="ctr"/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9312" name="Rectangle 16"/>
          <p:cNvSpPr/>
          <p:nvPr/>
        </p:nvSpPr>
        <p:spPr>
          <a:xfrm>
            <a:off x="107950" y="5081588"/>
            <a:ext cx="582613" cy="127952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小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sz="1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</a:rPr>
              <a:t>结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9324" name="Text Box 28"/>
          <p:cNvSpPr txBox="1"/>
          <p:nvPr/>
        </p:nvSpPr>
        <p:spPr>
          <a:xfrm>
            <a:off x="882650" y="5105400"/>
            <a:ext cx="8261350" cy="1203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椭圆长短轴的方位、合运动的行进方向（左右旋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 </a:t>
            </a:r>
            <a:r>
              <a:rPr lang="zh-CN" altLang="en-US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确定之后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主要决定于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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b="1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baseline="-25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4" name="Group 12"/>
          <p:cNvGrpSpPr/>
          <p:nvPr/>
        </p:nvGrpSpPr>
        <p:grpSpPr>
          <a:xfrm>
            <a:off x="828040" y="188595"/>
            <a:ext cx="2314575" cy="416560"/>
            <a:chOff x="867" y="862"/>
            <a:chExt cx="4457" cy="269"/>
          </a:xfrm>
        </p:grpSpPr>
        <p:sp>
          <p:nvSpPr>
            <p:cNvPr id="5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垂直振动合成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6" name="WordArt 14"/>
            <p:cNvSpPr>
              <a:spLocks noTextEdit="1"/>
            </p:cNvSpPr>
            <p:nvPr/>
          </p:nvSpPr>
          <p:spPr>
            <a:xfrm>
              <a:off x="867" y="876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垂直振动合成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</p:spTree>
    <p:controls>
      <mc:AlternateContent xmlns:mc="http://schemas.openxmlformats.org/markup-compatibility/2006">
        <mc:Choice xmlns:v="urn:schemas-microsoft-com:vml" Requires="v">
          <p:control spid="1027" name="" r:id="rId2" imgW="6242685" imgH="3277235"/>
        </mc:Choice>
        <mc:Fallback>
          <p:control name="" r:id="rId2" imgW="6242685" imgH="3277235">
            <p:pic>
              <p:nvPicPr>
                <p:cNvPr id="0" name="Host Control  1026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3325" y="1628775"/>
                  <a:ext cx="6242685" cy="32772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control>
        </mc:Fallback>
      </mc:AlternateContent>
    </p:controls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9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12" grpId="0"/>
      <p:bldP spid="4393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013" name="Group 12"/>
          <p:cNvGrpSpPr/>
          <p:nvPr/>
        </p:nvGrpSpPr>
        <p:grpSpPr>
          <a:xfrm>
            <a:off x="828040" y="188595"/>
            <a:ext cx="2314575" cy="416560"/>
            <a:chOff x="867" y="862"/>
            <a:chExt cx="4457" cy="269"/>
          </a:xfrm>
        </p:grpSpPr>
        <p:sp>
          <p:nvSpPr>
            <p:cNvPr id="2" name="WordArt 13"/>
            <p:cNvSpPr>
              <a:spLocks noTextEdit="1"/>
            </p:cNvSpPr>
            <p:nvPr/>
          </p:nvSpPr>
          <p:spPr>
            <a:xfrm>
              <a:off x="867" y="862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垂直振动合成</a:t>
              </a:r>
              <a:endParaRPr kumimoji="0" lang="zh-CN" sz="3600" b="1" i="0" u="none" strike="noStrike" kern="1200" cap="none" spc="0" normalizeH="0" baseline="0" noProof="1">
                <a:ln w="76200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  <p:sp>
          <p:nvSpPr>
            <p:cNvPr id="3" name="WordArt 14"/>
            <p:cNvSpPr>
              <a:spLocks noTextEdit="1"/>
            </p:cNvSpPr>
            <p:nvPr/>
          </p:nvSpPr>
          <p:spPr>
            <a:xfrm>
              <a:off x="867" y="876"/>
              <a:ext cx="4457" cy="2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0000"/>
            </a:bodyPr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kern="1200" cap="none" spc="0" normalizeH="0" baseline="0" noProof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垂直振动合成</a:t>
              </a:r>
              <a:endParaRPr kumimoji="0" lang="zh-CN" sz="3600" b="1" i="0" u="none" strike="noStrike" kern="1200" cap="none" spc="0" normalizeH="0" baseline="0" noProof="1"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81025" y="981075"/>
            <a:ext cx="7259249" cy="585788"/>
            <a:chOff x="2860874" y="967048"/>
            <a:chExt cx="3547330" cy="841772"/>
          </a:xfrm>
        </p:grpSpPr>
        <p:sp>
          <p:nvSpPr>
            <p:cNvPr id="6149" name="AutoShape 2"/>
            <p:cNvSpPr/>
            <p:nvPr/>
          </p:nvSpPr>
          <p:spPr>
            <a:xfrm>
              <a:off x="2860874" y="967048"/>
              <a:ext cx="3547330" cy="84177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2C3554"/>
                </a:gs>
                <a:gs pos="100000">
                  <a:srgbClr val="5F73B5"/>
                </a:gs>
              </a:gsLst>
              <a:lin ang="5400000" scaled="1"/>
              <a:tileRect/>
            </a:gradFill>
            <a:ln w="57150" cap="flat" cmpd="thickThin">
              <a:solidFill>
                <a:srgbClr val="DDDDD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85000"/>
                </a:lnSpc>
              </a:pPr>
              <a:endParaRPr lang="zh-CN" altLang="zh-CN" dirty="0">
                <a:solidFill>
                  <a:srgbClr val="FFFF66"/>
                </a:solidFill>
                <a:latin typeface="汉仪超粗宋简" pitchFamily="49" charset="-122"/>
                <a:ea typeface="汉仪超粗宋简" pitchFamily="49" charset="-122"/>
              </a:endParaRPr>
            </a:p>
          </p:txBody>
        </p:sp>
        <p:sp>
          <p:nvSpPr>
            <p:cNvPr id="6150" name="Rectangle 13"/>
            <p:cNvSpPr/>
            <p:nvPr/>
          </p:nvSpPr>
          <p:spPr>
            <a:xfrm>
              <a:off x="2880113" y="1051909"/>
              <a:ext cx="3524402" cy="6569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>
                <a:lnSpc>
                  <a:spcPct val="85000"/>
                </a:lnSpc>
              </a:pPr>
              <a:r>
                <a:rPr lang="en-US" altLang="zh-CN" b="1" dirty="0">
                  <a:solidFill>
                    <a:srgbClr val="FFFF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solidFill>
                    <a:srgbClr val="FFFF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、相互垂直的两个不同频率简谐振动的合成</a:t>
              </a:r>
              <a:endParaRPr lang="zh-CN" altLang="en-US" b="1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1401" name="AutoShape 57"/>
          <p:cNvSpPr/>
          <p:nvPr/>
        </p:nvSpPr>
        <p:spPr>
          <a:xfrm>
            <a:off x="467995" y="1931988"/>
            <a:ext cx="2201863" cy="7207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p>
            <a:pPr eaLnBrk="0" hangingPunct="0">
              <a:spcBef>
                <a:spcPct val="20000"/>
              </a:spcBef>
              <a:buClr>
                <a:schemeClr val="accent2"/>
              </a:buClr>
              <a:buFont typeface="Monotype Sorts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1402" name="Text Box 58"/>
          <p:cNvSpPr txBox="1"/>
          <p:nvPr/>
        </p:nvSpPr>
        <p:spPr>
          <a:xfrm>
            <a:off x="580708" y="2060575"/>
            <a:ext cx="20891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李萨如图形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1406" name="Rectangle 62"/>
          <p:cNvSpPr/>
          <p:nvPr/>
        </p:nvSpPr>
        <p:spPr>
          <a:xfrm>
            <a:off x="341630" y="3073400"/>
            <a:ext cx="237680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两轴交点比值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==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周期比值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0" name="" r:id="rId1" imgW="5568950" imgH="4750435"/>
        </mc:Choice>
        <mc:Fallback>
          <p:control name="" r:id="rId1" imgW="5568950" imgH="4750435">
            <p:pic>
              <p:nvPicPr>
                <p:cNvPr id="0" name="Host Control  1029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204210" y="1628775"/>
                  <a:ext cx="5568950" cy="47504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control>
        </mc:Fallback>
      </mc:AlternateContent>
    </p:controls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4140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401" grpId="0" bldLvl="0" animBg="1"/>
      <p:bldP spid="441402" grpId="0" build="p"/>
      <p:bldP spid="441406" grpId="0"/>
    </p:bldLst>
  </p:timing>
</p:sld>
</file>

<file path=ppt/theme/theme1.xml><?xml version="1.0" encoding="utf-8"?>
<a:theme xmlns:a="http://schemas.openxmlformats.org/drawingml/2006/main" name="Acminlng.srg">
  <a:themeElements>
    <a:clrScheme name="Acminlng.sr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minlng.sr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cminlng.sr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minlng.sr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cminlng.srg">
  <a:themeElements>
    <a:clrScheme name="Acminlng.sr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minlng.sr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Monotype Sorts" pitchFamily="2" charset="2"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cminlng.sr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minlng.sr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minlng.sr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Office\Templates\ACMINLNG.SRG</Template>
  <TotalTime>0</TotalTime>
  <Words>1532</Words>
  <Application>WPS 演示</Application>
  <PresentationFormat>全屏显示(4:3)</PresentationFormat>
  <Paragraphs>258</Paragraphs>
  <Slides>17</Slides>
  <Notes>17</Notes>
  <HiddenSlides>24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66</vt:i4>
      </vt:variant>
      <vt:variant>
        <vt:lpstr>幻灯片标题</vt:lpstr>
      </vt:variant>
      <vt:variant>
        <vt:i4>17</vt:i4>
      </vt:variant>
    </vt:vector>
  </HeadingPairs>
  <TitlesOfParts>
    <vt:vector size="104" baseType="lpstr">
      <vt:lpstr>Arial</vt:lpstr>
      <vt:lpstr>宋体</vt:lpstr>
      <vt:lpstr>Wingdings</vt:lpstr>
      <vt:lpstr>Times New Roman</vt:lpstr>
      <vt:lpstr>Monotype Sorts</vt:lpstr>
      <vt:lpstr>Wingdings</vt:lpstr>
      <vt:lpstr>楷体_GB2312</vt:lpstr>
      <vt:lpstr>新宋体</vt:lpstr>
      <vt:lpstr>华文中宋</vt:lpstr>
      <vt:lpstr>微软雅黑</vt:lpstr>
      <vt:lpstr>Symbol</vt:lpstr>
      <vt:lpstr>仿宋_GB2312</vt:lpstr>
      <vt:lpstr>Math A</vt:lpstr>
      <vt:lpstr>Cambria Math</vt:lpstr>
      <vt:lpstr>汉仪超粗宋简</vt:lpstr>
      <vt:lpstr>Monotype Sorts</vt:lpstr>
      <vt:lpstr>Arial Unicode MS</vt:lpstr>
      <vt:lpstr>仿宋</vt:lpstr>
      <vt:lpstr>Segoe Print</vt:lpstr>
      <vt:lpstr>Acminlng.srg</vt:lpstr>
      <vt:lpstr>1_Acminlng.srg</vt:lpstr>
      <vt:lpstr>Photoshop.Image.10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Photoshop.Image.10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hbsy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机械振动</dc:title>
  <dc:creator>张晚云</dc:creator>
  <cp:lastModifiedBy>陈菊梅</cp:lastModifiedBy>
  <cp:revision>675</cp:revision>
  <cp:lastPrinted>2001-05-08T04:46:00Z</cp:lastPrinted>
  <dcterms:created xsi:type="dcterms:W3CDTF">2000-12-15T01:55:00Z</dcterms:created>
  <dcterms:modified xsi:type="dcterms:W3CDTF">2021-12-30T07:32:07Z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B57FE6B63AAA489D870178B026DD9648</vt:lpwstr>
  </property>
</Properties>
</file>